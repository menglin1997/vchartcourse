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6"/>
  </p:notesMasterIdLst>
  <p:sldIdLst>
    <p:sldId id="262" r:id="rId3"/>
    <p:sldId id="286" r:id="rId4"/>
    <p:sldId id="303" r:id="rId5"/>
    <p:sldId id="309" r:id="rId6"/>
    <p:sldId id="310" r:id="rId7"/>
    <p:sldId id="317" r:id="rId8"/>
    <p:sldId id="314" r:id="rId9"/>
    <p:sldId id="315" r:id="rId10"/>
    <p:sldId id="312" r:id="rId11"/>
    <p:sldId id="313" r:id="rId12"/>
    <p:sldId id="316" r:id="rId13"/>
    <p:sldId id="283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29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课：漏斗</a:t>
            </a:r>
            <a:r>
              <a:rPr lang="zh-CN" altLang="en-US" dirty="0"/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漏斗图简介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884FA2-6B49-B54B-757D-DFEB41927614}"/>
              </a:ext>
            </a:extLst>
          </p:cNvPr>
          <p:cNvSpPr txBox="1"/>
          <p:nvPr/>
        </p:nvSpPr>
        <p:spPr>
          <a:xfrm>
            <a:off x="669923" y="1373341"/>
            <a:ext cx="6097384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什么是漏斗图？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形如“漏斗”，用于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单流程分析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由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N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个具有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逻辑顺序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的流程环节组成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每个环节对应一个多边形图元（梯形或矩形）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40CCA3-D651-B0F4-31F9-6D39CA6BA127}"/>
              </a:ext>
            </a:extLst>
          </p:cNvPr>
          <p:cNvSpPr txBox="1"/>
          <p:nvPr/>
        </p:nvSpPr>
        <p:spPr>
          <a:xfrm>
            <a:off x="669923" y="3687565"/>
            <a:ext cx="6097384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典型应用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销售转化漏斗（线索→商机→签约）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用户注册流程（访问→填写→提交→完成）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任何存在逐步衰减的数据流程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5D4FD0D-EA26-8349-793C-E37C72B03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307" y="1373341"/>
            <a:ext cx="3630936" cy="515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图表构成与基本配置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670A6F-0ADC-8655-8602-A819D322267A}"/>
              </a:ext>
            </a:extLst>
          </p:cNvPr>
          <p:cNvSpPr txBox="1"/>
          <p:nvPr/>
        </p:nvSpPr>
        <p:spPr>
          <a:xfrm>
            <a:off x="595745" y="1373341"/>
            <a:ext cx="10924741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多边形图元为漏斗图的基本要素，相关的绘制配置必不可少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</a:t>
            </a:r>
          </a:p>
          <a:p>
            <a:pPr indent="-28575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funnelChart.type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图表类型，漏斗图的类型为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'funnel'</a:t>
            </a:r>
            <a:endParaRPr lang="zh-CN" altLang="en-US" dirty="0">
              <a:solidFill>
                <a:srgbClr val="0F1115"/>
              </a:solidFill>
              <a:latin typeface="quote-cjk-patch"/>
            </a:endParaRPr>
          </a:p>
          <a:p>
            <a:pPr indent="-285750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funnelChart.data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图表绘制的数据源</a:t>
            </a:r>
          </a:p>
          <a:p>
            <a:pPr indent="-285750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funnelChart.categoryField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分类字段，映射为不同图元</a:t>
            </a:r>
          </a:p>
          <a:p>
            <a:pPr indent="-285750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funnelChart.valueField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数值字段，映射为矩形图元的大小或梯形图元的顶边及底边的长度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027F2F-91A2-7420-343F-130F7408038F}"/>
              </a:ext>
            </a:extLst>
          </p:cNvPr>
          <p:cNvSpPr txBox="1"/>
          <p:nvPr/>
        </p:nvSpPr>
        <p:spPr>
          <a:xfrm>
            <a:off x="669922" y="4169935"/>
            <a:ext cx="10850564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转化层、标签等辅助元素，仅在特定配置下展示且在不同配置下展示形式略有不同：</a:t>
            </a:r>
          </a:p>
          <a:p>
            <a:pPr indent="-28575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funnelChart.label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漏斗图标签配置，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'visible: true'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时展示。</a:t>
            </a:r>
          </a:p>
          <a:p>
            <a:pPr indent="-285750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F1115"/>
                </a:solidFill>
                <a:latin typeface="quote-cjk-patch"/>
              </a:rPr>
              <a:t>funnelChart.isTransform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是否展示转化层，该配置为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'true'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时展示。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8ADA6E-AB30-080C-7BD6-4DEEEC0C22CD}"/>
              </a:ext>
            </a:extLst>
          </p:cNvPr>
          <p:cNvSpPr txBox="1"/>
          <p:nvPr/>
        </p:nvSpPr>
        <p:spPr>
          <a:xfrm>
            <a:off x="669922" y="3684708"/>
            <a:ext cx="10186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漏斗图不是基于笛卡尔坐标系（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quote-cjk-patch"/>
              </a:rPr>
              <a:t>x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轴、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quote-cjk-patch"/>
              </a:rPr>
              <a:t>y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轴）的图表类型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，因此不需要设置 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 和 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quote-cjk-patch"/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F8D4F-6257-078E-E13E-0EA38496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2299B-E80B-BEF3-62A3-2CD5D3CC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漏斗图特性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BC4EE2-0EF2-5A88-D7D9-385343A03EF6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7F9D60-AF9E-B654-336F-74A387ED7EA6}"/>
              </a:ext>
            </a:extLst>
          </p:cNvPr>
          <p:cNvSpPr txBox="1"/>
          <p:nvPr/>
        </p:nvSpPr>
        <p:spPr>
          <a:xfrm>
            <a:off x="669923" y="1373341"/>
            <a:ext cx="10926330" cy="209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数据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离散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name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，表示不同漏斗层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数值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value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，表示不同漏斗层代表的数值</a:t>
            </a: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需要注意的是，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Nunito for Arco"/>
              </a:rPr>
              <a:t>由于漏斗图表示不同流程的转化关系，所以理论上来说数据是有序的，彼此之间有逻辑上的顺序关系，阶段最好大于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Nunito for Arco"/>
              </a:rPr>
              <a:t>3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Nunito for Arco"/>
              </a:rPr>
              <a:t>个。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317354-93B5-2216-3D46-FC64AAF3FDCA}"/>
              </a:ext>
            </a:extLst>
          </p:cNvPr>
          <p:cNvSpPr txBox="1"/>
          <p:nvPr/>
        </p:nvSpPr>
        <p:spPr>
          <a:xfrm>
            <a:off x="820883" y="3940968"/>
            <a:ext cx="6097384" cy="206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name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'funnel'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values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name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'Step1'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value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100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name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'Step2'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value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80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name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'Step3'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value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60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name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'Step4'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value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30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}]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82714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0879-F2C3-AB38-5BB3-E7AF9572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04CE9-B567-093F-80C9-BD25B5E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转化漏斗（转化层）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921F6C-6CFE-7B3F-912A-4B3ACD66DCE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48D573-B8F8-7EDA-86A5-F2A109097729}"/>
              </a:ext>
            </a:extLst>
          </p:cNvPr>
          <p:cNvSpPr txBox="1"/>
          <p:nvPr/>
        </p:nvSpPr>
        <p:spPr>
          <a:xfrm>
            <a:off x="669923" y="1231213"/>
            <a:ext cx="6097384" cy="1885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展示环节间的转化率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配置：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isTransform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: true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自动计算转化率：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下层数值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上层数值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显示在相邻图元之间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52BD10-9887-9BA6-2185-2849CF2A1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72" y="1170828"/>
            <a:ext cx="6201295" cy="445902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C1C77EE-102E-0FC3-BAA7-68A1117D4BF2}"/>
              </a:ext>
            </a:extLst>
          </p:cNvPr>
          <p:cNvSpPr txBox="1"/>
          <p:nvPr/>
        </p:nvSpPr>
        <p:spPr>
          <a:xfrm>
            <a:off x="804257" y="3468369"/>
            <a:ext cx="6097384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b="0" dirty="0" err="1">
                <a:effectLst/>
                <a:latin typeface="Consolas" panose="020B0609020204030204" pitchFamily="49" charset="0"/>
              </a:rPr>
              <a:t>transformLabel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      visible: true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}, 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显示转换率标签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5CCC-C3D1-B83E-8AB5-F636DE3E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E7AF5-7F7E-4838-F5AF-A5231261E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快速上手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1377DF0-0166-E575-4C19-A6580FB504CA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4B1140-5835-3BCE-7257-9562C4685B07}"/>
              </a:ext>
            </a:extLst>
          </p:cNvPr>
          <p:cNvSpPr txBox="1"/>
          <p:nvPr/>
        </p:nvSpPr>
        <p:spPr>
          <a:xfrm>
            <a:off x="669923" y="137334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实现一个漏斗图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C2994C1-90D9-3C50-3178-9D4E7B29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72" y="1170828"/>
            <a:ext cx="6201295" cy="445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69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586BD-C028-25A0-0D71-BEB99CD2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4DA44-A707-0427-AAF1-A9AD94F1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对齐方式与朝向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D26D543-2859-1D31-F8DB-0E25E2AA98F1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95230C-B3F0-7472-5BAC-50FFD1AB637D}"/>
              </a:ext>
            </a:extLst>
          </p:cNvPr>
          <p:cNvSpPr txBox="1"/>
          <p:nvPr/>
        </p:nvSpPr>
        <p:spPr>
          <a:xfrm>
            <a:off x="779316" y="2388172"/>
            <a:ext cx="6097384" cy="419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对齐方式（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funnelAlign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'left'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：左对齐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'right'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：右对齐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'center'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：居中对齐（默认）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漏斗朝向（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funnelOrient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'top'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：从上到下（默认）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'bottom'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：从下到上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'left'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：从左到右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'right'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：从右到左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6850FE-61BA-4CE2-3233-221A6F89251A}"/>
              </a:ext>
            </a:extLst>
          </p:cNvPr>
          <p:cNvSpPr txBox="1"/>
          <p:nvPr/>
        </p:nvSpPr>
        <p:spPr>
          <a:xfrm>
            <a:off x="779318" y="1266387"/>
            <a:ext cx="1033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可以通过</a:t>
            </a:r>
            <a:r>
              <a:rPr lang="en-US" altLang="zh-CN" b="0" dirty="0" err="1">
                <a:solidFill>
                  <a:srgbClr val="424E66"/>
                </a:solidFill>
                <a:effectLst/>
                <a:latin typeface="ui-monospace"/>
              </a:rPr>
              <a:t>funnelChart.funnelAlign</a:t>
            </a:r>
            <a:r>
              <a:rPr lang="en-US" altLang="zh-CN" b="0" dirty="0">
                <a:solidFill>
                  <a:srgbClr val="424E66"/>
                </a:solidFill>
                <a:effectLst/>
                <a:latin typeface="ui-monospace"/>
              </a:rPr>
              <a:t>: 'left' | 'right' | 'center'</a:t>
            </a: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指定漏斗图朝向，默认值为</a:t>
            </a:r>
            <a:r>
              <a:rPr lang="en-US" altLang="zh-CN" b="0" dirty="0">
                <a:solidFill>
                  <a:srgbClr val="424E66"/>
                </a:solidFill>
                <a:effectLst/>
                <a:latin typeface="ui-monospace"/>
              </a:rPr>
              <a:t>'center'</a:t>
            </a: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。</a:t>
            </a:r>
          </a:p>
          <a:p>
            <a:pPr>
              <a:buNone/>
            </a:pPr>
            <a:br>
              <a:rPr lang="en-US" altLang="zh-CN" b="0" i="0" dirty="0">
                <a:solidFill>
                  <a:srgbClr val="24292F"/>
                </a:solidFill>
                <a:effectLst/>
                <a:latin typeface="ui-monospace"/>
              </a:rPr>
            </a:b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A56C2E-B6E5-2BEB-DFE0-1831FBE46FB2}"/>
              </a:ext>
            </a:extLst>
          </p:cNvPr>
          <p:cNvSpPr txBox="1"/>
          <p:nvPr/>
        </p:nvSpPr>
        <p:spPr>
          <a:xfrm>
            <a:off x="779316" y="1820385"/>
            <a:ext cx="1113282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可以通过</a:t>
            </a:r>
            <a:r>
              <a:rPr lang="en-US" altLang="zh-CN" b="0" dirty="0" err="1">
                <a:solidFill>
                  <a:srgbClr val="424E66"/>
                </a:solidFill>
                <a:effectLst/>
                <a:latin typeface="ui-monospace"/>
              </a:rPr>
              <a:t>funnelChart.funnelOrient</a:t>
            </a:r>
            <a:r>
              <a:rPr lang="en-US" altLang="zh-CN" b="0" dirty="0">
                <a:solidFill>
                  <a:srgbClr val="424E66"/>
                </a:solidFill>
                <a:effectLst/>
                <a:latin typeface="ui-monospace"/>
              </a:rPr>
              <a:t>: 'left' | 'right' | 'top' | 'bottom'</a:t>
            </a: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指定漏斗图朝向，默认值为</a:t>
            </a:r>
            <a:r>
              <a:rPr lang="en-US" altLang="zh-CN" b="0" dirty="0">
                <a:solidFill>
                  <a:srgbClr val="424E66"/>
                </a:solidFill>
                <a:effectLst/>
                <a:latin typeface="ui-monospace"/>
              </a:rPr>
              <a:t>'top'</a:t>
            </a:r>
            <a:r>
              <a:rPr lang="zh-CN" altLang="en-US" b="0" dirty="0">
                <a:solidFill>
                  <a:srgbClr val="424E66"/>
                </a:solidFill>
                <a:effectLst/>
                <a:latin typeface="Nunito for Arco"/>
              </a:rPr>
              <a:t>。</a:t>
            </a:r>
          </a:p>
          <a:p>
            <a:pPr>
              <a:buNone/>
            </a:pPr>
            <a:br>
              <a:rPr lang="en-US" altLang="zh-CN" b="0" i="0" dirty="0">
                <a:solidFill>
                  <a:srgbClr val="24292F"/>
                </a:solidFill>
                <a:effectLst/>
                <a:latin typeface="ui-monospace"/>
              </a:rPr>
            </a:b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0777B83-A4C1-9790-2C78-D4C3DF0B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282" y="2788096"/>
            <a:ext cx="6097384" cy="273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74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B18F7-447A-569B-4C56-CD20CB22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04C4A-B872-F0B3-B2B7-0BF3C6A9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图元及样式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08EE267-51F3-C888-3D3D-7357F1DDD388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C818C5-BF71-BB2E-D8D2-57C90C667B47}"/>
              </a:ext>
            </a:extLst>
          </p:cNvPr>
          <p:cNvSpPr txBox="1"/>
          <p:nvPr/>
        </p:nvSpPr>
        <p:spPr>
          <a:xfrm>
            <a:off x="669923" y="1224276"/>
            <a:ext cx="60973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形状（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shape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'trapezoid'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：梯形（默认）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rect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：矩形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最下层尖角（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isCone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仅对梯形有效，默认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true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（最下层呈尖角）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设为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false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则最下层也是平顶梯形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像素间隔（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gap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相邻图元之间的间距，默认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最大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最小宽度（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maxSize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 / 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minSize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支持像素值或百分比，如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'80%'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200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默认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maxSize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: '80%'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minSize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: 0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32893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1F2D-105A-DACF-3CDB-AA0C5AB5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FC60C-4C9C-5403-0CFF-EB8A06A6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标签与提示信息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DF27EF6-7BE1-95E4-1AA4-AAB076DB2E8C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9E7CDE-BB4D-67CA-CDD3-73DBEB4D1284}"/>
              </a:ext>
            </a:extLst>
          </p:cNvPr>
          <p:cNvSpPr txBox="1"/>
          <p:nvPr/>
        </p:nvSpPr>
        <p:spPr>
          <a:xfrm>
            <a:off x="746068" y="1373341"/>
            <a:ext cx="6097384" cy="1390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标签（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label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配置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label: { visible: true }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显示标签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可显示环节名称、数值、百分比等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4F6F29-03C5-5D2D-C067-244E61F793A5}"/>
              </a:ext>
            </a:extLst>
          </p:cNvPr>
          <p:cNvSpPr txBox="1"/>
          <p:nvPr/>
        </p:nvSpPr>
        <p:spPr>
          <a:xfrm>
            <a:off x="746068" y="3429000"/>
            <a:ext cx="6097384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提示信息（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tooltip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默认鼠标悬停时显示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可自定义内容、样式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55A29E-1E5C-FC18-706D-C685CA59FC93}"/>
              </a:ext>
            </a:extLst>
          </p:cNvPr>
          <p:cNvSpPr txBox="1"/>
          <p:nvPr/>
        </p:nvSpPr>
        <p:spPr>
          <a:xfrm>
            <a:off x="746068" y="5364492"/>
            <a:ext cx="6097384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label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visible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position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'outside'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tooltip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visible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trigger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'hover'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18438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09D3-8838-12AD-CEEE-EE6E3E58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F6DDD-CFF6-63BB-1141-54ACF6B5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常见注意事项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7C272D-F242-F420-6F2B-501F1E3F40D3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1CC446-B272-AFBB-5149-23DB2217D5C4}"/>
              </a:ext>
            </a:extLst>
          </p:cNvPr>
          <p:cNvSpPr txBox="1"/>
          <p:nvPr/>
        </p:nvSpPr>
        <p:spPr>
          <a:xfrm>
            <a:off x="669922" y="1460031"/>
            <a:ext cx="10078433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顺序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必须与实际流程一致，否则转化率计算错误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环节数量建议 ≥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，过少则漏斗形态不明显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转化率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下层数值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上层数值，请确保数值为正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minSize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过大会导致下层图元无法明显缩小，影响可视化对比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isCone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: false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可让最下层保持梯形，避免过于尖锐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矩形形状（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shape: '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rect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）下，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isCone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无效</a:t>
            </a:r>
          </a:p>
        </p:txBody>
      </p:sp>
    </p:spTree>
    <p:extLst>
      <p:ext uri="{BB962C8B-B14F-4D97-AF65-F5344CB8AC3E}">
        <p14:creationId xmlns:p14="http://schemas.microsoft.com/office/powerpoint/2010/main" val="62464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6757-A831-A5B6-5D50-2966D4F6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58F01-B82C-74CD-763A-C60F1741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1640E9-D85B-72BC-DEFC-8F9AB2CBE0A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E9D653-C89A-2AC0-C02B-92688AC41356}"/>
              </a:ext>
            </a:extLst>
          </p:cNvPr>
          <p:cNvSpPr txBox="1"/>
          <p:nvPr/>
        </p:nvSpPr>
        <p:spPr>
          <a:xfrm>
            <a:off x="669923" y="1504296"/>
            <a:ext cx="6097384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漏斗图适用于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有序流程分析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支持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梯形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矩形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转化率计算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、多种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对齐与朝向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丰富的样式控制（间隔、尖角、宽幅限制）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通过标签和提示信息增强可读性</a:t>
            </a:r>
          </a:p>
        </p:txBody>
      </p:sp>
    </p:spTree>
    <p:extLst>
      <p:ext uri="{BB962C8B-B14F-4D97-AF65-F5344CB8AC3E}">
        <p14:creationId xmlns:p14="http://schemas.microsoft.com/office/powerpoint/2010/main" val="191060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1736</TotalTime>
  <Words>878</Words>
  <Application>Microsoft Office PowerPoint</Application>
  <PresentationFormat>宽屏</PresentationFormat>
  <Paragraphs>103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-apple-system</vt:lpstr>
      <vt:lpstr>Menlo</vt:lpstr>
      <vt:lpstr>Nunito for Arco</vt:lpstr>
      <vt:lpstr>quote-cjk-patch</vt:lpstr>
      <vt:lpstr>ui-monospace</vt:lpstr>
      <vt:lpstr>等线</vt:lpstr>
      <vt:lpstr>Arial</vt:lpstr>
      <vt:lpstr>Consolas</vt:lpstr>
      <vt:lpstr>Impact</vt:lpstr>
      <vt:lpstr>1_Office 主题​​</vt:lpstr>
      <vt:lpstr>OfficePLUS-V2-ee79b56c-44bf-4999-8350-9727f0739207</vt:lpstr>
      <vt:lpstr>PowerPoint 演示文稿</vt:lpstr>
      <vt:lpstr>漏斗图简介</vt:lpstr>
      <vt:lpstr>图表构成与基本配置</vt:lpstr>
      <vt:lpstr>漏斗图特性</vt:lpstr>
      <vt:lpstr>转化漏斗（转化层）</vt:lpstr>
      <vt:lpstr>快速上手</vt:lpstr>
      <vt:lpstr>对齐方式与朝向</vt:lpstr>
      <vt:lpstr>图元及样式</vt:lpstr>
      <vt:lpstr>标签与提示信息</vt:lpstr>
      <vt:lpstr>常见注意事项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622</cp:revision>
  <dcterms:created xsi:type="dcterms:W3CDTF">2025-10-28T10:07:16Z</dcterms:created>
  <dcterms:modified xsi:type="dcterms:W3CDTF">2026-04-10T09:28:38Z</dcterms:modified>
</cp:coreProperties>
</file>