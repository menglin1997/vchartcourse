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4"/>
  </p:notesMasterIdLst>
  <p:sldIdLst>
    <p:sldId id="262" r:id="rId3"/>
    <p:sldId id="286" r:id="rId4"/>
    <p:sldId id="303" r:id="rId5"/>
    <p:sldId id="309" r:id="rId6"/>
    <p:sldId id="310" r:id="rId7"/>
    <p:sldId id="314" r:id="rId8"/>
    <p:sldId id="315" r:id="rId9"/>
    <p:sldId id="312" r:id="rId10"/>
    <p:sldId id="313" r:id="rId11"/>
    <p:sldId id="283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28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课：瀑布</a:t>
            </a:r>
            <a:r>
              <a:rPr lang="zh-CN" altLang="en-US" dirty="0"/>
              <a:t>图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瀑布图简介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B93AAC-B37B-E74F-1885-A1B22B76B98D}"/>
              </a:ext>
            </a:extLst>
          </p:cNvPr>
          <p:cNvSpPr txBox="1"/>
          <p:nvPr/>
        </p:nvSpPr>
        <p:spPr>
          <a:xfrm>
            <a:off x="669923" y="1559806"/>
            <a:ext cx="5656062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瀑布图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柱状图的一种变体，用于展示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数值的累计增减过程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每个柱子代表一项收入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支出，前一个柱子的顶部是后一个柱子的起点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最终到达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总计值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（如净利润）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典型应用：损益表分析、预算变化、库存变动等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6728FAD-A046-15A4-D61C-28B023951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969" y="2765622"/>
            <a:ext cx="5390379" cy="240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EE01-59EF-F05A-B83F-6E123B58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56A71-D185-7DA0-759B-E8C79F2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图表构成与基本配置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641CDE-D6D1-271A-099C-064A505C5FD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BC523-0753-F3A7-A713-BFA28CF167C0}"/>
              </a:ext>
            </a:extLst>
          </p:cNvPr>
          <p:cNvSpPr txBox="1"/>
          <p:nvPr/>
        </p:nvSpPr>
        <p:spPr>
          <a:xfrm>
            <a:off x="595746" y="1373341"/>
            <a:ext cx="6097384" cy="251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柱状图元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引导线图元（连接前后柱子）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坐标轴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必要配置项：</a:t>
            </a: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type: 'waterfall'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：分类字段（如产品名称）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yField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：数值字段（每个类别的变化量）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total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：总计配置（三种方式，稍后详述）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75F28C-BEF2-2473-A939-718FEA3DDD32}"/>
              </a:ext>
            </a:extLst>
          </p:cNvPr>
          <p:cNvSpPr txBox="1"/>
          <p:nvPr/>
        </p:nvSpPr>
        <p:spPr>
          <a:xfrm>
            <a:off x="595746" y="4494061"/>
            <a:ext cx="9512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瀑布图的核心是“变化量”而非绝对值，每个柱子代表的是相对于前一个节点的增减值。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673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8D4F-6257-078E-E13E-0EA384968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2299B-E80B-BEF3-62A3-2CD5D3CC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数据格式详解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1BC4EE2-0EF2-5A88-D7D9-385343A03EF6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558045-EBE0-125B-D3F8-10DBADFA4100}"/>
              </a:ext>
            </a:extLst>
          </p:cNvPr>
          <p:cNvSpPr txBox="1"/>
          <p:nvPr/>
        </p:nvSpPr>
        <p:spPr>
          <a:xfrm>
            <a:off x="669923" y="1373341"/>
            <a:ext cx="60973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[</a:t>
            </a:r>
          </a:p>
          <a:p>
            <a:r>
              <a:rPr lang="zh-CN" altLang="en-US" dirty="0"/>
              <a:t>  { "product": "期初库存", "sales": 100 },   // 起始值</a:t>
            </a:r>
          </a:p>
          <a:p>
            <a:r>
              <a:rPr lang="zh-CN" altLang="en-US" dirty="0"/>
              <a:t>  { "product": "进货",     "sales": 50 },    // 增加</a:t>
            </a:r>
          </a:p>
          <a:p>
            <a:r>
              <a:rPr lang="zh-CN" altLang="en-US" dirty="0"/>
              <a:t>  { "product": "销售",     "sales": -30 },   // 减少</a:t>
            </a:r>
          </a:p>
          <a:p>
            <a:r>
              <a:rPr lang="zh-CN" altLang="en-US" dirty="0"/>
              <a:t>  { "product": "退货",     "sales": 10 }     // 增加</a:t>
            </a:r>
          </a:p>
          <a:p>
            <a:r>
              <a:rPr lang="zh-CN" altLang="en-US" dirty="0"/>
              <a:t>]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E74E83-54AB-BF99-E31C-5AF749EBBA02}"/>
              </a:ext>
            </a:extLst>
          </p:cNvPr>
          <p:cNvSpPr txBox="1"/>
          <p:nvPr/>
        </p:nvSpPr>
        <p:spPr>
          <a:xfrm>
            <a:off x="669922" y="3468274"/>
            <a:ext cx="9937117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字段含义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：离散的类别（可以是阶段名称）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yField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：数值（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可正可负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，正数向上增长，负数向下减少）</a:t>
            </a:r>
          </a:p>
          <a:p>
            <a:pPr algn="l">
              <a:spcBef>
                <a:spcPts val="1200"/>
              </a:spcBef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🎙️ 提示：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yField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的值是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变化量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，不是累计值。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VChart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会自动计算累计起点和终点。</a:t>
            </a:r>
          </a:p>
        </p:txBody>
      </p:sp>
    </p:spTree>
    <p:extLst>
      <p:ext uri="{BB962C8B-B14F-4D97-AF65-F5344CB8AC3E}">
        <p14:creationId xmlns:p14="http://schemas.microsoft.com/office/powerpoint/2010/main" val="182714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0879-F2C3-AB38-5BB3-E7AF9572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04CE9-B567-093F-80C9-BD25B5E0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三种总计配置方式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921F6C-6CFE-7B3F-912A-4B3ACD66DCEC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C4B442-6FA9-E008-F4CE-7C4CD67EBBF5}"/>
              </a:ext>
            </a:extLst>
          </p:cNvPr>
          <p:cNvSpPr txBox="1"/>
          <p:nvPr/>
        </p:nvSpPr>
        <p:spPr>
          <a:xfrm>
            <a:off x="669923" y="1538280"/>
            <a:ext cx="6097384" cy="180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方式一：末尾自动总计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type: 'end'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自动计算所有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yField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的累加和，作为总计柱子的高度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可自定义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（总计标签）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total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'end'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text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Menlo"/>
              </a:rPr>
              <a:t>总计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0410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86BD-C028-25A0-0D71-BEB99CD26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4DA44-A707-0427-AAF1-A9AD94F1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三种总计配置方式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D26D543-2859-1D31-F8DB-0E25E2AA98F1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51504E-0945-0259-9E92-D56976262CEF}"/>
              </a:ext>
            </a:extLst>
          </p:cNvPr>
          <p:cNvSpPr txBox="1"/>
          <p:nvPr/>
        </p:nvSpPr>
        <p:spPr>
          <a:xfrm>
            <a:off x="669923" y="1512701"/>
            <a:ext cx="6097384" cy="180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方式二：字段标记总计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type: 'field'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数据中某条记录的某个字段（如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isTotal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: true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）标识为总计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可指定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tagField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valueField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startField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collectCountField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total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'field'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tagField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altLang="zh-CN" b="0" i="0" dirty="0" err="1">
                <a:solidFill>
                  <a:srgbClr val="50A14F"/>
                </a:solidFill>
                <a:effectLst/>
                <a:latin typeface="Menlo"/>
              </a:rPr>
              <a:t>isTotal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ED4786-5BBF-EBDC-BF38-CC79A0113427}"/>
              </a:ext>
            </a:extLst>
          </p:cNvPr>
          <p:cNvSpPr txBox="1"/>
          <p:nvPr/>
        </p:nvSpPr>
        <p:spPr>
          <a:xfrm>
            <a:off x="595746" y="3603998"/>
            <a:ext cx="10850564" cy="2110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F1115"/>
                </a:solidFill>
                <a:latin typeface="quote-cjk-patch"/>
              </a:rPr>
              <a:t>waterfallChart.total.tagField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声明总计值的标志位，对应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field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的值为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true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时，认为这条数据是总计数据</a:t>
            </a:r>
          </a:p>
          <a:p>
            <a:pPr indent="-285750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F1115"/>
                </a:solidFill>
                <a:latin typeface="quote-cjk-patch"/>
              </a:rPr>
              <a:t>waterfallChart.total.valueField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可以指定总计值</a:t>
            </a:r>
          </a:p>
          <a:p>
            <a:pPr indent="-285750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F1115"/>
                </a:solidFill>
                <a:latin typeface="quote-cjk-patch"/>
              </a:rPr>
              <a:t>waterfallChart.total.startField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可以指定总计起点</a:t>
            </a:r>
          </a:p>
          <a:p>
            <a:pPr indent="-285750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F1115"/>
                </a:solidFill>
                <a:latin typeface="quote-cjk-patch"/>
              </a:rPr>
              <a:t>waterfallChart.total.collectCountField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可以指定总计计算前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n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个维度的字段，比如该字段指定为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'collect'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，那么在被识别为总计的那条数据中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'collect'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字段读到的就这个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n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22474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B18F7-447A-569B-4C56-CD20CB225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04C4A-B872-F0B3-B2B7-0BF3C6A9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三种总计配置方式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08EE267-51F3-C888-3D3D-7357F1DDD388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F0CD3D-3AEE-E661-7D29-9150583BAAA6}"/>
              </a:ext>
            </a:extLst>
          </p:cNvPr>
          <p:cNvSpPr txBox="1"/>
          <p:nvPr/>
        </p:nvSpPr>
        <p:spPr>
          <a:xfrm>
            <a:off x="669923" y="1418354"/>
            <a:ext cx="6097384" cy="4089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方式三：自定义计算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type: 'custom'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通过函数自定义总计的起点和终点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适合复杂业务逻辑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total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'custom'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tagField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altLang="zh-CN" b="0" i="0" dirty="0" err="1">
                <a:solidFill>
                  <a:srgbClr val="50A14F"/>
                </a:solidFill>
                <a:effectLst/>
                <a:latin typeface="Menlo"/>
              </a:rPr>
              <a:t>isTotal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product: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datum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current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=&gt;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start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end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current</a:t>
            </a:r>
            <a:r>
              <a:rPr lang="en-US" altLang="zh-CN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end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})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532893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01F2D-105A-DACF-3CDB-AA0C5AB5E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FC60C-4C9C-5403-0CFF-EB8A06A6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引导线与样式定制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DF27EF6-7BE1-95E4-1AA4-AAB076DB2E8C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ABBAC8-A4A7-A71A-152F-7D3B40C0E9F5}"/>
              </a:ext>
            </a:extLst>
          </p:cNvPr>
          <p:cNvSpPr txBox="1"/>
          <p:nvPr/>
        </p:nvSpPr>
        <p:spPr>
          <a:xfrm>
            <a:off x="669922" y="1556212"/>
            <a:ext cx="9338601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引导线（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connector line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）：连接相邻柱子顶部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底部，展示变化路径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可配置引导线样式（颜色、线型、宽度）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柱子样式：可区分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正变化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（如绿色）和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负变化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（如红色）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总计柱子样式独立配置（通常颜色不同）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1B53F8-85EC-2239-F463-798C9442E3E7}"/>
              </a:ext>
            </a:extLst>
          </p:cNvPr>
          <p:cNvSpPr txBox="1"/>
          <p:nvPr/>
        </p:nvSpPr>
        <p:spPr>
          <a:xfrm>
            <a:off x="844490" y="3879157"/>
            <a:ext cx="6097384" cy="2278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waterfall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style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positiveColor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'#4caf50'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negativeColor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'#f44336'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totalColor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'#ff9800'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connector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style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stroke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'#999'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lineWidth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lineDash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184380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309D3-8838-12AD-CEEE-EE6E3E58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F6DDD-CFF6-63BB-1141-54ACF6B59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要点回顾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7C272D-F242-F420-6F2B-501F1E3F40D3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D64AF4-A783-8954-5535-CC57E711B7D9}"/>
              </a:ext>
            </a:extLst>
          </p:cNvPr>
          <p:cNvSpPr txBox="1"/>
          <p:nvPr/>
        </p:nvSpPr>
        <p:spPr>
          <a:xfrm>
            <a:off x="669923" y="1373341"/>
            <a:ext cx="7666412" cy="2290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瀑布图展示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数值的累计变化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，每个柱子代表变化量（可正可负）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必须提供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（类别）和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yField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（变化量）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总计有三种配置方式：末尾自动、字段标记、自定义函数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可通过颜色区分正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负变化，引导线连接相邻柱子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起始值非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0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时需指定起点</a:t>
            </a:r>
          </a:p>
        </p:txBody>
      </p:sp>
    </p:spTree>
    <p:extLst>
      <p:ext uri="{BB962C8B-B14F-4D97-AF65-F5344CB8AC3E}">
        <p14:creationId xmlns:p14="http://schemas.microsoft.com/office/powerpoint/2010/main" val="624642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1667</TotalTime>
  <Words>810</Words>
  <Application>Microsoft Office PowerPoint</Application>
  <PresentationFormat>宽屏</PresentationFormat>
  <Paragraphs>81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Menlo</vt:lpstr>
      <vt:lpstr>quote-cjk-patch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瀑布图简介</vt:lpstr>
      <vt:lpstr>图表构成与基本配置</vt:lpstr>
      <vt:lpstr>数据格式详解</vt:lpstr>
      <vt:lpstr>三种总计配置方式</vt:lpstr>
      <vt:lpstr>三种总计配置方式</vt:lpstr>
      <vt:lpstr>三种总计配置方式</vt:lpstr>
      <vt:lpstr>引导线与样式定制</vt:lpstr>
      <vt:lpstr>要点回顾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 ml</cp:lastModifiedBy>
  <cp:revision>586</cp:revision>
  <dcterms:created xsi:type="dcterms:W3CDTF">2025-10-28T10:07:16Z</dcterms:created>
  <dcterms:modified xsi:type="dcterms:W3CDTF">2026-04-06T12:13:10Z</dcterms:modified>
</cp:coreProperties>
</file>