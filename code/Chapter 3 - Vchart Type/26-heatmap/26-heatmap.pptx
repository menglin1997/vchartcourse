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3"/>
  </p:notesMasterIdLst>
  <p:sldIdLst>
    <p:sldId id="262" r:id="rId3"/>
    <p:sldId id="286" r:id="rId4"/>
    <p:sldId id="303" r:id="rId5"/>
    <p:sldId id="305" r:id="rId6"/>
    <p:sldId id="309" r:id="rId7"/>
    <p:sldId id="310" r:id="rId8"/>
    <p:sldId id="308" r:id="rId9"/>
    <p:sldId id="311" r:id="rId10"/>
    <p:sldId id="283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热力图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什么是热力图？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7ABB85-61C9-4D7F-EB10-746107A285CF}"/>
              </a:ext>
            </a:extLst>
          </p:cNvPr>
          <p:cNvSpPr txBox="1"/>
          <p:nvPr/>
        </p:nvSpPr>
        <p:spPr>
          <a:xfrm>
            <a:off x="669923" y="12712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热力图定义与典型场景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1C1995-EA4F-6275-985A-48442149F439}"/>
              </a:ext>
            </a:extLst>
          </p:cNvPr>
          <p:cNvSpPr txBox="1"/>
          <p:nvPr/>
        </p:nvSpPr>
        <p:spPr>
          <a:xfrm>
            <a:off x="669923" y="1742673"/>
            <a:ext cx="6096000" cy="301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：用矩形颜色深浅表示第三维数值的统计图表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特点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轴均为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离散分类字段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，矩形颜色代表权重（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value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典型场景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变量之间的相关系数矩阵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城市各月平均气温分布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用户行为频率矩阵（如星期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时段）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18EC7D-E418-5483-0B9F-6D0D41074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57" y="1721838"/>
            <a:ext cx="4776568" cy="297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热力图图表构成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334B2B-22E6-6751-AA8F-662A565747AD}"/>
              </a:ext>
            </a:extLst>
          </p:cNvPr>
          <p:cNvSpPr txBox="1"/>
          <p:nvPr/>
        </p:nvSpPr>
        <p:spPr>
          <a:xfrm>
            <a:off x="669923" y="12567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组成要素一览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F95093-FC63-1B99-75F6-353E755BA285}"/>
              </a:ext>
            </a:extLst>
          </p:cNvPr>
          <p:cNvSpPr txBox="1"/>
          <p:nvPr/>
        </p:nvSpPr>
        <p:spPr>
          <a:xfrm>
            <a:off x="595746" y="1854200"/>
            <a:ext cx="60960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矩形图元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：每个格子代表一个交叉分类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）：离散分类字段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）：离散分类字段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颜色图例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：线性映射，展示数值范围对应的颜色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可选组件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：坐标轴标题、提示框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(tooltip)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、数据标签等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B50206-5A4C-46F1-3844-3C316EEB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107" y="1626116"/>
            <a:ext cx="4776568" cy="297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5DEF-6006-4D8D-FF9B-26798257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12E89-F309-8CC1-73AD-CB27D611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核心配置项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3DB275-48BE-2040-5C04-F5C1DAED379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27B392A-3B9E-1A75-F310-41EB4E08D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34754"/>
              </p:ext>
            </p:extLst>
          </p:nvPr>
        </p:nvGraphicFramePr>
        <p:xfrm>
          <a:off x="669925" y="2140267"/>
          <a:ext cx="10850563" cy="2987040"/>
        </p:xfrm>
        <a:graphic>
          <a:graphicData uri="http://schemas.openxmlformats.org/drawingml/2006/table">
            <a:tbl>
              <a:tblPr/>
              <a:tblGrid>
                <a:gridCol w="3333179">
                  <a:extLst>
                    <a:ext uri="{9D8B030D-6E8A-4147-A177-3AD203B41FA5}">
                      <a16:colId xmlns:a16="http://schemas.microsoft.com/office/drawing/2014/main" val="3602828418"/>
                    </a:ext>
                  </a:extLst>
                </a:gridCol>
                <a:gridCol w="3758692">
                  <a:extLst>
                    <a:ext uri="{9D8B030D-6E8A-4147-A177-3AD203B41FA5}">
                      <a16:colId xmlns:a16="http://schemas.microsoft.com/office/drawing/2014/main" val="3575866980"/>
                    </a:ext>
                  </a:extLst>
                </a:gridCol>
                <a:gridCol w="3758692">
                  <a:extLst>
                    <a:ext uri="{9D8B030D-6E8A-4147-A177-3AD203B41FA5}">
                      <a16:colId xmlns:a16="http://schemas.microsoft.com/office/drawing/2014/main" val="2178806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配置项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作用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示例值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31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type: 'heatmap'</a:t>
                      </a:r>
                      <a:endParaRPr 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声明图表类型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'heatmap'</a:t>
                      </a:r>
                      <a:endParaRPr lang="en-US">
                        <a:effectLst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701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data</a:t>
                      </a:r>
                      <a:endParaRPr 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数据源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见下页示例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86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xField</a:t>
                      </a:r>
                      <a:endParaRPr 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X</a:t>
                      </a:r>
                      <a:r>
                        <a:rPr lang="zh-CN" altLang="en-US">
                          <a:effectLst/>
                        </a:rPr>
                        <a:t>轴分类字段名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'var1'</a:t>
                      </a:r>
                      <a:endParaRPr lang="en-US">
                        <a:effectLst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672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yField</a:t>
                      </a:r>
                      <a:endParaRPr 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Y</a:t>
                      </a:r>
                      <a:r>
                        <a:rPr lang="zh-CN" altLang="en-US">
                          <a:effectLst/>
                        </a:rPr>
                        <a:t>轴分类字段名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'var2'</a:t>
                      </a:r>
                      <a:endParaRPr lang="en-US">
                        <a:effectLst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37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valueField</a:t>
                      </a:r>
                      <a:endParaRPr 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权重数值字段名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'value'</a:t>
                      </a:r>
                      <a:endParaRPr lang="en-US">
                        <a:effectLst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3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color</a:t>
                      </a:r>
                      <a:endParaRPr 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颜色映射规则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线性映射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4572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8EC463A-46FF-7336-EE34-876A1A112951}"/>
              </a:ext>
            </a:extLst>
          </p:cNvPr>
          <p:cNvSpPr txBox="1"/>
          <p:nvPr/>
        </p:nvSpPr>
        <p:spPr>
          <a:xfrm>
            <a:off x="669923" y="1426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valueField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是热力图区别于柱状图的关键。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19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8D4F-6257-078E-E13E-0EA38496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299B-E80B-BEF3-62A3-2CD5D3CC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数据格式要求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BC4EE2-0EF2-5A88-D7D9-385343A03EF6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2DB47C-5DE2-6810-5019-B7681272A7F5}"/>
              </a:ext>
            </a:extLst>
          </p:cNvPr>
          <p:cNvSpPr txBox="1"/>
          <p:nvPr/>
        </p:nvSpPr>
        <p:spPr>
          <a:xfrm>
            <a:off x="669923" y="208509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[</a:t>
            </a:r>
          </a:p>
          <a:p>
            <a:r>
              <a:rPr lang="zh-CN" altLang="en-US" dirty="0"/>
              <a:t>  {</a:t>
            </a:r>
          </a:p>
          <a:p>
            <a:r>
              <a:rPr lang="zh-CN" altLang="en-US" dirty="0"/>
              <a:t>    "var1": "Asset Liability Ratio",</a:t>
            </a:r>
          </a:p>
          <a:p>
            <a:r>
              <a:rPr lang="zh-CN" altLang="en-US" dirty="0"/>
              <a:t>    "var2": "Asset Liability Ratio",</a:t>
            </a:r>
          </a:p>
          <a:p>
            <a:r>
              <a:rPr lang="zh-CN" altLang="en-US" dirty="0"/>
              <a:t>    "value": 1</a:t>
            </a:r>
          </a:p>
          <a:p>
            <a:r>
              <a:rPr lang="zh-CN" altLang="en-US" dirty="0"/>
              <a:t>  },</a:t>
            </a:r>
          </a:p>
          <a:p>
            <a:r>
              <a:rPr lang="zh-CN" altLang="en-US" dirty="0"/>
              <a:t>  {</a:t>
            </a:r>
          </a:p>
          <a:p>
            <a:r>
              <a:rPr lang="zh-CN" altLang="en-US" dirty="0"/>
              <a:t>    "var1": "Asset Liability Ratio",</a:t>
            </a:r>
          </a:p>
          <a:p>
            <a:r>
              <a:rPr lang="zh-CN" altLang="en-US" dirty="0"/>
              <a:t>    "var2": "Asset Liability Ratio (Deducting Advance Payments)",</a:t>
            </a:r>
          </a:p>
          <a:p>
            <a:r>
              <a:rPr lang="zh-CN" altLang="en-US" dirty="0"/>
              <a:t>    "value": 0.5</a:t>
            </a:r>
          </a:p>
          <a:p>
            <a:r>
              <a:rPr lang="zh-CN" altLang="en-US" dirty="0"/>
              <a:t>  },</a:t>
            </a:r>
          </a:p>
          <a:p>
            <a:r>
              <a:rPr lang="zh-CN" altLang="en-US" dirty="0"/>
              <a:t>  ...</a:t>
            </a:r>
          </a:p>
          <a:p>
            <a:r>
              <a:rPr lang="zh-CN" altLang="en-US" dirty="0"/>
              <a:t>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BEB820-8948-D30D-8D47-B68A197DB7C9}"/>
              </a:ext>
            </a:extLst>
          </p:cNvPr>
          <p:cNvSpPr txBox="1"/>
          <p:nvPr/>
        </p:nvSpPr>
        <p:spPr>
          <a:xfrm>
            <a:off x="669923" y="10745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需要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长表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格式，每行代表一个交叉格子的值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F67421-1355-38FF-A304-38FD7F5AAC66}"/>
              </a:ext>
            </a:extLst>
          </p:cNvPr>
          <p:cNvSpPr txBox="1"/>
          <p:nvPr/>
        </p:nvSpPr>
        <p:spPr>
          <a:xfrm>
            <a:off x="669923" y="148965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必须保证所有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xField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组合完整，缺失值会留白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14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0879-F2C3-AB38-5BB3-E7AF9572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04CE9-B567-093F-80C9-BD25B5E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颜色映射配置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921F6C-6CFE-7B3F-912A-4B3ACD66DCE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891F74-BEEF-4796-0E78-0ABF4EB307A1}"/>
              </a:ext>
            </a:extLst>
          </p:cNvPr>
          <p:cNvSpPr txBox="1"/>
          <p:nvPr/>
        </p:nvSpPr>
        <p:spPr>
          <a:xfrm>
            <a:off x="669923" y="120048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'linear'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线性连续映射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domain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数值范围来自数据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dataId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'data0'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fields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'value'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range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</a:t>
            </a:r>
            <a:r>
              <a:rPr lang="en-US" altLang="zh-CN" b="0" i="0" dirty="0" err="1">
                <a:solidFill>
                  <a:srgbClr val="50A14F"/>
                </a:solidFill>
                <a:effectLst/>
                <a:latin typeface="var(--ds-font-family-code)"/>
              </a:rPr>
              <a:t>feedde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'#fdbe85'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'#fd8d3c'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'#e6550d'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'#a63603'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71A475-C88E-D2A4-42D8-9ACB4842400E}"/>
              </a:ext>
            </a:extLst>
          </p:cNvPr>
          <p:cNvSpPr txBox="1"/>
          <p:nvPr/>
        </p:nvSpPr>
        <p:spPr>
          <a:xfrm>
            <a:off x="595746" y="3504977"/>
            <a:ext cx="6096000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domain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：指定数据源和字段，自动计算最小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最大值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range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：颜色数组，支持多种颜色分段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也可用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'gradient'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或自定义阈值，但线性最常用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068AE7-FF51-D240-3D7F-DFDD1697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323" y="1200488"/>
            <a:ext cx="4668931" cy="546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250F-C1FA-64FC-DFEF-3EAE125A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B2DA4-D2CC-91A2-A9D9-BD1A9063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3" y="0"/>
            <a:ext cx="10850563" cy="1028699"/>
          </a:xfrm>
        </p:spPr>
        <p:txBody>
          <a:bodyPr>
            <a:normAutofit/>
          </a:bodyPr>
          <a:lstStyle/>
          <a:p>
            <a:r>
              <a:rPr lang="zh-CN" altLang="en-US" dirty="0"/>
              <a:t>建议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C3D4952-BC95-209D-E319-6885A94270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54349C-2555-1848-6F4E-371BB8DF65B6}"/>
              </a:ext>
            </a:extLst>
          </p:cNvPr>
          <p:cNvSpPr txBox="1"/>
          <p:nvPr/>
        </p:nvSpPr>
        <p:spPr>
          <a:xfrm>
            <a:off x="669922" y="1373341"/>
            <a:ext cx="10029827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字段必须为离散值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（字符串或分类数字），连续数值会导致错误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valueField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不能缺失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，否则所有格子颜色一致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数据需包含所有交叉组合，否则出现空白格子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颜色映射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range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建议使用顺序色调（如单色渐变或双色渐变），避免彩虹色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大量分类时（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&gt;20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个），格子过密难以阅读，可考虑筛选或使用交互缩放</a:t>
            </a:r>
          </a:p>
        </p:txBody>
      </p:sp>
    </p:spTree>
    <p:extLst>
      <p:ext uri="{BB962C8B-B14F-4D97-AF65-F5344CB8AC3E}">
        <p14:creationId xmlns:p14="http://schemas.microsoft.com/office/powerpoint/2010/main" val="108065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ABD6A-0845-E968-49A7-19F16AD9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77A91-A65E-1FD6-4507-BB0EF7D1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3" y="0"/>
            <a:ext cx="10850563" cy="1028699"/>
          </a:xfrm>
        </p:spPr>
        <p:txBody>
          <a:bodyPr>
            <a:normAutofit/>
          </a:bodyPr>
          <a:lstStyle/>
          <a:p>
            <a:r>
              <a:rPr lang="zh-CN" altLang="en-US" dirty="0"/>
              <a:t>扩展与优化建议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416D36F-179C-38B5-1A6D-C519F64C3858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DFB2F0-FE49-88BD-3C73-39D0DA3DAEE9}"/>
              </a:ext>
            </a:extLst>
          </p:cNvPr>
          <p:cNvSpPr txBox="1"/>
          <p:nvPr/>
        </p:nvSpPr>
        <p:spPr>
          <a:xfrm>
            <a:off x="669922" y="1667225"/>
            <a:ext cx="8861427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添加数据标签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label: { visible: true,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formatMethod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: (v) =&gt;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v.toFixed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(2) }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自定义色域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：根据业务语义设置对称色（如相关性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-1~1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用蓝白红）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交互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：支持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tooltip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显示详细数值、点击高亮行列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布局调整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：当标签过长时，旋转坐标轴文本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axes.label.style.angle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= -45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8675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629</Words>
  <Application>Microsoft Office PowerPoint</Application>
  <PresentationFormat>宽屏</PresentationFormat>
  <Paragraphs>90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quote-cjk-patch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什么是热力图？</vt:lpstr>
      <vt:lpstr>热力图图表构成</vt:lpstr>
      <vt:lpstr>核心配置项</vt:lpstr>
      <vt:lpstr>数据格式要求</vt:lpstr>
      <vt:lpstr>颜色映射配置</vt:lpstr>
      <vt:lpstr>建议</vt:lpstr>
      <vt:lpstr>扩展与优化建议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542</cp:revision>
  <dcterms:created xsi:type="dcterms:W3CDTF">2025-10-28T10:07:16Z</dcterms:created>
  <dcterms:modified xsi:type="dcterms:W3CDTF">2026-04-03T13:11:32Z</dcterms:modified>
</cp:coreProperties>
</file>