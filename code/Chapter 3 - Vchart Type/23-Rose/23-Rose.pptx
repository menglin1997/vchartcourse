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4"/>
  </p:notesMasterIdLst>
  <p:sldIdLst>
    <p:sldId id="262" r:id="rId3"/>
    <p:sldId id="286" r:id="rId4"/>
    <p:sldId id="303" r:id="rId5"/>
    <p:sldId id="295" r:id="rId6"/>
    <p:sldId id="307" r:id="rId7"/>
    <p:sldId id="302" r:id="rId8"/>
    <p:sldId id="304" r:id="rId9"/>
    <p:sldId id="305" r:id="rId10"/>
    <p:sldId id="308" r:id="rId11"/>
    <p:sldId id="283" r:id="rId12"/>
    <p:sldId id="265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23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玫瑰图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大纲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AD1C9BA-906B-060E-612D-E00C2D5C0501}"/>
              </a:ext>
            </a:extLst>
          </p:cNvPr>
          <p:cNvSpPr txBox="1"/>
          <p:nvPr/>
        </p:nvSpPr>
        <p:spPr>
          <a:xfrm>
            <a:off x="669923" y="1522870"/>
            <a:ext cx="6097384" cy="2349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什么是玫瑰图？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玫瑰图的构成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基本配置项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特性一：分组玫瑰图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特性二：堆叠玫瑰图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8EE01-59EF-F05A-B83F-6E123B580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F56A71-D185-7DA0-759B-E8C79F243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什么是玫瑰图？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F641CDE-D6D1-271A-099C-064A505C5FD5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2FAA15-B059-0A7A-3C9C-F39D25700CAF}"/>
              </a:ext>
            </a:extLst>
          </p:cNvPr>
          <p:cNvSpPr txBox="1"/>
          <p:nvPr/>
        </p:nvSpPr>
        <p:spPr>
          <a:xfrm>
            <a:off x="595746" y="1241221"/>
            <a:ext cx="6157038" cy="4375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dirty="0"/>
              <a:t>玫瑰图是在极坐标系下绘制的统计图表，数据中的每个类别被分成相等的部分，每个部分从中心向外延伸的距离取决于它所代表的值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历史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：南丁格尔用于展示克里米亚战争士兵死亡原因。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适用场景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：展示周期性数据（月份、星期、季节等）。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与饼图对比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饼图：角度编码数值，半径相等。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玫瑰图：半径编码数值，角度相等。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优势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：更容易比较数值大小（长度比角度更易感知）。</a:t>
            </a:r>
          </a:p>
          <a:p>
            <a:pPr>
              <a:spcBef>
                <a:spcPts val="1200"/>
              </a:spcBef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💡</a:t>
            </a:r>
            <a:r>
              <a:rPr lang="zh-CN" altLang="en-US" dirty="0"/>
              <a:t>玫瑰图适合展示循环数据（月份、季节等）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1C39603-1351-174D-F57D-5F3D5E5F4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95" y="1543068"/>
            <a:ext cx="4280648" cy="3340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37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b="0" dirty="0">
                <a:solidFill>
                  <a:srgbClr val="0F1115"/>
                </a:solidFill>
                <a:latin typeface="quote-cjk-patch"/>
              </a:rPr>
              <a:t>玫瑰图的构成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38911A-9A30-EEEF-0C98-B5466F1F8F33}"/>
              </a:ext>
            </a:extLst>
          </p:cNvPr>
          <p:cNvSpPr txBox="1"/>
          <p:nvPr/>
        </p:nvSpPr>
        <p:spPr>
          <a:xfrm>
            <a:off x="669924" y="1378711"/>
            <a:ext cx="609738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玫瑰图由扇区图元及其他组件构成。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</a:b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E9852EE-AAEF-34E9-D852-4DFB45FBD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525" y="2081660"/>
            <a:ext cx="8447619" cy="439047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BAEAC35-E395-EDC7-E3C3-7A01E88AFE99}"/>
              </a:ext>
            </a:extLst>
          </p:cNvPr>
          <p:cNvSpPr txBox="1"/>
          <p:nvPr/>
        </p:nvSpPr>
        <p:spPr>
          <a:xfrm>
            <a:off x="6164635" y="1409681"/>
            <a:ext cx="5439932" cy="1343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1A2233"/>
                </a:solidFill>
                <a:effectLst/>
                <a:latin typeface="-apple-system"/>
              </a:rPr>
              <a:t>数据</a:t>
            </a:r>
          </a:p>
          <a:p>
            <a:pPr algn="l">
              <a:lnSpc>
                <a:spcPts val="19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424E66"/>
                </a:solidFill>
                <a:effectLst/>
                <a:latin typeface="-apple-system"/>
              </a:rPr>
              <a:t>一个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ui-monospace"/>
              </a:rPr>
              <a:t>离散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-apple-system"/>
              </a:rPr>
              <a:t> 字段，如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-apple-system"/>
              </a:rPr>
              <a:t>: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product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-apple-system"/>
              </a:rPr>
              <a:t>，用于映射不同扇区</a:t>
            </a:r>
          </a:p>
          <a:p>
            <a:pPr algn="l">
              <a:lnSpc>
                <a:spcPts val="195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424E66"/>
                </a:solidFill>
                <a:effectLst/>
                <a:latin typeface="-apple-system"/>
              </a:rPr>
              <a:t>一个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ui-monospace"/>
              </a:rPr>
              <a:t>数值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-apple-system"/>
              </a:rPr>
              <a:t>字段，如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-apple-system"/>
              </a:rPr>
              <a:t>: 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ui-monospace"/>
              </a:rPr>
              <a:t>sales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-apple-system"/>
              </a:rPr>
              <a:t>，用于映射扇区半径</a:t>
            </a:r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DD72C-16AB-E3A5-6096-0817AAFB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BCFF0F-4432-C3B9-CBD9-803EAA19E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基本配置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430F231-4733-A19F-2A17-659A97AF3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7912" y="299848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F3F6B76-2551-65BC-D8F0-48DB23FA0A58}"/>
              </a:ext>
            </a:extLst>
          </p:cNvPr>
          <p:cNvSpPr txBox="1"/>
          <p:nvPr/>
        </p:nvSpPr>
        <p:spPr>
          <a:xfrm>
            <a:off x="787912" y="1347319"/>
            <a:ext cx="6097384" cy="4878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A626A4"/>
                </a:solidFill>
                <a:effectLst/>
                <a:latin typeface="Menlo"/>
              </a:rPr>
              <a:t>const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spec 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'rose'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data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categoryField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'category'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valueField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Menlo"/>
              </a:rPr>
              <a:t>'value'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Menlo"/>
              </a:rPr>
              <a:t>outerRadius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0.8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Menlo"/>
              </a:rPr>
              <a:t>玫瑰图外径占比（可选）</a:t>
            </a:r>
            <a:endParaRPr lang="zh-CN" alt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tooltip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legends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Menlo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en-US" altLang="zh-CN" b="0" i="0" dirty="0">
              <a:solidFill>
                <a:srgbClr val="0F1115"/>
              </a:solidFill>
              <a:effectLst/>
              <a:latin typeface="Menlo"/>
            </a:endParaRPr>
          </a:p>
          <a:p>
            <a:pPr>
              <a:buNone/>
            </a:pPr>
            <a:b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891FD5D-C3CB-4967-FA40-37A4FD6F01E5}"/>
              </a:ext>
            </a:extLst>
          </p:cNvPr>
          <p:cNvSpPr txBox="1"/>
          <p:nvPr/>
        </p:nvSpPr>
        <p:spPr>
          <a:xfrm>
            <a:off x="5758642" y="1334495"/>
            <a:ext cx="6097384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核心配置解释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marL="742950" lvl="1" indent="-285750" algn="l">
              <a:lnSpc>
                <a:spcPts val="165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type: 'rose'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：指定图表类型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categoryField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和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valueField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映射数据字段</a:t>
            </a:r>
            <a:endParaRPr lang="en-US" altLang="zh-CN" dirty="0">
              <a:solidFill>
                <a:srgbClr val="0F1115"/>
              </a:solidFill>
              <a:latin typeface="quote-cjk-patch"/>
            </a:endParaRPr>
          </a:p>
          <a:p>
            <a:pPr marL="742950" lvl="1" indent="-285750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dirty="0" err="1"/>
              <a:t>seriesField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outerRadius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：控制图形大小，留出空间给标签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tooltip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：鼠标悬停显示详情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legends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：显示图例（默认颜色区分）</a:t>
            </a:r>
          </a:p>
        </p:txBody>
      </p:sp>
    </p:spTree>
    <p:extLst>
      <p:ext uri="{BB962C8B-B14F-4D97-AF65-F5344CB8AC3E}">
        <p14:creationId xmlns:p14="http://schemas.microsoft.com/office/powerpoint/2010/main" val="149840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分组玫瑰图 </a:t>
            </a:r>
            <a:r>
              <a:rPr lang="en-US" altLang="zh-CN" dirty="0"/>
              <a:t>–</a:t>
            </a:r>
            <a:r>
              <a:rPr lang="zh-CN" altLang="en-US" dirty="0"/>
              <a:t>介绍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391CFA-2AAA-B9F0-E157-FB2484ED4034}"/>
              </a:ext>
            </a:extLst>
          </p:cNvPr>
          <p:cNvSpPr txBox="1"/>
          <p:nvPr/>
        </p:nvSpPr>
        <p:spPr>
          <a:xfrm>
            <a:off x="669924" y="1450574"/>
            <a:ext cx="10850563" cy="991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200"/>
              </a:spcAft>
              <a:buNone/>
            </a:pPr>
            <a:r>
              <a:rPr lang="zh-CN" altLang="en-US" b="0" dirty="0">
                <a:solidFill>
                  <a:srgbClr val="424E66"/>
                </a:solidFill>
                <a:effectLst/>
                <a:latin typeface="Nunito for Arco"/>
              </a:rPr>
              <a:t>分组玫瑰图可以看作 </a:t>
            </a:r>
            <a:r>
              <a:rPr lang="en-US" altLang="zh-CN" b="1" dirty="0">
                <a:solidFill>
                  <a:srgbClr val="424E66"/>
                </a:solidFill>
                <a:effectLst/>
                <a:latin typeface="Nunito for Arco"/>
              </a:rPr>
              <a:t>'</a:t>
            </a:r>
            <a:r>
              <a:rPr lang="zh-CN" altLang="en-US" b="1" dirty="0">
                <a:solidFill>
                  <a:srgbClr val="424E66"/>
                </a:solidFill>
                <a:effectLst/>
                <a:latin typeface="Nunito for Arco"/>
              </a:rPr>
              <a:t>弯曲后的分组柱状图</a:t>
            </a:r>
            <a:r>
              <a:rPr lang="en-US" altLang="zh-CN" b="1" dirty="0">
                <a:solidFill>
                  <a:srgbClr val="424E66"/>
                </a:solidFill>
                <a:effectLst/>
                <a:latin typeface="Nunito for Arco"/>
              </a:rPr>
              <a:t>'</a:t>
            </a:r>
            <a:r>
              <a:rPr lang="zh-CN" altLang="en-US" b="0" dirty="0">
                <a:solidFill>
                  <a:srgbClr val="424E66"/>
                </a:solidFill>
                <a:effectLst/>
                <a:latin typeface="Nunito for Arco"/>
              </a:rPr>
              <a:t>，它将不同类别的玫瑰系列沿着极坐标系以间隔的方式排列在一起，每组玫瑰系列代表一个类别。</a:t>
            </a:r>
            <a:br>
              <a:rPr lang="zh-CN" altLang="en-US" b="0" i="0" dirty="0">
                <a:solidFill>
                  <a:srgbClr val="24292F"/>
                </a:solidFill>
                <a:effectLst/>
                <a:latin typeface="ui-monospace"/>
              </a:rPr>
            </a:br>
            <a:endParaRPr lang="zh-CN" alt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8A1D3F4-87C7-59DA-EBAD-BDBA4FB4D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404" y="2272688"/>
            <a:ext cx="5666667" cy="45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FDD32-0A03-BB0C-4FEE-9F330BCD9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1BF0CD-E99B-FD26-0A54-03C26F684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分组玫瑰图 </a:t>
            </a:r>
            <a:r>
              <a:rPr lang="en-US" altLang="zh-CN" dirty="0"/>
              <a:t>- </a:t>
            </a:r>
            <a:r>
              <a:rPr lang="zh-CN" altLang="en-US" dirty="0"/>
              <a:t>配置要点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20A19EE-5993-6C62-6C15-23D80C029397}"/>
              </a:ext>
            </a:extLst>
          </p:cNvPr>
          <p:cNvSpPr txBox="1"/>
          <p:nvPr/>
        </p:nvSpPr>
        <p:spPr>
          <a:xfrm>
            <a:off x="669924" y="1666774"/>
            <a:ext cx="4639495" cy="1797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关键点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marL="742950" lvl="1" indent="-285750" algn="l">
              <a:lnSpc>
                <a:spcPts val="165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categoryField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为数组，表示先按第一个字段（大类）分扇区，再按第二个字段（季度）在扇区内并排。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指定系列字段（这里是季度），用于颜色映射和分组。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90ECB7-55D3-6566-DEF6-17FC1A5D0E24}"/>
              </a:ext>
            </a:extLst>
          </p:cNvPr>
          <p:cNvSpPr txBox="1"/>
          <p:nvPr/>
        </p:nvSpPr>
        <p:spPr>
          <a:xfrm>
            <a:off x="5653548" y="1705695"/>
            <a:ext cx="6096000" cy="3518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  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categoryField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['time', 'type'],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valueField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'value',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seriesField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'type',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outerRadius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0.9,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axes: [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orient: 'angle',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domainLine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{ visible: true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grid: { visible: true, </a:t>
            </a:r>
            <a:r>
              <a:rPr lang="en-US" altLang="zh-CN" b="0" dirty="0" err="1">
                <a:effectLst/>
                <a:latin typeface="Consolas" panose="020B0609020204030204" pitchFamily="49" charset="0"/>
              </a:rPr>
              <a:t>alignWithLabel</a:t>
            </a:r>
            <a:r>
              <a:rPr lang="en-US" altLang="zh-CN" b="0" dirty="0">
                <a:effectLst/>
                <a:latin typeface="Consolas" panose="020B0609020204030204" pitchFamily="49" charset="0"/>
              </a:rPr>
              <a:t>: false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label: {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  visible: true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},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orient: 'radius',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  grid: { visible: true, smooth: true }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zh-CN" b="0" dirty="0">
                <a:effectLst/>
                <a:latin typeface="Consolas" panose="020B0609020204030204" pitchFamily="49" charset="0"/>
              </a:rPr>
              <a:t>  ],</a:t>
            </a:r>
          </a:p>
        </p:txBody>
      </p:sp>
    </p:spTree>
    <p:extLst>
      <p:ext uri="{BB962C8B-B14F-4D97-AF65-F5344CB8AC3E}">
        <p14:creationId xmlns:p14="http://schemas.microsoft.com/office/powerpoint/2010/main" val="3415081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B7CDA-793B-C0CD-42CB-68E7A1594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08184A-A72A-628E-D96B-725F82B85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堆叠玫瑰图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2FCFA8-FBCF-B8E3-F5B7-15EFE90C8029}"/>
              </a:ext>
            </a:extLst>
          </p:cNvPr>
          <p:cNvSpPr txBox="1"/>
          <p:nvPr/>
        </p:nvSpPr>
        <p:spPr>
          <a:xfrm>
            <a:off x="669923" y="1338179"/>
            <a:ext cx="108505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堆叠玫瑰图可以看做 </a:t>
            </a:r>
            <a:r>
              <a:rPr lang="en-US" altLang="zh-CN" b="1" i="0" dirty="0">
                <a:solidFill>
                  <a:srgbClr val="424E66"/>
                </a:solidFill>
                <a:effectLst/>
                <a:latin typeface="Nunito for Arco"/>
              </a:rPr>
              <a:t>'</a:t>
            </a:r>
            <a:r>
              <a:rPr lang="zh-CN" altLang="en-US" b="1" i="0" dirty="0">
                <a:solidFill>
                  <a:srgbClr val="424E66"/>
                </a:solidFill>
                <a:effectLst/>
                <a:latin typeface="Nunito for Arco"/>
              </a:rPr>
              <a:t>弯曲后的堆叠柱状图</a:t>
            </a:r>
            <a:r>
              <a:rPr lang="en-US" altLang="zh-CN" b="1" i="0" dirty="0">
                <a:solidFill>
                  <a:srgbClr val="424E66"/>
                </a:solidFill>
                <a:effectLst/>
                <a:latin typeface="Nunito for Arco"/>
              </a:rPr>
              <a:t>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，它将不同类别的玫瑰系列以堆叠的方式组合在一起，每组玫瑰系列代表一个类别。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B3A2F5-BC65-5413-32B0-7FC583248678}"/>
              </a:ext>
            </a:extLst>
          </p:cNvPr>
          <p:cNvSpPr txBox="1"/>
          <p:nvPr/>
        </p:nvSpPr>
        <p:spPr>
          <a:xfrm>
            <a:off x="669923" y="2491289"/>
            <a:ext cx="6097384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关键点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marL="742950" lvl="1" indent="-285750" algn="l">
              <a:lnSpc>
                <a:spcPts val="1650"/>
              </a:lnSpc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stack: 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将同一大类下的不同季度值叠加。</a:t>
            </a:r>
          </a:p>
          <a:p>
            <a:pPr marL="742950" lvl="1" indent="-285750"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用于区分颜色。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6B4E155-F0FB-544C-56C4-E4F19943F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316" y="1984510"/>
            <a:ext cx="5057143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43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DB23-98FE-2D99-F561-726E09D45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689E63-44AB-3A7F-7D89-A4072C93F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总结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4C796-C63F-7ADA-1604-528519001C26}"/>
              </a:ext>
            </a:extLst>
          </p:cNvPr>
          <p:cNvSpPr txBox="1"/>
          <p:nvPr/>
        </p:nvSpPr>
        <p:spPr>
          <a:xfrm>
            <a:off x="669924" y="1451282"/>
            <a:ext cx="6097384" cy="87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基础玫瑰图：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type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categoryField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valueField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,</a:t>
            </a:r>
            <a:r>
              <a:rPr lang="en-US" altLang="zh-CN" dirty="0"/>
              <a:t> </a:t>
            </a:r>
            <a:r>
              <a:rPr lang="en-US" altLang="zh-CN" dirty="0" err="1"/>
              <a:t>seriesField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分组玫瑰图：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categoryField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为数组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+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450"/>
              </a:spcBef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堆叠玫瑰图：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Menlo"/>
              </a:rPr>
              <a:t>stack: 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+ 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50913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1306</TotalTime>
  <Words>666</Words>
  <Application>Microsoft Office PowerPoint</Application>
  <PresentationFormat>宽屏</PresentationFormat>
  <Paragraphs>86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-apple-system</vt:lpstr>
      <vt:lpstr>Menlo</vt:lpstr>
      <vt:lpstr>Nunito for Arco</vt:lpstr>
      <vt:lpstr>quote-cjk-patch</vt:lpstr>
      <vt:lpstr>ui-monospace</vt:lpstr>
      <vt:lpstr>等线</vt:lpstr>
      <vt:lpstr>Arial</vt:lpstr>
      <vt:lpstr>Consolas</vt:lpstr>
      <vt:lpstr>Impact</vt:lpstr>
      <vt:lpstr>1_Office 主题​​</vt:lpstr>
      <vt:lpstr>OfficePLUS-V2-ee79b56c-44bf-4999-8350-9727f0739207</vt:lpstr>
      <vt:lpstr>PowerPoint 演示文稿</vt:lpstr>
      <vt:lpstr>大纲</vt:lpstr>
      <vt:lpstr>什么是玫瑰图？</vt:lpstr>
      <vt:lpstr>玫瑰图的构成</vt:lpstr>
      <vt:lpstr>基本配置</vt:lpstr>
      <vt:lpstr>分组玫瑰图 –介绍</vt:lpstr>
      <vt:lpstr>分组玫瑰图 - 配置要点</vt:lpstr>
      <vt:lpstr>堆叠玫瑰图</vt:lpstr>
      <vt:lpstr>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491</cp:revision>
  <dcterms:created xsi:type="dcterms:W3CDTF">2025-10-28T10:07:16Z</dcterms:created>
  <dcterms:modified xsi:type="dcterms:W3CDTF">2026-03-15T14:16:03Z</dcterms:modified>
</cp:coreProperties>
</file>