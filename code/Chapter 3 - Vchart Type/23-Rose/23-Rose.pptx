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4"/>
  </p:notesMasterIdLst>
  <p:sldIdLst>
    <p:sldId id="262" r:id="rId3"/>
    <p:sldId id="286" r:id="rId4"/>
    <p:sldId id="303" r:id="rId5"/>
    <p:sldId id="295" r:id="rId6"/>
    <p:sldId id="307" r:id="rId7"/>
    <p:sldId id="302" r:id="rId8"/>
    <p:sldId id="304" r:id="rId9"/>
    <p:sldId id="305" r:id="rId10"/>
    <p:sldId id="308" r:id="rId11"/>
    <p:sldId id="28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玫瑰图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D1C9BA-906B-060E-612D-E00C2D5C0501}"/>
              </a:ext>
            </a:extLst>
          </p:cNvPr>
          <p:cNvSpPr txBox="1"/>
          <p:nvPr/>
        </p:nvSpPr>
        <p:spPr>
          <a:xfrm>
            <a:off x="669923" y="1522870"/>
            <a:ext cx="6097384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什么是玫瑰图？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玫瑰图的构成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基本配置项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特性一：分组玫瑰图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特性二：堆叠玫瑰图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什么是玫瑰图？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2FAA15-B059-0A7A-3C9C-F39D25700CAF}"/>
              </a:ext>
            </a:extLst>
          </p:cNvPr>
          <p:cNvSpPr txBox="1"/>
          <p:nvPr/>
        </p:nvSpPr>
        <p:spPr>
          <a:xfrm>
            <a:off x="595746" y="1241221"/>
            <a:ext cx="8390312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：极坐标系下，每个类别占相等角度，半径表示数值大小。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历史</a:t>
            </a: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：南丁格尔用于展示克里米亚战争士兵死亡原因。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适用场景</a:t>
            </a: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：展示周期性数据（月份、星期、季节等）。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与饼图对比</a:t>
            </a: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饼图：角度编码数值，半径相等。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玫瑰图：半径编码数值，角度相等。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优势</a:t>
            </a: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：更容易比较数值大小（长度比角度更易感知）。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💡 配图建议：并排展示同一数据的饼图和玫瑰图，标注差异。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olidFill>
                  <a:srgbClr val="0F1115"/>
                </a:solidFill>
                <a:latin typeface="quote-cjk-patch"/>
              </a:rPr>
              <a:t>玫瑰图的构成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38911A-9A30-EEEF-0C98-B5466F1F8F33}"/>
              </a:ext>
            </a:extLst>
          </p:cNvPr>
          <p:cNvSpPr txBox="1"/>
          <p:nvPr/>
        </p:nvSpPr>
        <p:spPr>
          <a:xfrm>
            <a:off x="669924" y="1378711"/>
            <a:ext cx="60973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玫瑰图由扇区图元及其他组件构成。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</a:b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9852EE-AAEF-34E9-D852-4DFB45FBD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25" y="2081660"/>
            <a:ext cx="8447619" cy="439047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AEAC35-E395-EDC7-E3C3-7A01E88AFE99}"/>
              </a:ext>
            </a:extLst>
          </p:cNvPr>
          <p:cNvSpPr txBox="1"/>
          <p:nvPr/>
        </p:nvSpPr>
        <p:spPr>
          <a:xfrm>
            <a:off x="6164635" y="1409681"/>
            <a:ext cx="5439932" cy="134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数据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离散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product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，用于映射不同扇区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数值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sales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，用于映射扇区半径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D72C-16AB-E3A5-6096-0817AAFB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CFF0F-4432-C3B9-CBD9-803EAA19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基本配置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430F231-4733-A19F-2A17-659A97AF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12" y="2998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3F6B76-2551-65BC-D8F0-48DB23FA0A58}"/>
              </a:ext>
            </a:extLst>
          </p:cNvPr>
          <p:cNvSpPr txBox="1"/>
          <p:nvPr/>
        </p:nvSpPr>
        <p:spPr>
          <a:xfrm>
            <a:off x="787912" y="1347319"/>
            <a:ext cx="6097384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A626A4"/>
                </a:solidFill>
                <a:effectLst/>
                <a:latin typeface="Menlo"/>
              </a:rPr>
              <a:t>const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spec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'rose'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data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categoryField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'category'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valueField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'value'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Menlo"/>
              </a:rPr>
              <a:t>outerRadius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0.8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玫瑰图外径占比（可选）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tooltip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legends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>
              <a:buNone/>
            </a:pPr>
            <a:b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91FD5D-C3CB-4967-FA40-37A4FD6F01E5}"/>
              </a:ext>
            </a:extLst>
          </p:cNvPr>
          <p:cNvSpPr txBox="1"/>
          <p:nvPr/>
        </p:nvSpPr>
        <p:spPr>
          <a:xfrm>
            <a:off x="5758642" y="1334495"/>
            <a:ext cx="6097384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核心配置解释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'rose'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：指定图表类型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categoryField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valueField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映射数据字段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outerRadius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：控制图形大小，留出空间给标签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tooltip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：鼠标悬停显示详情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legends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：显示图例（默认颜色区分）</a:t>
            </a:r>
          </a:p>
        </p:txBody>
      </p:sp>
    </p:spTree>
    <p:extLst>
      <p:ext uri="{BB962C8B-B14F-4D97-AF65-F5344CB8AC3E}">
        <p14:creationId xmlns:p14="http://schemas.microsoft.com/office/powerpoint/2010/main" val="14984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分组玫瑰图 </a:t>
            </a:r>
            <a:r>
              <a:rPr lang="en-US" altLang="zh-CN" dirty="0"/>
              <a:t>–</a:t>
            </a:r>
            <a:r>
              <a:rPr lang="zh-CN" altLang="en-US" dirty="0"/>
              <a:t>介绍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391CFA-2AAA-B9F0-E157-FB2484ED4034}"/>
              </a:ext>
            </a:extLst>
          </p:cNvPr>
          <p:cNvSpPr txBox="1"/>
          <p:nvPr/>
        </p:nvSpPr>
        <p:spPr>
          <a:xfrm>
            <a:off x="669924" y="1450574"/>
            <a:ext cx="8075065" cy="99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分组玫瑰图可以看作 </a:t>
            </a:r>
            <a:r>
              <a:rPr lang="en-US" altLang="zh-CN" b="1" dirty="0">
                <a:solidFill>
                  <a:srgbClr val="424E66"/>
                </a:solidFill>
                <a:effectLst/>
                <a:latin typeface="Nunito for Arco"/>
              </a:rPr>
              <a:t>'</a:t>
            </a:r>
            <a:r>
              <a:rPr lang="zh-CN" altLang="en-US" b="1" dirty="0">
                <a:solidFill>
                  <a:srgbClr val="424E66"/>
                </a:solidFill>
                <a:effectLst/>
                <a:latin typeface="Nunito for Arco"/>
              </a:rPr>
              <a:t>弯曲后的分组柱状图</a:t>
            </a:r>
            <a:r>
              <a:rPr lang="en-US" altLang="zh-CN" b="1" dirty="0">
                <a:solidFill>
                  <a:srgbClr val="424E66"/>
                </a:solidFill>
                <a:effectLst/>
                <a:latin typeface="Nunito for Arco"/>
              </a:rPr>
              <a:t>'</a:t>
            </a: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，它将不同类别的玫瑰系列沿着极坐标系以间隔的方式排列在一起，每组玫瑰系列代表一个类别。</a:t>
            </a:r>
            <a:br>
              <a:rPr lang="zh-CN" altLang="en-US" b="0" i="0" dirty="0">
                <a:solidFill>
                  <a:srgbClr val="24292F"/>
                </a:solidFill>
                <a:effectLst/>
                <a:latin typeface="ui-monospace"/>
              </a:rPr>
            </a:b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8A1D3F4-87C7-59DA-EBAD-BDBA4FB4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404" y="2272688"/>
            <a:ext cx="5666667" cy="4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DD32-0A03-BB0C-4FEE-9F330BCD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BF0CD-E99B-FD26-0A54-03C26F68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分组玫瑰图 </a:t>
            </a:r>
            <a:r>
              <a:rPr lang="en-US" altLang="zh-CN" dirty="0"/>
              <a:t>- </a:t>
            </a:r>
            <a:r>
              <a:rPr lang="zh-CN" altLang="en-US" dirty="0"/>
              <a:t>配置要点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0A19EE-5993-6C62-6C15-23D80C029397}"/>
              </a:ext>
            </a:extLst>
          </p:cNvPr>
          <p:cNvSpPr txBox="1"/>
          <p:nvPr/>
        </p:nvSpPr>
        <p:spPr>
          <a:xfrm>
            <a:off x="669924" y="1666774"/>
            <a:ext cx="6097384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categoryField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为数组，表示先按第一个字段（大类）分扇区，再按第二个字段（季度）在扇区内并排。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指定系列字段（这里是季度），用于颜色映射和分组。</a:t>
            </a:r>
          </a:p>
        </p:txBody>
      </p:sp>
    </p:spTree>
    <p:extLst>
      <p:ext uri="{BB962C8B-B14F-4D97-AF65-F5344CB8AC3E}">
        <p14:creationId xmlns:p14="http://schemas.microsoft.com/office/powerpoint/2010/main" val="341508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7CDA-793B-C0CD-42CB-68E7A15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8184A-A72A-628E-D96B-725F82B8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堆叠玫瑰图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2FCFA8-FBCF-B8E3-F5B7-15EFE90C8029}"/>
              </a:ext>
            </a:extLst>
          </p:cNvPr>
          <p:cNvSpPr txBox="1"/>
          <p:nvPr/>
        </p:nvSpPr>
        <p:spPr>
          <a:xfrm>
            <a:off x="669923" y="1338179"/>
            <a:ext cx="10850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堆叠玫瑰图可以看做 </a:t>
            </a:r>
            <a:r>
              <a:rPr lang="en-US" altLang="zh-CN" b="1" i="0" dirty="0">
                <a:solidFill>
                  <a:srgbClr val="424E66"/>
                </a:solidFill>
                <a:effectLst/>
                <a:latin typeface="Nunito for Arco"/>
              </a:rPr>
              <a:t>'</a:t>
            </a:r>
            <a:r>
              <a:rPr lang="zh-CN" altLang="en-US" b="1" i="0" dirty="0">
                <a:solidFill>
                  <a:srgbClr val="424E66"/>
                </a:solidFill>
                <a:effectLst/>
                <a:latin typeface="Nunito for Arco"/>
              </a:rPr>
              <a:t>弯曲后的堆叠柱状图</a:t>
            </a:r>
            <a:r>
              <a:rPr lang="en-US" altLang="zh-CN" b="1" i="0" dirty="0">
                <a:solidFill>
                  <a:srgbClr val="424E66"/>
                </a:solidFill>
                <a:effectLst/>
                <a:latin typeface="Nunito for Arco"/>
              </a:rPr>
              <a:t>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，它将不同类别的玫瑰系列以堆叠的方式组合在一起，每组玫瑰系列代表一个类别。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B3A2F5-BC65-5413-32B0-7FC583248678}"/>
              </a:ext>
            </a:extLst>
          </p:cNvPr>
          <p:cNvSpPr txBox="1"/>
          <p:nvPr/>
        </p:nvSpPr>
        <p:spPr>
          <a:xfrm>
            <a:off x="669923" y="2491289"/>
            <a:ext cx="6097384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stack: 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将同一大类下的不同季度值叠加。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用于区分颜色。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B4E155-F0FB-544C-56C4-E4F19943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16" y="1984510"/>
            <a:ext cx="5057143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DB23-98FE-2D99-F561-726E09D4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89E63-44AB-3A7F-7D89-A4072C93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B4C796-C63F-7ADA-1604-528519001C26}"/>
              </a:ext>
            </a:extLst>
          </p:cNvPr>
          <p:cNvSpPr txBox="1"/>
          <p:nvPr/>
        </p:nvSpPr>
        <p:spPr>
          <a:xfrm>
            <a:off x="669924" y="1451282"/>
            <a:ext cx="6097384" cy="87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基础玫瑰图：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categoryField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valueField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分组玫瑰图：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categoryField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为数组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堆叠玫瑰图：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stack: true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+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5091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558</Words>
  <Application>Microsoft Office PowerPoint</Application>
  <PresentationFormat>宽屏</PresentationFormat>
  <Paragraphs>67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-apple-system</vt:lpstr>
      <vt:lpstr>Menlo</vt:lpstr>
      <vt:lpstr>Nunito for Arco</vt:lpstr>
      <vt:lpstr>quote-cjk-patch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什么是玫瑰图？</vt:lpstr>
      <vt:lpstr>玫瑰图的构成</vt:lpstr>
      <vt:lpstr>基本配置</vt:lpstr>
      <vt:lpstr>分组玫瑰图 –介绍</vt:lpstr>
      <vt:lpstr>分组玫瑰图 - 配置要点</vt:lpstr>
      <vt:lpstr>堆叠玫瑰图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478</cp:revision>
  <dcterms:created xsi:type="dcterms:W3CDTF">2025-10-28T10:07:16Z</dcterms:created>
  <dcterms:modified xsi:type="dcterms:W3CDTF">2026-03-14T09:52:18Z</dcterms:modified>
</cp:coreProperties>
</file>