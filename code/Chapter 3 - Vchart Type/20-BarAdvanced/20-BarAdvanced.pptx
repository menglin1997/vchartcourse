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6"/>
  </p:notesMasterIdLst>
  <p:sldIdLst>
    <p:sldId id="262" r:id="rId3"/>
    <p:sldId id="284" r:id="rId4"/>
    <p:sldId id="286" r:id="rId5"/>
    <p:sldId id="296" r:id="rId6"/>
    <p:sldId id="293" r:id="rId7"/>
    <p:sldId id="294" r:id="rId8"/>
    <p:sldId id="297" r:id="rId9"/>
    <p:sldId id="295" r:id="rId10"/>
    <p:sldId id="292" r:id="rId11"/>
    <p:sldId id="300" r:id="rId12"/>
    <p:sldId id="302" r:id="rId13"/>
    <p:sldId id="283" r:id="rId14"/>
    <p:sldId id="265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17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471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F666-2BAE-FFA5-93A5-9FF6EEFAB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BC6F21-3D7D-9CA7-F795-AFA9E6734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F22DFE-0AA0-A1F9-B860-0FD41DC63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2467DF-4268-83D0-F907-02F45C73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55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20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b="0" dirty="0"/>
              <a:t>柱状图</a:t>
            </a:r>
            <a:r>
              <a:rPr lang="en-US" altLang="zh-CN" b="0" dirty="0"/>
              <a:t>/</a:t>
            </a:r>
            <a:r>
              <a:rPr lang="zh-CN" altLang="en-US" b="0" dirty="0"/>
              <a:t>条形图进阶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上节课回顾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067CC40-4DC4-BD67-15E8-1C92863BFDD0}"/>
              </a:ext>
            </a:extLst>
          </p:cNvPr>
          <p:cNvSpPr txBox="1"/>
          <p:nvPr/>
        </p:nvSpPr>
        <p:spPr>
          <a:xfrm>
            <a:off x="669924" y="1289285"/>
            <a:ext cx="609499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❓ 柱状图四要素是什么？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❓ 如何创建条形图？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❓ 基础样式如何设置？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9A63FB9-1649-AA11-EC31-93629C62DD58}"/>
              </a:ext>
            </a:extLst>
          </p:cNvPr>
          <p:cNvSpPr txBox="1"/>
          <p:nvPr/>
        </p:nvSpPr>
        <p:spPr>
          <a:xfrm>
            <a:off x="669924" y="3152858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CN" altLang="en-US" dirty="0"/>
          </a:p>
          <a:p>
            <a:r>
              <a:rPr lang="zh-CN" altLang="en-US" dirty="0"/>
              <a:t>✅ 正确答案：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1. type, data, xField, yField</a:t>
            </a:r>
          </a:p>
          <a:p>
            <a:r>
              <a:rPr lang="zh-CN" altLang="en-US" dirty="0"/>
              <a:t>2. direction: 'horizontal'</a:t>
            </a:r>
          </a:p>
          <a:p>
            <a:r>
              <a:rPr lang="zh-CN" altLang="en-US" dirty="0"/>
              <a:t>3. bar.style 配置</a:t>
            </a: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分组柱状图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6166D3-046E-05E9-9815-31A40FA4B6D1}"/>
              </a:ext>
            </a:extLst>
          </p:cNvPr>
          <p:cNvSpPr txBox="1"/>
          <p:nvPr/>
        </p:nvSpPr>
        <p:spPr>
          <a:xfrm>
            <a:off x="669923" y="1208440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场景：同时对比产品和年份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5D3F2A-B87B-3E32-106C-1E63D94D9406}"/>
              </a:ext>
            </a:extLst>
          </p:cNvPr>
          <p:cNvSpPr txBox="1"/>
          <p:nvPr/>
        </p:nvSpPr>
        <p:spPr>
          <a:xfrm>
            <a:off x="669923" y="1742673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xField: ['year', 'product'],  // 数组形式！</a:t>
            </a:r>
          </a:p>
          <a:p>
            <a:r>
              <a:rPr lang="zh-CN" altLang="en-US" dirty="0"/>
              <a:t>  yField: 'sales',</a:t>
            </a:r>
          </a:p>
          <a:p>
            <a:r>
              <a:rPr lang="zh-CN" altLang="en-US" dirty="0"/>
              <a:t>  seriesField: 'product'        // 用颜色区分</a:t>
            </a:r>
          </a:p>
          <a:p>
            <a:r>
              <a:rPr lang="zh-CN" altLang="en-US" dirty="0"/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8D18B59-CFC8-DD16-5C55-B541B9F26F39}"/>
              </a:ext>
            </a:extLst>
          </p:cNvPr>
          <p:cNvSpPr txBox="1"/>
          <p:nvPr/>
        </p:nvSpPr>
        <p:spPr>
          <a:xfrm>
            <a:off x="5905752" y="1373341"/>
            <a:ext cx="60949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📊 视觉效果：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pic>
        <p:nvPicPr>
          <p:cNvPr id="14" name="图片 13" descr="图表, 条形图&#10;&#10;AI 生成的内容可能不正确。">
            <a:extLst>
              <a:ext uri="{FF2B5EF4-FFF2-40B4-BE49-F238E27FC236}">
                <a16:creationId xmlns:a16="http://schemas.microsoft.com/office/drawing/2014/main" id="{A6486E60-7FA9-D2AB-27C9-ABAC08D7A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120" y="1757512"/>
            <a:ext cx="4323809" cy="4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808E-BE2A-D38A-0A07-84B9F8DA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9DE32-EF03-E2AD-9A46-0FD5CB78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分组配置详解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8B4BDB-8D8B-302B-E7AF-0A56A94A6C1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DB8EA0-3437-CA47-FF92-B7226FC4EC98}"/>
              </a:ext>
            </a:extLst>
          </p:cNvPr>
          <p:cNvSpPr txBox="1"/>
          <p:nvPr/>
        </p:nvSpPr>
        <p:spPr>
          <a:xfrm>
            <a:off x="669924" y="1188675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数据格式要求：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42876FC-2AE6-20EB-CA55-67768E118C49}"/>
              </a:ext>
            </a:extLst>
          </p:cNvPr>
          <p:cNvSpPr txBox="1"/>
          <p:nvPr/>
        </p:nvSpPr>
        <p:spPr>
          <a:xfrm>
            <a:off x="669924" y="1742673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[</a:t>
            </a:r>
          </a:p>
          <a:p>
            <a:r>
              <a:rPr lang="zh-CN" altLang="en-US" dirty="0"/>
              <a:t>  { product: '手机', year: '2022', sales: 1500 },</a:t>
            </a:r>
          </a:p>
          <a:p>
            <a:r>
              <a:rPr lang="zh-CN" altLang="en-US" dirty="0"/>
              <a:t>  { product: '手机', year: '2023', sales: 1800 },</a:t>
            </a:r>
          </a:p>
          <a:p>
            <a:r>
              <a:rPr lang="zh-CN" altLang="en-US" dirty="0"/>
              <a:t>  { product: '电脑', year: '2022', sales: 1200 },</a:t>
            </a:r>
          </a:p>
          <a:p>
            <a:r>
              <a:rPr lang="zh-CN" altLang="en-US" dirty="0"/>
              <a:t>  { product: '电脑', year: '2023', sales: 2000 }</a:t>
            </a:r>
          </a:p>
          <a:p>
            <a:r>
              <a:rPr lang="zh-CN" altLang="en-US" dirty="0"/>
              <a:t>]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D6EA0FC-4600-F81A-6C6E-77E09F48A197}"/>
              </a:ext>
            </a:extLst>
          </p:cNvPr>
          <p:cNvSpPr txBox="1"/>
          <p:nvPr/>
        </p:nvSpPr>
        <p:spPr>
          <a:xfrm>
            <a:off x="669924" y="3843184"/>
            <a:ext cx="609499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🔑 关键点：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xField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用数组指定多个维度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决定颜色分组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数据需要包含所有维度字段</a:t>
            </a:r>
          </a:p>
        </p:txBody>
      </p:sp>
    </p:spTree>
    <p:extLst>
      <p:ext uri="{BB962C8B-B14F-4D97-AF65-F5344CB8AC3E}">
        <p14:creationId xmlns:p14="http://schemas.microsoft.com/office/powerpoint/2010/main" val="2522324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EEA16-C40C-8B47-568A-98621C07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BBD3ED-676C-367F-29AE-88ECA16F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堆叠柱状图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849D27-25B5-F813-9DA0-15864065E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0563" y="31067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A6709E3-02BD-F954-32B4-2C436B49F5D0}"/>
              </a:ext>
            </a:extLst>
          </p:cNvPr>
          <p:cNvSpPr txBox="1"/>
          <p:nvPr/>
        </p:nvSpPr>
        <p:spPr>
          <a:xfrm>
            <a:off x="669924" y="1246403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场景：展示销售额构成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8BC16C-1FDD-28C6-4DBB-7B8E2D81C606}"/>
              </a:ext>
            </a:extLst>
          </p:cNvPr>
          <p:cNvSpPr txBox="1"/>
          <p:nvPr/>
        </p:nvSpPr>
        <p:spPr>
          <a:xfrm>
            <a:off x="669924" y="1742673"/>
            <a:ext cx="3841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xField: 'month',</a:t>
            </a:r>
          </a:p>
          <a:p>
            <a:r>
              <a:rPr lang="zh-CN" altLang="en-US" dirty="0"/>
              <a:t>  yField: 'sales',</a:t>
            </a:r>
          </a:p>
          <a:p>
            <a:r>
              <a:rPr lang="zh-CN" altLang="en-US" dirty="0"/>
              <a:t>  seriesField: 'channel',</a:t>
            </a:r>
          </a:p>
          <a:p>
            <a:r>
              <a:rPr lang="zh-CN" altLang="en-US" dirty="0"/>
              <a:t>  stack: true  // 关键配置！</a:t>
            </a:r>
          </a:p>
          <a:p>
            <a:r>
              <a:rPr lang="zh-CN" altLang="en-US" dirty="0"/>
              <a:t>}</a:t>
            </a:r>
          </a:p>
        </p:txBody>
      </p:sp>
      <p:pic>
        <p:nvPicPr>
          <p:cNvPr id="12" name="图片 11" descr="图表, 条形图&#10;&#10;AI 生成的内容可能不正确。">
            <a:extLst>
              <a:ext uri="{FF2B5EF4-FFF2-40B4-BE49-F238E27FC236}">
                <a16:creationId xmlns:a16="http://schemas.microsoft.com/office/drawing/2014/main" id="{FF5B3506-F642-8A03-5076-10DC46664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136" y="1615735"/>
            <a:ext cx="2331417" cy="266672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9E9DB5B6-6663-8743-E4FA-2E009323852E}"/>
              </a:ext>
            </a:extLst>
          </p:cNvPr>
          <p:cNvSpPr txBox="1"/>
          <p:nvPr/>
        </p:nvSpPr>
        <p:spPr>
          <a:xfrm>
            <a:off x="5621136" y="1162321"/>
            <a:ext cx="1924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分组柱状图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139D829-EDB4-BED8-3F00-29CAA0188005}"/>
              </a:ext>
            </a:extLst>
          </p:cNvPr>
          <p:cNvSpPr txBox="1"/>
          <p:nvPr/>
        </p:nvSpPr>
        <p:spPr>
          <a:xfrm>
            <a:off x="5851524" y="4840136"/>
            <a:ext cx="609499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分组：█ █ █ █ ← 分开对比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堆叠：███    ← 看总和构成</a:t>
            </a:r>
          </a:p>
          <a:p>
            <a:r>
              <a:rPr lang="zh-CN" altLang="en-US" dirty="0"/>
              <a:t>      ↑</a:t>
            </a:r>
          </a:p>
          <a:p>
            <a:r>
              <a:rPr lang="zh-CN" altLang="en-US" dirty="0"/>
              <a:t>     线上+线下+直播</a:t>
            </a:r>
          </a:p>
        </p:txBody>
      </p:sp>
      <p:pic>
        <p:nvPicPr>
          <p:cNvPr id="18" name="图片 17" descr="图表, 条形图&#10;&#10;AI 生成的内容可能不正确。">
            <a:extLst>
              <a:ext uri="{FF2B5EF4-FFF2-40B4-BE49-F238E27FC236}">
                <a16:creationId xmlns:a16="http://schemas.microsoft.com/office/drawing/2014/main" id="{32D660D8-D02D-7B02-869C-2FE28F4A6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9019" y="1794333"/>
            <a:ext cx="2038095" cy="2309524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E1F1D7E4-2ABE-84B8-8AEE-BBABE71EE9E4}"/>
              </a:ext>
            </a:extLst>
          </p:cNvPr>
          <p:cNvSpPr txBox="1"/>
          <p:nvPr/>
        </p:nvSpPr>
        <p:spPr>
          <a:xfrm>
            <a:off x="7906785" y="1162321"/>
            <a:ext cx="5902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VS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EEE816-59D8-851F-592E-EF3AC6844564}"/>
              </a:ext>
            </a:extLst>
          </p:cNvPr>
          <p:cNvSpPr txBox="1"/>
          <p:nvPr/>
        </p:nvSpPr>
        <p:spPr>
          <a:xfrm>
            <a:off x="8899019" y="1157927"/>
            <a:ext cx="15245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堆叠柱状图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07736-06AC-2ADB-FE58-72F336A9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54F1DE-C8F3-139A-0DE9-7805E8C5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百分比堆叠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EF543F-0B62-8461-A2CF-A591007BB862}"/>
              </a:ext>
            </a:extLst>
          </p:cNvPr>
          <p:cNvSpPr txBox="1"/>
          <p:nvPr/>
        </p:nvSpPr>
        <p:spPr>
          <a:xfrm>
            <a:off x="609368" y="1278640"/>
            <a:ext cx="2769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痛点：小数值看不清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2D1372-2708-23DE-C560-CFC1CC34342D}"/>
              </a:ext>
            </a:extLst>
          </p:cNvPr>
          <p:cNvSpPr txBox="1"/>
          <p:nvPr/>
        </p:nvSpPr>
        <p:spPr>
          <a:xfrm>
            <a:off x="669924" y="1897912"/>
            <a:ext cx="362351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stack: true,</a:t>
            </a:r>
          </a:p>
          <a:p>
            <a:r>
              <a:rPr lang="zh-CN" altLang="en-US" dirty="0"/>
              <a:t>  percent: true,  // 新增配置</a:t>
            </a:r>
          </a:p>
          <a:p>
            <a:r>
              <a:rPr lang="zh-CN" altLang="en-US" dirty="0"/>
              <a:t>  seriesField: 'category'</a:t>
            </a:r>
          </a:p>
          <a:p>
            <a:r>
              <a:rPr lang="zh-CN" altLang="en-US" dirty="0"/>
              <a:t>}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6D0C82-EEA1-968F-0267-E3937A2AAFDF}"/>
              </a:ext>
            </a:extLst>
          </p:cNvPr>
          <p:cNvSpPr txBox="1"/>
          <p:nvPr/>
        </p:nvSpPr>
        <p:spPr>
          <a:xfrm>
            <a:off x="3986516" y="1170682"/>
            <a:ext cx="7440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📈 效果对比：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pic>
        <p:nvPicPr>
          <p:cNvPr id="14" name="图片 13" descr="图表, 条形图&#10;&#10;AI 生成的内容可能不正确。">
            <a:extLst>
              <a:ext uri="{FF2B5EF4-FFF2-40B4-BE49-F238E27FC236}">
                <a16:creationId xmlns:a16="http://schemas.microsoft.com/office/drawing/2014/main" id="{E4FFAC66-4A4F-A9BE-4B35-DBA5B9976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517" y="1817249"/>
            <a:ext cx="3176931" cy="3776500"/>
          </a:xfrm>
          <a:prstGeom prst="rect">
            <a:avLst/>
          </a:prstGeom>
        </p:spPr>
      </p:pic>
      <p:pic>
        <p:nvPicPr>
          <p:cNvPr id="16" name="图片 15" descr="图表, 条形图&#10;&#10;AI 生成的内容可能不正确。">
            <a:extLst>
              <a:ext uri="{FF2B5EF4-FFF2-40B4-BE49-F238E27FC236}">
                <a16:creationId xmlns:a16="http://schemas.microsoft.com/office/drawing/2014/main" id="{B5B09A8D-EC01-16BD-8377-D58BC29289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1" y="1900088"/>
            <a:ext cx="3290026" cy="361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3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0F8B-1555-109B-8083-E036CD81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67BA3-9253-30C3-41CA-2554A61E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三种布局对比表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4E96983-151C-3BDC-C154-ECBBFE339BDA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D4F4346-44FC-6F0C-E79C-99DDCD1E6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57476"/>
              </p:ext>
            </p:extLst>
          </p:nvPr>
        </p:nvGraphicFramePr>
        <p:xfrm>
          <a:off x="669924" y="1947084"/>
          <a:ext cx="10850564" cy="1968500"/>
        </p:xfrm>
        <a:graphic>
          <a:graphicData uri="http://schemas.openxmlformats.org/drawingml/2006/table">
            <a:tbl>
              <a:tblPr/>
              <a:tblGrid>
                <a:gridCol w="2475614">
                  <a:extLst>
                    <a:ext uri="{9D8B030D-6E8A-4147-A177-3AD203B41FA5}">
                      <a16:colId xmlns:a16="http://schemas.microsoft.com/office/drawing/2014/main" val="72149532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3024060053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2056725166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26104336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类型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配置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适用场景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效果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079502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基础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xField, yField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简单对比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单个柱子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66548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分组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xField: [</a:t>
                      </a:r>
                      <a:r>
                        <a:rPr lang="zh-CN" altLang="en-US" sz="1800" b="0">
                          <a:effectLst/>
                          <a:latin typeface="Menlo"/>
                        </a:rPr>
                        <a:t>维</a:t>
                      </a:r>
                      <a:r>
                        <a:rPr lang="en-US" altLang="zh-CN" sz="1800" b="0">
                          <a:effectLst/>
                          <a:latin typeface="Menlo"/>
                        </a:rPr>
                        <a:t>,</a:t>
                      </a:r>
                      <a:r>
                        <a:rPr lang="zh-CN" altLang="en-US" sz="1800" b="0">
                          <a:effectLst/>
                          <a:latin typeface="Menlo"/>
                        </a:rPr>
                        <a:t>类</a:t>
                      </a:r>
                      <a:r>
                        <a:rPr lang="en-US" altLang="zh-CN" sz="1800" b="0">
                          <a:effectLst/>
                          <a:latin typeface="Menlo"/>
                        </a:rPr>
                        <a:t>]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多维度对比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相邻柱子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589539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堆叠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stack: true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查看构成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堆叠柱子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613465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百分比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stack,percent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占比分析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 dirty="0">
                          <a:effectLst/>
                          <a:latin typeface="quote-cjk-patch"/>
                        </a:rPr>
                        <a:t>百分比堆叠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2133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43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高级样式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D75B3C-849F-BFDA-5819-F67361F2CB3D}"/>
              </a:ext>
            </a:extLst>
          </p:cNvPr>
          <p:cNvSpPr txBox="1"/>
          <p:nvPr/>
        </p:nvSpPr>
        <p:spPr>
          <a:xfrm>
            <a:off x="669924" y="1747952"/>
            <a:ext cx="60949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fill: {</a:t>
            </a:r>
          </a:p>
          <a:p>
            <a:r>
              <a:rPr lang="en-US" altLang="zh-CN" dirty="0"/>
              <a:t>  gradient: 'linear',</a:t>
            </a:r>
          </a:p>
          <a:p>
            <a:r>
              <a:rPr lang="en-US" altLang="zh-CN" dirty="0"/>
              <a:t>  stops: [</a:t>
            </a:r>
          </a:p>
          <a:p>
            <a:r>
              <a:rPr lang="en-US" altLang="zh-CN" dirty="0"/>
              <a:t>    { offset: 0, color: '#FF6B6B' },</a:t>
            </a:r>
          </a:p>
          <a:p>
            <a:r>
              <a:rPr lang="en-US" altLang="zh-CN" dirty="0"/>
              <a:t>    { offset: 1, color: '#4ECDC4' }</a:t>
            </a:r>
          </a:p>
          <a:p>
            <a:r>
              <a:rPr lang="en-US" altLang="zh-CN" dirty="0"/>
              <a:t>  ]</a:t>
            </a:r>
          </a:p>
          <a:p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06A1BC-55D8-8209-0365-8CC71EE71EB5}"/>
              </a:ext>
            </a:extLst>
          </p:cNvPr>
          <p:cNvSpPr txBox="1"/>
          <p:nvPr/>
        </p:nvSpPr>
        <p:spPr>
          <a:xfrm>
            <a:off x="669924" y="128110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1</a:t>
            </a:r>
            <a:r>
              <a:rPr lang="zh-CN" altLang="en-US" b="1" dirty="0"/>
              <a:t>：渐变效果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7605A-ADDD-919B-0ACF-A46FFDF061B7}"/>
              </a:ext>
            </a:extLst>
          </p:cNvPr>
          <p:cNvSpPr txBox="1"/>
          <p:nvPr/>
        </p:nvSpPr>
        <p:spPr>
          <a:xfrm>
            <a:off x="669924" y="4131690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2</a:t>
            </a:r>
            <a:r>
              <a:rPr lang="zh-CN" altLang="en-US" b="1" dirty="0"/>
              <a:t>：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悬停交互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9F0C49-3A93-5A18-B978-DB1AB8D62FD4}"/>
              </a:ext>
            </a:extLst>
          </p:cNvPr>
          <p:cNvSpPr txBox="1"/>
          <p:nvPr/>
        </p:nvSpPr>
        <p:spPr>
          <a:xfrm>
            <a:off x="669924" y="4568316"/>
            <a:ext cx="60949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state: {</a:t>
            </a:r>
          </a:p>
          <a:p>
            <a:r>
              <a:rPr lang="zh-CN" altLang="en-US" dirty="0"/>
              <a:t>  hover: { fill: 'rgba(255,107,107,0.8)' },</a:t>
            </a:r>
          </a:p>
          <a:p>
            <a:r>
              <a:rPr lang="zh-CN" altLang="en-US" dirty="0"/>
              <a:t>  selected: { stroke: '#000', lineWidth: 3 }</a:t>
            </a:r>
          </a:p>
          <a:p>
            <a:r>
              <a:rPr lang="zh-CN" alt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0140-3436-1DBB-A433-3271041C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CDBEF2-709C-597C-DAB2-51C9270C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实用配置集合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2529EF1-B979-666A-821A-E316871ACB9C}"/>
              </a:ext>
            </a:extLst>
          </p:cNvPr>
          <p:cNvSpPr txBox="1"/>
          <p:nvPr/>
        </p:nvSpPr>
        <p:spPr>
          <a:xfrm>
            <a:off x="669924" y="1208440"/>
            <a:ext cx="60949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提升体验的小技巧：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F51962-55C5-7DC2-9FD8-573C153E0B03}"/>
              </a:ext>
            </a:extLst>
          </p:cNvPr>
          <p:cNvSpPr txBox="1"/>
          <p:nvPr/>
        </p:nvSpPr>
        <p:spPr>
          <a:xfrm>
            <a:off x="669924" y="1776075"/>
            <a:ext cx="60949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// 1. 标签旋转（防重叠）</a:t>
            </a:r>
          </a:p>
          <a:p>
            <a:r>
              <a:rPr lang="zh-CN" altLang="en-US" dirty="0"/>
              <a:t>axes: [{ label: { rotate: 45 } }]</a:t>
            </a:r>
          </a:p>
          <a:p>
            <a:endParaRPr lang="zh-CN" altLang="en-US" dirty="0"/>
          </a:p>
          <a:p>
            <a:r>
              <a:rPr lang="zh-CN" altLang="en-US" dirty="0"/>
              <a:t>// 2. 自定义颜色</a:t>
            </a:r>
          </a:p>
          <a:p>
            <a:r>
              <a:rPr lang="zh-CN" altLang="en-US" dirty="0"/>
              <a:t>palette: ['#FF6B6B', '#4ECDC4', '#45B7D1']</a:t>
            </a:r>
          </a:p>
          <a:p>
            <a:endParaRPr lang="zh-CN" altLang="en-US" dirty="0"/>
          </a:p>
          <a:p>
            <a:r>
              <a:rPr lang="zh-CN" altLang="en-US" dirty="0"/>
              <a:t>// 3. 柱子宽度</a:t>
            </a:r>
          </a:p>
          <a:p>
            <a:r>
              <a:rPr lang="zh-CN" altLang="en-US" dirty="0"/>
              <a:t>bar: { barWidth: 40 }</a:t>
            </a:r>
          </a:p>
          <a:p>
            <a:endParaRPr lang="zh-CN" altLang="en-US" dirty="0"/>
          </a:p>
          <a:p>
            <a:r>
              <a:rPr lang="zh-CN" altLang="en-US" dirty="0"/>
              <a:t>// 4. 动画效果</a:t>
            </a:r>
          </a:p>
          <a:p>
            <a:r>
              <a:rPr lang="zh-CN" altLang="en-US" dirty="0"/>
              <a:t>animation: true</a:t>
            </a:r>
          </a:p>
        </p:txBody>
      </p:sp>
    </p:spTree>
    <p:extLst>
      <p:ext uri="{BB962C8B-B14F-4D97-AF65-F5344CB8AC3E}">
        <p14:creationId xmlns:p14="http://schemas.microsoft.com/office/powerpoint/2010/main" val="2722630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选择指南决策树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97CE40-70F5-E4D1-10DA-F74753A7577B}"/>
              </a:ext>
            </a:extLst>
          </p:cNvPr>
          <p:cNvSpPr txBox="1"/>
          <p:nvPr/>
        </p:nvSpPr>
        <p:spPr>
          <a:xfrm>
            <a:off x="669924" y="1254695"/>
            <a:ext cx="60949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开始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要对比数据？</a:t>
            </a:r>
          </a:p>
          <a:p>
            <a:r>
              <a:rPr lang="zh-CN" altLang="en-US" dirty="0"/>
              <a:t>  ├─ 是 → 基础柱状图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要对比多个维度？</a:t>
            </a:r>
          </a:p>
          <a:p>
            <a:r>
              <a:rPr lang="zh-CN" altLang="en-US" dirty="0"/>
              <a:t>  ├─ 是 → 分组柱状图</a:t>
            </a:r>
          </a:p>
          <a:p>
            <a:r>
              <a:rPr lang="zh-CN" altLang="en-US" dirty="0"/>
              <a:t>  ↓  </a:t>
            </a:r>
          </a:p>
          <a:p>
            <a:r>
              <a:rPr lang="zh-CN" altLang="en-US" dirty="0"/>
              <a:t>要看构成和总量？</a:t>
            </a:r>
          </a:p>
          <a:p>
            <a:r>
              <a:rPr lang="zh-CN" altLang="en-US" dirty="0"/>
              <a:t>  ├─ 是 → 堆叠柱状图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要看占比关系？</a:t>
            </a:r>
          </a:p>
          <a:p>
            <a:r>
              <a:rPr lang="zh-CN" altLang="en-US" dirty="0"/>
              <a:t>  ├─ 是 → 百分比堆叠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类别名称很长？</a:t>
            </a:r>
          </a:p>
          <a:p>
            <a:r>
              <a:rPr lang="zh-CN" altLang="en-US" dirty="0"/>
              <a:t>  ├─ 是 → 条形图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完成选择！</a:t>
            </a:r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课程总结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A90858-9C71-074D-F2A0-5CF58456809E}"/>
              </a:ext>
            </a:extLst>
          </p:cNvPr>
          <p:cNvSpPr txBox="1"/>
          <p:nvPr/>
        </p:nvSpPr>
        <p:spPr>
          <a:xfrm>
            <a:off x="669924" y="126565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🎓 你已掌握的技能：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623CCF7-806E-8331-7C77-886EEE9D84C8}"/>
              </a:ext>
            </a:extLst>
          </p:cNvPr>
          <p:cNvSpPr txBox="1"/>
          <p:nvPr/>
        </p:nvSpPr>
        <p:spPr>
          <a:xfrm>
            <a:off x="669924" y="1769002"/>
            <a:ext cx="46105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分组柱状图配置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堆叠与百分比堆叠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高级样式与交互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综合应用能力</a:t>
            </a:r>
          </a:p>
        </p:txBody>
      </p:sp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928</TotalTime>
  <Words>725</Words>
  <Application>Microsoft Office PowerPoint</Application>
  <PresentationFormat>宽屏</PresentationFormat>
  <Paragraphs>152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Menlo</vt:lpstr>
      <vt:lpstr>quote-cjk-patch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上节课回顾</vt:lpstr>
      <vt:lpstr>分组柱状图</vt:lpstr>
      <vt:lpstr>分组配置详解</vt:lpstr>
      <vt:lpstr>堆叠柱状图</vt:lpstr>
      <vt:lpstr>百分比堆叠</vt:lpstr>
      <vt:lpstr>三种布局对比表</vt:lpstr>
      <vt:lpstr>高级样式</vt:lpstr>
      <vt:lpstr>实用配置集合</vt:lpstr>
      <vt:lpstr>选择指南决策树</vt:lpstr>
      <vt:lpstr>课程总结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369</cp:revision>
  <dcterms:created xsi:type="dcterms:W3CDTF">2025-10-28T10:07:16Z</dcterms:created>
  <dcterms:modified xsi:type="dcterms:W3CDTF">2026-02-05T08:03:07Z</dcterms:modified>
</cp:coreProperties>
</file>