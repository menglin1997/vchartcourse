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4"/>
  </p:notesMasterIdLst>
  <p:sldIdLst>
    <p:sldId id="262" r:id="rId3"/>
    <p:sldId id="284" r:id="rId4"/>
    <p:sldId id="286" r:id="rId5"/>
    <p:sldId id="296" r:id="rId6"/>
    <p:sldId id="293" r:id="rId7"/>
    <p:sldId id="294" r:id="rId8"/>
    <p:sldId id="297" r:id="rId9"/>
    <p:sldId id="295" r:id="rId10"/>
    <p:sldId id="302" r:id="rId11"/>
    <p:sldId id="283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71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F666-2BAE-FFA5-93A5-9FF6EEFA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BC6F21-3D7D-9CA7-F795-AFA9E6734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F22DFE-0AA0-A1F9-B860-0FD41DC63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2467DF-4268-83D0-F907-02F45C732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55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b="0" dirty="0"/>
              <a:t>柱状图</a:t>
            </a:r>
            <a:r>
              <a:rPr lang="en-US" altLang="zh-CN" b="0" dirty="0"/>
              <a:t>/</a:t>
            </a:r>
            <a:r>
              <a:rPr lang="zh-CN" altLang="en-US" b="0" dirty="0"/>
              <a:t>条形图进阶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上节课回顾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67CC40-4DC4-BD67-15E8-1C92863BFDD0}"/>
              </a:ext>
            </a:extLst>
          </p:cNvPr>
          <p:cNvSpPr txBox="1"/>
          <p:nvPr/>
        </p:nvSpPr>
        <p:spPr>
          <a:xfrm>
            <a:off x="669924" y="1289285"/>
            <a:ext cx="60949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❓ 柱状图四要素是什么？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❓ 如何创建条形图？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❓ 基础样式如何设置？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A63FB9-1649-AA11-EC31-93629C62DD58}"/>
              </a:ext>
            </a:extLst>
          </p:cNvPr>
          <p:cNvSpPr txBox="1"/>
          <p:nvPr/>
        </p:nvSpPr>
        <p:spPr>
          <a:xfrm>
            <a:off x="669924" y="3152858"/>
            <a:ext cx="60949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  <a:p>
            <a:r>
              <a:rPr lang="zh-CN" altLang="en-US" dirty="0"/>
              <a:t>✅ 正确答案：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1. type, data, xField, yField</a:t>
            </a:r>
          </a:p>
          <a:p>
            <a:r>
              <a:rPr lang="zh-CN" altLang="en-US" dirty="0"/>
              <a:t>2. direction: 'horizontal'</a:t>
            </a:r>
          </a:p>
          <a:p>
            <a:r>
              <a:rPr lang="zh-CN" altLang="en-US" dirty="0"/>
              <a:t>3. bar.style 配置</a:t>
            </a:r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分组柱状图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6166D3-046E-05E9-9815-31A40FA4B6D1}"/>
              </a:ext>
            </a:extLst>
          </p:cNvPr>
          <p:cNvSpPr txBox="1"/>
          <p:nvPr/>
        </p:nvSpPr>
        <p:spPr>
          <a:xfrm>
            <a:off x="670933" y="2424429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场景：同时对比产品和年份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5D3F2A-B87B-3E32-106C-1E63D94D9406}"/>
              </a:ext>
            </a:extLst>
          </p:cNvPr>
          <p:cNvSpPr txBox="1"/>
          <p:nvPr/>
        </p:nvSpPr>
        <p:spPr>
          <a:xfrm>
            <a:off x="670933" y="2996319"/>
            <a:ext cx="60949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{</a:t>
            </a:r>
          </a:p>
          <a:p>
            <a:r>
              <a:rPr lang="zh-CN" altLang="en-US" dirty="0"/>
              <a:t>  type: 'bar',</a:t>
            </a:r>
          </a:p>
          <a:p>
            <a:r>
              <a:rPr lang="zh-CN" altLang="en-US" dirty="0"/>
              <a:t>  xField: ['year', 'product'],  // 数组形式！</a:t>
            </a:r>
          </a:p>
          <a:p>
            <a:r>
              <a:rPr lang="zh-CN" altLang="en-US" dirty="0"/>
              <a:t>  yField: 'sales',</a:t>
            </a:r>
          </a:p>
          <a:p>
            <a:r>
              <a:rPr lang="zh-CN" altLang="en-US" dirty="0"/>
              <a:t>  </a:t>
            </a:r>
            <a:r>
              <a:rPr lang="zh-CN" altLang="en-US" dirty="0">
                <a:solidFill>
                  <a:srgbClr val="FF0000"/>
                </a:solidFill>
              </a:rPr>
              <a:t>seriesField</a:t>
            </a:r>
            <a:r>
              <a:rPr lang="zh-CN" altLang="en-US" dirty="0"/>
              <a:t>: 'product'        // 用颜色区分</a:t>
            </a:r>
          </a:p>
          <a:p>
            <a:r>
              <a:rPr lang="zh-CN" altLang="en-US" dirty="0"/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D18B59-CFC8-DD16-5C55-B541B9F26F39}"/>
              </a:ext>
            </a:extLst>
          </p:cNvPr>
          <p:cNvSpPr txBox="1"/>
          <p:nvPr/>
        </p:nvSpPr>
        <p:spPr>
          <a:xfrm>
            <a:off x="7636945" y="1814246"/>
            <a:ext cx="41919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📊 视觉效果：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FE28EE-45C6-9755-7661-F507B60528E9}"/>
              </a:ext>
            </a:extLst>
          </p:cNvPr>
          <p:cNvSpPr txBox="1"/>
          <p:nvPr/>
        </p:nvSpPr>
        <p:spPr>
          <a:xfrm>
            <a:off x="669923" y="12656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不同的基础柱系列以间隔排列的方式组合在一起，每组柱系列代表一个类别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600152-76D2-F4B7-B9AD-FAB10AABD0FE}"/>
              </a:ext>
            </a:extLst>
          </p:cNvPr>
          <p:cNvSpPr txBox="1"/>
          <p:nvPr/>
        </p:nvSpPr>
        <p:spPr>
          <a:xfrm>
            <a:off x="669923" y="1983523"/>
            <a:ext cx="6269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需要指定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barChart.seriedField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字段，该字段默认映射柱子颜色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BA97B1E-7B8F-A7B2-4E57-4725D7908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204" y="2399026"/>
            <a:ext cx="53530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808E-BE2A-D38A-0A07-84B9F8DA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9DE32-EF03-E2AD-9A46-0FD5CB78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分组配置详解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8B4BDB-8D8B-302B-E7AF-0A56A94A6C1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DB8EA0-3437-CA47-FF92-B7226FC4EC98}"/>
              </a:ext>
            </a:extLst>
          </p:cNvPr>
          <p:cNvSpPr txBox="1"/>
          <p:nvPr/>
        </p:nvSpPr>
        <p:spPr>
          <a:xfrm>
            <a:off x="669924" y="1188675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数据格式要求：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2876FC-2AE6-20EB-CA55-67768E118C49}"/>
              </a:ext>
            </a:extLst>
          </p:cNvPr>
          <p:cNvSpPr txBox="1"/>
          <p:nvPr/>
        </p:nvSpPr>
        <p:spPr>
          <a:xfrm>
            <a:off x="669924" y="1742673"/>
            <a:ext cx="60949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[</a:t>
            </a:r>
          </a:p>
          <a:p>
            <a:r>
              <a:rPr lang="zh-CN" altLang="en-US" dirty="0"/>
              <a:t>  { product: '手机', year: '2022', sales: 1500 },</a:t>
            </a:r>
          </a:p>
          <a:p>
            <a:r>
              <a:rPr lang="zh-CN" altLang="en-US" dirty="0"/>
              <a:t>  { product: '手机', year: '2023', sales: 1800 },</a:t>
            </a:r>
          </a:p>
          <a:p>
            <a:r>
              <a:rPr lang="zh-CN" altLang="en-US" dirty="0"/>
              <a:t>  { product: '电脑', year: '2022', sales: 1200 },</a:t>
            </a:r>
          </a:p>
          <a:p>
            <a:r>
              <a:rPr lang="zh-CN" altLang="en-US" dirty="0"/>
              <a:t>  { product: '电脑', year: '2023', sales: 2000 }</a:t>
            </a:r>
          </a:p>
          <a:p>
            <a:r>
              <a:rPr lang="zh-CN" altLang="en-US" dirty="0"/>
              <a:t>]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6EA0FC-4600-F81A-6C6E-77E09F48A197}"/>
              </a:ext>
            </a:extLst>
          </p:cNvPr>
          <p:cNvSpPr txBox="1"/>
          <p:nvPr/>
        </p:nvSpPr>
        <p:spPr>
          <a:xfrm>
            <a:off x="669924" y="3843184"/>
            <a:ext cx="609499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🔑 关键点：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用数组指定多个维度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seriesField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决定颜色分组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数据需要包含所有维度字段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654DC1-A49E-0FE1-7309-70F5136E0EB6}"/>
              </a:ext>
            </a:extLst>
          </p:cNvPr>
          <p:cNvSpPr txBox="1"/>
          <p:nvPr/>
        </p:nvSpPr>
        <p:spPr>
          <a:xfrm>
            <a:off x="6095205" y="1396488"/>
            <a:ext cx="41919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📊 视觉效果：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B64657-33FE-1FB7-7317-6D8516C7C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05" y="2086129"/>
            <a:ext cx="53530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2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EEA16-C40C-8B47-568A-98621C07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BD3ED-676C-367F-29AE-88ECA16F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堆叠柱状图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D849D27-25B5-F813-9DA0-15864065E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3" y="3106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6709E3-02BD-F954-32B4-2C436B49F5D0}"/>
              </a:ext>
            </a:extLst>
          </p:cNvPr>
          <p:cNvSpPr txBox="1"/>
          <p:nvPr/>
        </p:nvSpPr>
        <p:spPr>
          <a:xfrm>
            <a:off x="669924" y="1246403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场景：展示销售额构成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8BC16C-1FDD-28C6-4DBB-7B8E2D81C606}"/>
              </a:ext>
            </a:extLst>
          </p:cNvPr>
          <p:cNvSpPr txBox="1"/>
          <p:nvPr/>
        </p:nvSpPr>
        <p:spPr>
          <a:xfrm>
            <a:off x="669924" y="1742673"/>
            <a:ext cx="3841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{</a:t>
            </a:r>
          </a:p>
          <a:p>
            <a:r>
              <a:rPr lang="zh-CN" altLang="en-US" dirty="0"/>
              <a:t>  type: 'bar',</a:t>
            </a:r>
          </a:p>
          <a:p>
            <a:r>
              <a:rPr lang="zh-CN" altLang="en-US" dirty="0"/>
              <a:t>  xField: '</a:t>
            </a:r>
            <a:r>
              <a:rPr lang="en-US" altLang="zh-CN" dirty="0"/>
              <a:t>year</a:t>
            </a:r>
            <a:r>
              <a:rPr lang="zh-CN" altLang="en-US" dirty="0"/>
              <a:t>',</a:t>
            </a:r>
          </a:p>
          <a:p>
            <a:r>
              <a:rPr lang="zh-CN" altLang="en-US" dirty="0"/>
              <a:t>  yField: 'sales',</a:t>
            </a:r>
          </a:p>
          <a:p>
            <a:r>
              <a:rPr lang="zh-CN" altLang="en-US" dirty="0"/>
              <a:t>  seriesField: '</a:t>
            </a:r>
            <a:r>
              <a:rPr lang="en-US" altLang="zh-CN" dirty="0"/>
              <a:t>product</a:t>
            </a:r>
            <a:r>
              <a:rPr lang="zh-CN" altLang="en-US" dirty="0"/>
              <a:t>',</a:t>
            </a:r>
          </a:p>
          <a:p>
            <a:r>
              <a:rPr lang="zh-CN" altLang="en-US" dirty="0"/>
              <a:t>  </a:t>
            </a:r>
            <a:r>
              <a:rPr lang="zh-CN" altLang="en-US" dirty="0">
                <a:solidFill>
                  <a:srgbClr val="FF0000"/>
                </a:solidFill>
              </a:rPr>
              <a:t>stack: true  // 关键配置</a:t>
            </a:r>
            <a:r>
              <a:rPr lang="zh-CN" altLang="en-US" dirty="0"/>
              <a:t>！</a:t>
            </a:r>
          </a:p>
          <a:p>
            <a:r>
              <a:rPr lang="zh-CN" altLang="en-US" dirty="0"/>
              <a:t>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9DB5B6-6663-8743-E4FA-2E009323852E}"/>
              </a:ext>
            </a:extLst>
          </p:cNvPr>
          <p:cNvSpPr txBox="1"/>
          <p:nvPr/>
        </p:nvSpPr>
        <p:spPr>
          <a:xfrm>
            <a:off x="5621136" y="1162321"/>
            <a:ext cx="1924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分组柱状图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39D829-EDB4-BED8-3F00-29CAA0188005}"/>
              </a:ext>
            </a:extLst>
          </p:cNvPr>
          <p:cNvSpPr txBox="1"/>
          <p:nvPr/>
        </p:nvSpPr>
        <p:spPr>
          <a:xfrm>
            <a:off x="5851524" y="4840136"/>
            <a:ext cx="60949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分组：█ █ █ █ ← 分开对比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堆叠：███    ← 看总和构成</a:t>
            </a:r>
          </a:p>
          <a:p>
            <a:r>
              <a:rPr lang="zh-CN" altLang="en-US" dirty="0"/>
              <a:t>      ↑</a:t>
            </a:r>
          </a:p>
          <a:p>
            <a:r>
              <a:rPr lang="zh-CN" altLang="en-US" dirty="0"/>
              <a:t>     线上+线下+直播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F1D7E4-2ABE-84B8-8AEE-BBABE71EE9E4}"/>
              </a:ext>
            </a:extLst>
          </p:cNvPr>
          <p:cNvSpPr txBox="1"/>
          <p:nvPr/>
        </p:nvSpPr>
        <p:spPr>
          <a:xfrm>
            <a:off x="7906785" y="1162321"/>
            <a:ext cx="590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VS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EEE816-59D8-851F-592E-EF3AC6844564}"/>
              </a:ext>
            </a:extLst>
          </p:cNvPr>
          <p:cNvSpPr txBox="1"/>
          <p:nvPr/>
        </p:nvSpPr>
        <p:spPr>
          <a:xfrm>
            <a:off x="8899019" y="1157927"/>
            <a:ext cx="1524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堆叠柱状图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B88DEC-8AC2-27A3-138C-08537C10D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399" y="1665274"/>
            <a:ext cx="3657675" cy="24861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0B8E5FD-B8B9-E4BA-B527-E5C8D5486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074" y="1818544"/>
            <a:ext cx="3135324" cy="217963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5782C03-CEA4-6C19-2142-C4D5E585CF50}"/>
              </a:ext>
            </a:extLst>
          </p:cNvPr>
          <p:cNvSpPr txBox="1"/>
          <p:nvPr/>
        </p:nvSpPr>
        <p:spPr>
          <a:xfrm>
            <a:off x="622691" y="4350643"/>
            <a:ext cx="3888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缺点：当类别过多且数值过小时，同一维度下的柱形高度差异难以辨认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7736-06AC-2ADB-FE58-72F336A9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4F1DE-C8F3-139A-0DE9-7805E8C5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百分比堆叠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EF543F-0B62-8461-A2CF-A591007BB862}"/>
              </a:ext>
            </a:extLst>
          </p:cNvPr>
          <p:cNvSpPr txBox="1"/>
          <p:nvPr/>
        </p:nvSpPr>
        <p:spPr>
          <a:xfrm>
            <a:off x="609368" y="1278640"/>
            <a:ext cx="2769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痛点：小数值看不清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2D1372-2708-23DE-C560-CFC1CC34342D}"/>
              </a:ext>
            </a:extLst>
          </p:cNvPr>
          <p:cNvSpPr txBox="1"/>
          <p:nvPr/>
        </p:nvSpPr>
        <p:spPr>
          <a:xfrm>
            <a:off x="669924" y="1897912"/>
            <a:ext cx="36235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{</a:t>
            </a:r>
          </a:p>
          <a:p>
            <a:r>
              <a:rPr lang="zh-CN" altLang="en-US" dirty="0"/>
              <a:t>  type: 'bar',</a:t>
            </a:r>
          </a:p>
          <a:p>
            <a:r>
              <a:rPr lang="zh-CN" altLang="en-US" dirty="0"/>
              <a:t>  stack: true,</a:t>
            </a:r>
          </a:p>
          <a:p>
            <a:r>
              <a:rPr lang="zh-CN" altLang="en-US" dirty="0"/>
              <a:t>  percent: true,  // 新增配置</a:t>
            </a:r>
          </a:p>
          <a:p>
            <a:r>
              <a:rPr lang="zh-CN" altLang="en-US" dirty="0"/>
              <a:t>  seriesField: 'category'</a:t>
            </a:r>
          </a:p>
          <a:p>
            <a:r>
              <a:rPr lang="zh-CN" altLang="en-US" dirty="0"/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6D0C82-EEA1-968F-0267-E3937A2AAFDF}"/>
              </a:ext>
            </a:extLst>
          </p:cNvPr>
          <p:cNvSpPr txBox="1"/>
          <p:nvPr/>
        </p:nvSpPr>
        <p:spPr>
          <a:xfrm>
            <a:off x="3986516" y="1170682"/>
            <a:ext cx="74404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📈 效果对比：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46A4FB-C527-82CC-905F-94FF81BE3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692" y="2492939"/>
            <a:ext cx="3945869" cy="28184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730AEB-4962-286A-A08B-C27B2A871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777" y="2812359"/>
            <a:ext cx="3135324" cy="217963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5FDF5AF-6C32-A2B0-F09A-C08F631F9CB7}"/>
              </a:ext>
            </a:extLst>
          </p:cNvPr>
          <p:cNvSpPr txBox="1"/>
          <p:nvPr/>
        </p:nvSpPr>
        <p:spPr>
          <a:xfrm>
            <a:off x="5317767" y="1812797"/>
            <a:ext cx="1924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百分比柱状图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D163DA-DF70-B317-F68C-1EB396D6EBD1}"/>
              </a:ext>
            </a:extLst>
          </p:cNvPr>
          <p:cNvSpPr txBox="1"/>
          <p:nvPr/>
        </p:nvSpPr>
        <p:spPr>
          <a:xfrm>
            <a:off x="7603416" y="1812797"/>
            <a:ext cx="590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VS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7964D-DC3B-E6B1-8408-3360FCB21B6B}"/>
              </a:ext>
            </a:extLst>
          </p:cNvPr>
          <p:cNvSpPr txBox="1"/>
          <p:nvPr/>
        </p:nvSpPr>
        <p:spPr>
          <a:xfrm>
            <a:off x="8595650" y="1808403"/>
            <a:ext cx="1524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堆叠柱状图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593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0F8B-1555-109B-8083-E036CD81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67BA3-9253-30C3-41CA-2554A61E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三种布局对比表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4E96983-151C-3BDC-C154-ECBBFE339BDA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D4F4346-44FC-6F0C-E79C-99DDCD1E6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57476"/>
              </p:ext>
            </p:extLst>
          </p:nvPr>
        </p:nvGraphicFramePr>
        <p:xfrm>
          <a:off x="669924" y="1947084"/>
          <a:ext cx="10850564" cy="1968500"/>
        </p:xfrm>
        <a:graphic>
          <a:graphicData uri="http://schemas.openxmlformats.org/drawingml/2006/table">
            <a:tbl>
              <a:tblPr/>
              <a:tblGrid>
                <a:gridCol w="2475614">
                  <a:extLst>
                    <a:ext uri="{9D8B030D-6E8A-4147-A177-3AD203B41FA5}">
                      <a16:colId xmlns:a16="http://schemas.microsoft.com/office/drawing/2014/main" val="72149532"/>
                    </a:ext>
                  </a:extLst>
                </a:gridCol>
                <a:gridCol w="2791650">
                  <a:extLst>
                    <a:ext uri="{9D8B030D-6E8A-4147-A177-3AD203B41FA5}">
                      <a16:colId xmlns:a16="http://schemas.microsoft.com/office/drawing/2014/main" val="3024060053"/>
                    </a:ext>
                  </a:extLst>
                </a:gridCol>
                <a:gridCol w="2791650">
                  <a:extLst>
                    <a:ext uri="{9D8B030D-6E8A-4147-A177-3AD203B41FA5}">
                      <a16:colId xmlns:a16="http://schemas.microsoft.com/office/drawing/2014/main" val="2056725166"/>
                    </a:ext>
                  </a:extLst>
                </a:gridCol>
                <a:gridCol w="2791650">
                  <a:extLst>
                    <a:ext uri="{9D8B030D-6E8A-4147-A177-3AD203B41FA5}">
                      <a16:colId xmlns:a16="http://schemas.microsoft.com/office/drawing/2014/main" val="26104336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类型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配置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适用场景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效果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0795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1">
                          <a:effectLst/>
                          <a:latin typeface="quote-cjk-patch"/>
                        </a:rPr>
                        <a:t>基础</a:t>
                      </a:r>
                      <a:endParaRPr lang="zh-CN" altLang="en-US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xField, yField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简单对比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单个柱子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6654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1">
                          <a:effectLst/>
                          <a:latin typeface="quote-cjk-patch"/>
                        </a:rPr>
                        <a:t>分组</a:t>
                      </a:r>
                      <a:endParaRPr lang="zh-CN" altLang="en-US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xField: [</a:t>
                      </a:r>
                      <a:r>
                        <a:rPr lang="zh-CN" altLang="en-US" sz="1800" b="0">
                          <a:effectLst/>
                          <a:latin typeface="Menlo"/>
                        </a:rPr>
                        <a:t>维</a:t>
                      </a:r>
                      <a:r>
                        <a:rPr lang="en-US" altLang="zh-CN" sz="1800" b="0">
                          <a:effectLst/>
                          <a:latin typeface="Menlo"/>
                        </a:rPr>
                        <a:t>,</a:t>
                      </a:r>
                      <a:r>
                        <a:rPr lang="zh-CN" altLang="en-US" sz="1800" b="0">
                          <a:effectLst/>
                          <a:latin typeface="Menlo"/>
                        </a:rPr>
                        <a:t>类</a:t>
                      </a:r>
                      <a:r>
                        <a:rPr lang="en-US" altLang="zh-CN" sz="1800" b="0">
                          <a:effectLst/>
                          <a:latin typeface="Menlo"/>
                        </a:rPr>
                        <a:t>]</a:t>
                      </a:r>
                      <a:endParaRPr lang="zh-CN" alt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多维度对比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相邻柱子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589539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1">
                          <a:effectLst/>
                          <a:latin typeface="quote-cjk-patch"/>
                        </a:rPr>
                        <a:t>堆叠</a:t>
                      </a:r>
                      <a:endParaRPr lang="zh-CN" altLang="en-US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Menlo"/>
                        </a:rPr>
                        <a:t>stack: true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查看构成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堆叠柱子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61346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1">
                          <a:effectLst/>
                          <a:latin typeface="quote-cjk-patch"/>
                        </a:rPr>
                        <a:t>百分比</a:t>
                      </a:r>
                      <a:endParaRPr lang="zh-CN" altLang="en-US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800" b="0" dirty="0" err="1">
                          <a:effectLst/>
                          <a:latin typeface="Menlo"/>
                        </a:rPr>
                        <a:t>stack,percent</a:t>
                      </a:r>
                      <a:endParaRPr lang="en-US" sz="18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  <a:latin typeface="quote-cjk-patch"/>
                        </a:rPr>
                        <a:t>占比分析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  <a:latin typeface="quote-cjk-patch"/>
                        </a:rPr>
                        <a:t>百分比堆叠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3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43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C336-D3F7-4DF1-7E18-CC829D56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34340-8F55-7A2F-1DC1-9B2A277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高级样式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D75B3C-849F-BFDA-5819-F67361F2CB3D}"/>
              </a:ext>
            </a:extLst>
          </p:cNvPr>
          <p:cNvSpPr txBox="1"/>
          <p:nvPr/>
        </p:nvSpPr>
        <p:spPr>
          <a:xfrm>
            <a:off x="669924" y="1747952"/>
            <a:ext cx="60949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fill: {</a:t>
            </a:r>
          </a:p>
          <a:p>
            <a:r>
              <a:rPr lang="en-US" altLang="zh-CN" dirty="0"/>
              <a:t>  gradient: 'linear',</a:t>
            </a:r>
          </a:p>
          <a:p>
            <a:r>
              <a:rPr lang="en-US" altLang="zh-CN" dirty="0"/>
              <a:t>  stops: [</a:t>
            </a:r>
          </a:p>
          <a:p>
            <a:r>
              <a:rPr lang="en-US" altLang="zh-CN" dirty="0"/>
              <a:t>    { offset: 0, color: '#FF6B6B' },</a:t>
            </a:r>
          </a:p>
          <a:p>
            <a:r>
              <a:rPr lang="en-US" altLang="zh-CN" dirty="0"/>
              <a:t>    { offset: 1, color: '#4ECDC4' }</a:t>
            </a:r>
          </a:p>
          <a:p>
            <a:r>
              <a:rPr lang="en-US" altLang="zh-CN" dirty="0"/>
              <a:t>  ]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06A1BC-55D8-8209-0365-8CC71EE71EB5}"/>
              </a:ext>
            </a:extLst>
          </p:cNvPr>
          <p:cNvSpPr txBox="1"/>
          <p:nvPr/>
        </p:nvSpPr>
        <p:spPr>
          <a:xfrm>
            <a:off x="669924" y="1281108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：渐变效果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C7605A-ADDD-919B-0ACF-A46FFDF061B7}"/>
              </a:ext>
            </a:extLst>
          </p:cNvPr>
          <p:cNvSpPr txBox="1"/>
          <p:nvPr/>
        </p:nvSpPr>
        <p:spPr>
          <a:xfrm>
            <a:off x="669924" y="4131690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：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悬停交互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9F0C49-3A93-5A18-B978-DB1AB8D62FD4}"/>
              </a:ext>
            </a:extLst>
          </p:cNvPr>
          <p:cNvSpPr txBox="1"/>
          <p:nvPr/>
        </p:nvSpPr>
        <p:spPr>
          <a:xfrm>
            <a:off x="669924" y="4568316"/>
            <a:ext cx="6094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state: {</a:t>
            </a:r>
          </a:p>
          <a:p>
            <a:r>
              <a:rPr lang="zh-CN" altLang="en-US" dirty="0"/>
              <a:t>  hover: { fill: 'rgba(255,107,107,0.8)' },</a:t>
            </a:r>
          </a:p>
          <a:p>
            <a:r>
              <a:rPr lang="zh-CN" altLang="en-US" dirty="0"/>
              <a:t>  selected: { stroke: '#000', lineWidth: 3 }</a:t>
            </a:r>
          </a:p>
          <a:p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987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420A-B3C7-9E37-34B6-B6C92B3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19F7F-78D2-0F7F-ACC5-5A5C9D35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A90858-9C71-074D-F2A0-5CF58456809E}"/>
              </a:ext>
            </a:extLst>
          </p:cNvPr>
          <p:cNvSpPr txBox="1"/>
          <p:nvPr/>
        </p:nvSpPr>
        <p:spPr>
          <a:xfrm>
            <a:off x="669924" y="1265658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🎓 你已掌握的技能：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23CCF7-806E-8331-7C77-886EEE9D84C8}"/>
              </a:ext>
            </a:extLst>
          </p:cNvPr>
          <p:cNvSpPr txBox="1"/>
          <p:nvPr/>
        </p:nvSpPr>
        <p:spPr>
          <a:xfrm>
            <a:off x="669924" y="1769002"/>
            <a:ext cx="46105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分组柱状图配置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堆叠与百分比堆叠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高级样式与交互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综合应用能力</a:t>
            </a:r>
          </a:p>
        </p:txBody>
      </p:sp>
    </p:spTree>
    <p:extLst>
      <p:ext uri="{BB962C8B-B14F-4D97-AF65-F5344CB8AC3E}">
        <p14:creationId xmlns:p14="http://schemas.microsoft.com/office/powerpoint/2010/main" val="4169164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638</Words>
  <Application>Microsoft Office PowerPoint</Application>
  <PresentationFormat>宽屏</PresentationFormat>
  <Paragraphs>128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Menlo</vt:lpstr>
      <vt:lpstr>Nunito for Arco</vt:lpstr>
      <vt:lpstr>quote-cjk-patch</vt:lpstr>
      <vt:lpstr>ui-monospace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上节课回顾</vt:lpstr>
      <vt:lpstr>分组柱状图</vt:lpstr>
      <vt:lpstr>分组配置详解</vt:lpstr>
      <vt:lpstr>堆叠柱状图</vt:lpstr>
      <vt:lpstr>百分比堆叠</vt:lpstr>
      <vt:lpstr>三种布局对比表</vt:lpstr>
      <vt:lpstr>高级样式</vt:lpstr>
      <vt:lpstr>课程总结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390</cp:revision>
  <dcterms:created xsi:type="dcterms:W3CDTF">2025-10-28T10:07:16Z</dcterms:created>
  <dcterms:modified xsi:type="dcterms:W3CDTF">2026-03-07T14:15:06Z</dcterms:modified>
</cp:coreProperties>
</file>