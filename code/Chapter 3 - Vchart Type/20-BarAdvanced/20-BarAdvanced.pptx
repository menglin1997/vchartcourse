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5"/>
  </p:notesMasterIdLst>
  <p:sldIdLst>
    <p:sldId id="262" r:id="rId3"/>
    <p:sldId id="284" r:id="rId4"/>
    <p:sldId id="286" r:id="rId5"/>
    <p:sldId id="296" r:id="rId6"/>
    <p:sldId id="293" r:id="rId7"/>
    <p:sldId id="294" r:id="rId8"/>
    <p:sldId id="297" r:id="rId9"/>
    <p:sldId id="295" r:id="rId10"/>
    <p:sldId id="300" r:id="rId11"/>
    <p:sldId id="302" r:id="rId12"/>
    <p:sldId id="283" r:id="rId13"/>
    <p:sldId id="265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4718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0F666-2BAE-FFA5-93A5-9FF6EEFAB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BC6F21-3D7D-9CA7-F795-AFA9E6734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F22DFE-0AA0-A1F9-B860-0FD41DC635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2467DF-4268-83D0-F907-02F45C732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1CF908-1C26-48E2-87DA-1AF51B1E776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1552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2026/2/6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2184" y="46730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162334" y="303226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20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zh-CN" altLang="en-US" b="0" dirty="0"/>
              <a:t>柱状图</a:t>
            </a:r>
            <a:r>
              <a:rPr lang="en-US" altLang="zh-CN" b="0" dirty="0"/>
              <a:t>/</a:t>
            </a:r>
            <a:r>
              <a:rPr lang="zh-CN" altLang="en-US" b="0" dirty="0"/>
              <a:t>条形图进阶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上节课回顾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067CC40-4DC4-BD67-15E8-1C92863BFDD0}"/>
              </a:ext>
            </a:extLst>
          </p:cNvPr>
          <p:cNvSpPr txBox="1"/>
          <p:nvPr/>
        </p:nvSpPr>
        <p:spPr>
          <a:xfrm>
            <a:off x="669924" y="1289285"/>
            <a:ext cx="609499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❓ 柱状图四要素是什么？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❓ 如何创建条形图？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❓ 基础样式如何设置？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9A63FB9-1649-AA11-EC31-93629C62DD58}"/>
              </a:ext>
            </a:extLst>
          </p:cNvPr>
          <p:cNvSpPr txBox="1"/>
          <p:nvPr/>
        </p:nvSpPr>
        <p:spPr>
          <a:xfrm>
            <a:off x="669924" y="3152858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zh-CN" altLang="en-US" dirty="0"/>
          </a:p>
          <a:p>
            <a:r>
              <a:rPr lang="zh-CN" altLang="en-US" dirty="0"/>
              <a:t>✅ 正确答案：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1. type, data, xField, yField</a:t>
            </a:r>
          </a:p>
          <a:p>
            <a:r>
              <a:rPr lang="zh-CN" altLang="en-US" dirty="0"/>
              <a:t>2. direction: 'horizontal'</a:t>
            </a:r>
          </a:p>
          <a:p>
            <a:r>
              <a:rPr lang="zh-CN" altLang="en-US" dirty="0"/>
              <a:t>3. bar.style 配置</a:t>
            </a:r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分组柱状图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3" y="1373341"/>
            <a:ext cx="10926331" cy="462844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6166D3-046E-05E9-9815-31A40FA4B6D1}"/>
              </a:ext>
            </a:extLst>
          </p:cNvPr>
          <p:cNvSpPr txBox="1"/>
          <p:nvPr/>
        </p:nvSpPr>
        <p:spPr>
          <a:xfrm>
            <a:off x="669923" y="120844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场景：同时对比产品和年份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5D3F2A-B87B-3E32-106C-1E63D94D9406}"/>
              </a:ext>
            </a:extLst>
          </p:cNvPr>
          <p:cNvSpPr txBox="1"/>
          <p:nvPr/>
        </p:nvSpPr>
        <p:spPr>
          <a:xfrm>
            <a:off x="669923" y="1742673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xField: ['year', 'product'],  // 数组形式！</a:t>
            </a:r>
          </a:p>
          <a:p>
            <a:r>
              <a:rPr lang="zh-CN" altLang="en-US" dirty="0"/>
              <a:t>  yField: 'sales',</a:t>
            </a:r>
          </a:p>
          <a:p>
            <a:r>
              <a:rPr lang="zh-CN" altLang="en-US" dirty="0"/>
              <a:t>  seriesField: 'product'        // 用颜色区分</a:t>
            </a:r>
          </a:p>
          <a:p>
            <a:r>
              <a:rPr lang="zh-CN" altLang="en-US" dirty="0"/>
              <a:t>}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8D18B59-CFC8-DD16-5C55-B541B9F26F39}"/>
              </a:ext>
            </a:extLst>
          </p:cNvPr>
          <p:cNvSpPr txBox="1"/>
          <p:nvPr/>
        </p:nvSpPr>
        <p:spPr>
          <a:xfrm>
            <a:off x="5905752" y="1373341"/>
            <a:ext cx="609499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📊 视觉效果：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pic>
        <p:nvPicPr>
          <p:cNvPr id="14" name="图片 13" descr="图表, 条形图&#10;&#10;AI 生成的内容可能不正确。">
            <a:extLst>
              <a:ext uri="{FF2B5EF4-FFF2-40B4-BE49-F238E27FC236}">
                <a16:creationId xmlns:a16="http://schemas.microsoft.com/office/drawing/2014/main" id="{A6486E60-7FA9-D2AB-27C9-ABAC08D7A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5120" y="1757512"/>
            <a:ext cx="4323809" cy="4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808E-BE2A-D38A-0A07-84B9F8DAA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29DE32-EF03-E2AD-9A46-0FD5CB786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分组配置详解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8B4BDB-8D8B-302B-E7AF-0A56A94A6C15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DB8EA0-3437-CA47-FF92-B7226FC4EC98}"/>
              </a:ext>
            </a:extLst>
          </p:cNvPr>
          <p:cNvSpPr txBox="1"/>
          <p:nvPr/>
        </p:nvSpPr>
        <p:spPr>
          <a:xfrm>
            <a:off x="669924" y="1188675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数据格式要求：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2876FC-2AE6-20EB-CA55-67768E118C49}"/>
              </a:ext>
            </a:extLst>
          </p:cNvPr>
          <p:cNvSpPr txBox="1"/>
          <p:nvPr/>
        </p:nvSpPr>
        <p:spPr>
          <a:xfrm>
            <a:off x="669924" y="1742673"/>
            <a:ext cx="60949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[</a:t>
            </a:r>
          </a:p>
          <a:p>
            <a:r>
              <a:rPr lang="zh-CN" altLang="en-US" dirty="0"/>
              <a:t>  { product: '手机', year: '2022', sales: 1500 },</a:t>
            </a:r>
          </a:p>
          <a:p>
            <a:r>
              <a:rPr lang="zh-CN" altLang="en-US" dirty="0"/>
              <a:t>  { product: '手机', year: '2023', sales: 1800 },</a:t>
            </a:r>
          </a:p>
          <a:p>
            <a:r>
              <a:rPr lang="zh-CN" altLang="en-US" dirty="0"/>
              <a:t>  { product: '电脑', year: '2022', sales: 1200 },</a:t>
            </a:r>
          </a:p>
          <a:p>
            <a:r>
              <a:rPr lang="zh-CN" altLang="en-US" dirty="0"/>
              <a:t>  { product: '电脑', year: '2023', sales: 2000 }</a:t>
            </a:r>
          </a:p>
          <a:p>
            <a:r>
              <a:rPr lang="zh-CN" altLang="en-US" dirty="0"/>
              <a:t>]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D6EA0FC-4600-F81A-6C6E-77E09F48A197}"/>
              </a:ext>
            </a:extLst>
          </p:cNvPr>
          <p:cNvSpPr txBox="1"/>
          <p:nvPr/>
        </p:nvSpPr>
        <p:spPr>
          <a:xfrm>
            <a:off x="669924" y="3843184"/>
            <a:ext cx="609499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🔑 关键点：</a:t>
            </a:r>
            <a:endParaRPr lang="zh-CN" alt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65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xField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用数组指定多个维度</a:t>
            </a:r>
          </a:p>
          <a:p>
            <a:pPr algn="l">
              <a:lnSpc>
                <a:spcPts val="1650"/>
              </a:lnSpc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 err="1">
                <a:solidFill>
                  <a:srgbClr val="0F1115"/>
                </a:solidFill>
                <a:effectLst/>
                <a:latin typeface="Menlo"/>
              </a:rPr>
              <a:t>seriesField</a:t>
            </a: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 决定颜色分组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  <a:t>数据需要包含所有维度字段</a:t>
            </a:r>
          </a:p>
        </p:txBody>
      </p:sp>
    </p:spTree>
    <p:extLst>
      <p:ext uri="{BB962C8B-B14F-4D97-AF65-F5344CB8AC3E}">
        <p14:creationId xmlns:p14="http://schemas.microsoft.com/office/powerpoint/2010/main" val="252232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EEA16-C40C-8B47-568A-98621C078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BBD3ED-676C-367F-29AE-88ECA16F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堆叠柱状图</a:t>
            </a: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7D849D27-25B5-F813-9DA0-15864065E3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0563" y="31067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A6709E3-02BD-F954-32B4-2C436B49F5D0}"/>
              </a:ext>
            </a:extLst>
          </p:cNvPr>
          <p:cNvSpPr txBox="1"/>
          <p:nvPr/>
        </p:nvSpPr>
        <p:spPr>
          <a:xfrm>
            <a:off x="669924" y="1246403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场景：展示销售额构成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8BC16C-1FDD-28C6-4DBB-7B8E2D81C606}"/>
              </a:ext>
            </a:extLst>
          </p:cNvPr>
          <p:cNvSpPr txBox="1"/>
          <p:nvPr/>
        </p:nvSpPr>
        <p:spPr>
          <a:xfrm>
            <a:off x="669924" y="1742673"/>
            <a:ext cx="38415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xField: 'month',</a:t>
            </a:r>
          </a:p>
          <a:p>
            <a:r>
              <a:rPr lang="zh-CN" altLang="en-US" dirty="0"/>
              <a:t>  yField: 'sales',</a:t>
            </a:r>
          </a:p>
          <a:p>
            <a:r>
              <a:rPr lang="zh-CN" altLang="en-US" dirty="0"/>
              <a:t>  seriesField: 'channel',</a:t>
            </a:r>
          </a:p>
          <a:p>
            <a:r>
              <a:rPr lang="zh-CN" altLang="en-US" dirty="0"/>
              <a:t>  stack: true  // 关键配置！</a:t>
            </a:r>
          </a:p>
          <a:p>
            <a:r>
              <a:rPr lang="zh-CN" altLang="en-US" dirty="0"/>
              <a:t>}</a:t>
            </a:r>
          </a:p>
        </p:txBody>
      </p:sp>
      <p:pic>
        <p:nvPicPr>
          <p:cNvPr id="12" name="图片 11" descr="图表, 条形图&#10;&#10;AI 生成的内容可能不正确。">
            <a:extLst>
              <a:ext uri="{FF2B5EF4-FFF2-40B4-BE49-F238E27FC236}">
                <a16:creationId xmlns:a16="http://schemas.microsoft.com/office/drawing/2014/main" id="{FF5B3506-F642-8A03-5076-10DC46664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136" y="1615735"/>
            <a:ext cx="2331417" cy="2666722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9E9DB5B6-6663-8743-E4FA-2E009323852E}"/>
              </a:ext>
            </a:extLst>
          </p:cNvPr>
          <p:cNvSpPr txBox="1"/>
          <p:nvPr/>
        </p:nvSpPr>
        <p:spPr>
          <a:xfrm>
            <a:off x="5621136" y="1162321"/>
            <a:ext cx="19241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分组柱状图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139D829-EDB4-BED8-3F00-29CAA0188005}"/>
              </a:ext>
            </a:extLst>
          </p:cNvPr>
          <p:cNvSpPr txBox="1"/>
          <p:nvPr/>
        </p:nvSpPr>
        <p:spPr>
          <a:xfrm>
            <a:off x="5851524" y="4840136"/>
            <a:ext cx="609499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分组：█ █ █ █ ← 分开对比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堆叠：███    ← 看总和构成</a:t>
            </a:r>
          </a:p>
          <a:p>
            <a:r>
              <a:rPr lang="zh-CN" altLang="en-US" dirty="0"/>
              <a:t>      ↑</a:t>
            </a:r>
          </a:p>
          <a:p>
            <a:r>
              <a:rPr lang="zh-CN" altLang="en-US" dirty="0"/>
              <a:t>     线上+线下+直播</a:t>
            </a:r>
          </a:p>
        </p:txBody>
      </p:sp>
      <p:pic>
        <p:nvPicPr>
          <p:cNvPr id="18" name="图片 17" descr="图表, 条形图&#10;&#10;AI 生成的内容可能不正确。">
            <a:extLst>
              <a:ext uri="{FF2B5EF4-FFF2-40B4-BE49-F238E27FC236}">
                <a16:creationId xmlns:a16="http://schemas.microsoft.com/office/drawing/2014/main" id="{32D660D8-D02D-7B02-869C-2FE28F4A6C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9019" y="1794333"/>
            <a:ext cx="2038095" cy="2309524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E1F1D7E4-2ABE-84B8-8AEE-BBABE71EE9E4}"/>
              </a:ext>
            </a:extLst>
          </p:cNvPr>
          <p:cNvSpPr txBox="1"/>
          <p:nvPr/>
        </p:nvSpPr>
        <p:spPr>
          <a:xfrm>
            <a:off x="7906785" y="1162321"/>
            <a:ext cx="5902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VS</a:t>
            </a:r>
            <a:endParaRPr lang="zh-CN" altLang="en-US" dirty="0">
              <a:solidFill>
                <a:srgbClr val="FF0000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EEE816-59D8-851F-592E-EF3AC6844564}"/>
              </a:ext>
            </a:extLst>
          </p:cNvPr>
          <p:cNvSpPr txBox="1"/>
          <p:nvPr/>
        </p:nvSpPr>
        <p:spPr>
          <a:xfrm>
            <a:off x="8899019" y="1157927"/>
            <a:ext cx="15245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堆叠柱状图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414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07736-06AC-2ADB-FE58-72F336A99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54F1DE-C8F3-139A-0DE9-7805E8C5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百分比堆叠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EF543F-0B62-8461-A2CF-A591007BB862}"/>
              </a:ext>
            </a:extLst>
          </p:cNvPr>
          <p:cNvSpPr txBox="1"/>
          <p:nvPr/>
        </p:nvSpPr>
        <p:spPr>
          <a:xfrm>
            <a:off x="609368" y="1278640"/>
            <a:ext cx="27696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痛点：小数值看不清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2D1372-2708-23DE-C560-CFC1CC34342D}"/>
              </a:ext>
            </a:extLst>
          </p:cNvPr>
          <p:cNvSpPr txBox="1"/>
          <p:nvPr/>
        </p:nvSpPr>
        <p:spPr>
          <a:xfrm>
            <a:off x="669924" y="1897912"/>
            <a:ext cx="362351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{</a:t>
            </a:r>
          </a:p>
          <a:p>
            <a:r>
              <a:rPr lang="zh-CN" altLang="en-US" dirty="0"/>
              <a:t>  type: 'bar',</a:t>
            </a:r>
          </a:p>
          <a:p>
            <a:r>
              <a:rPr lang="zh-CN" altLang="en-US" dirty="0"/>
              <a:t>  stack: true,</a:t>
            </a:r>
          </a:p>
          <a:p>
            <a:r>
              <a:rPr lang="zh-CN" altLang="en-US" dirty="0"/>
              <a:t>  percent: true,  // 新增配置</a:t>
            </a:r>
          </a:p>
          <a:p>
            <a:r>
              <a:rPr lang="zh-CN" altLang="en-US" dirty="0"/>
              <a:t>  seriesField: 'category'</a:t>
            </a:r>
          </a:p>
          <a:p>
            <a:r>
              <a:rPr lang="zh-CN" altLang="en-US" dirty="0"/>
              <a:t>}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6D0C82-EEA1-968F-0267-E3937A2AAFDF}"/>
              </a:ext>
            </a:extLst>
          </p:cNvPr>
          <p:cNvSpPr txBox="1"/>
          <p:nvPr/>
        </p:nvSpPr>
        <p:spPr>
          <a:xfrm>
            <a:off x="3986516" y="1170682"/>
            <a:ext cx="74404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📈 效果对比：</a:t>
            </a:r>
            <a:br>
              <a:rPr lang="zh-CN" alt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zh-CN" altLang="en-US" dirty="0"/>
          </a:p>
        </p:txBody>
      </p:sp>
      <p:pic>
        <p:nvPicPr>
          <p:cNvPr id="14" name="图片 13" descr="图表, 条形图&#10;&#10;AI 生成的内容可能不正确。">
            <a:extLst>
              <a:ext uri="{FF2B5EF4-FFF2-40B4-BE49-F238E27FC236}">
                <a16:creationId xmlns:a16="http://schemas.microsoft.com/office/drawing/2014/main" id="{E4FFAC66-4A4F-A9BE-4B35-DBA5B9976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517" y="1817249"/>
            <a:ext cx="3176931" cy="3776500"/>
          </a:xfrm>
          <a:prstGeom prst="rect">
            <a:avLst/>
          </a:prstGeom>
        </p:spPr>
      </p:pic>
      <p:pic>
        <p:nvPicPr>
          <p:cNvPr id="16" name="图片 15" descr="图表, 条形图&#10;&#10;AI 生成的内容可能不正确。">
            <a:extLst>
              <a:ext uri="{FF2B5EF4-FFF2-40B4-BE49-F238E27FC236}">
                <a16:creationId xmlns:a16="http://schemas.microsoft.com/office/drawing/2014/main" id="{B5B09A8D-EC01-16BD-8377-D58BC29289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1" y="1900088"/>
            <a:ext cx="3290026" cy="361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3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00F8B-1555-109B-8083-E036CD81F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067BA3-9253-30C3-41CA-2554A61E0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三种布局对比表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4E96983-151C-3BDC-C154-ECBBFE339BDA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D4F4346-44FC-6F0C-E79C-99DDCD1E6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57476"/>
              </p:ext>
            </p:extLst>
          </p:nvPr>
        </p:nvGraphicFramePr>
        <p:xfrm>
          <a:off x="669924" y="1947084"/>
          <a:ext cx="10850564" cy="1968500"/>
        </p:xfrm>
        <a:graphic>
          <a:graphicData uri="http://schemas.openxmlformats.org/drawingml/2006/table">
            <a:tbl>
              <a:tblPr/>
              <a:tblGrid>
                <a:gridCol w="2475614">
                  <a:extLst>
                    <a:ext uri="{9D8B030D-6E8A-4147-A177-3AD203B41FA5}">
                      <a16:colId xmlns:a16="http://schemas.microsoft.com/office/drawing/2014/main" val="72149532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3024060053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056725166"/>
                    </a:ext>
                  </a:extLst>
                </a:gridCol>
                <a:gridCol w="2791650">
                  <a:extLst>
                    <a:ext uri="{9D8B030D-6E8A-4147-A177-3AD203B41FA5}">
                      <a16:colId xmlns:a16="http://schemas.microsoft.com/office/drawing/2014/main" val="26104336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类型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配置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适用场景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效果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079502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基础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xField, yField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简单对比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单个柱子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866548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分组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xField: [</a:t>
                      </a:r>
                      <a:r>
                        <a:rPr lang="zh-CN" altLang="en-US" sz="1800" b="0">
                          <a:effectLst/>
                          <a:latin typeface="Menlo"/>
                        </a:rPr>
                        <a:t>维</a:t>
                      </a:r>
                      <a:r>
                        <a:rPr lang="en-US" altLang="zh-CN" sz="1800" b="0">
                          <a:effectLst/>
                          <a:latin typeface="Menlo"/>
                        </a:rPr>
                        <a:t>,</a:t>
                      </a:r>
                      <a:r>
                        <a:rPr lang="zh-CN" altLang="en-US" sz="1800" b="0">
                          <a:effectLst/>
                          <a:latin typeface="Menlo"/>
                        </a:rPr>
                        <a:t>类</a:t>
                      </a:r>
                      <a:r>
                        <a:rPr lang="en-US" altLang="zh-CN" sz="1800" b="0">
                          <a:effectLst/>
                          <a:latin typeface="Menlo"/>
                        </a:rPr>
                        <a:t>]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多维度对比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相邻柱子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589539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堆叠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stack: true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查看构成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堆叠柱子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61346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>
                          <a:effectLst/>
                          <a:latin typeface="quote-cjk-patch"/>
                        </a:rPr>
                        <a:t>百分比</a:t>
                      </a:r>
                      <a:endParaRPr lang="zh-CN" altLang="en-US" sz="1800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650"/>
                        </a:lnSpc>
                        <a:buNone/>
                      </a:pPr>
                      <a:r>
                        <a:rPr lang="en-US" sz="1800" b="0">
                          <a:effectLst/>
                          <a:latin typeface="Menlo"/>
                        </a:rPr>
                        <a:t>stack,percent</a:t>
                      </a:r>
                      <a:endParaRPr lang="en-US" sz="1800" b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>
                          <a:effectLst/>
                          <a:latin typeface="quote-cjk-patch"/>
                        </a:rPr>
                        <a:t>占比分析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0" dirty="0">
                          <a:effectLst/>
                          <a:latin typeface="quote-cjk-patch"/>
                        </a:rPr>
                        <a:t>百分比堆叠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2133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4345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AC336-D3F7-4DF1-7E18-CC829D56F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34340-8F55-7A2F-1DC1-9B2A2775F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高级样式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D75B3C-849F-BFDA-5819-F67361F2CB3D}"/>
              </a:ext>
            </a:extLst>
          </p:cNvPr>
          <p:cNvSpPr txBox="1"/>
          <p:nvPr/>
        </p:nvSpPr>
        <p:spPr>
          <a:xfrm>
            <a:off x="669924" y="1747952"/>
            <a:ext cx="60949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fill: {</a:t>
            </a:r>
          </a:p>
          <a:p>
            <a:r>
              <a:rPr lang="en-US" altLang="zh-CN" dirty="0"/>
              <a:t>  gradient: 'linear',</a:t>
            </a:r>
          </a:p>
          <a:p>
            <a:r>
              <a:rPr lang="en-US" altLang="zh-CN" dirty="0"/>
              <a:t>  stops: [</a:t>
            </a:r>
          </a:p>
          <a:p>
            <a:r>
              <a:rPr lang="en-US" altLang="zh-CN" dirty="0"/>
              <a:t>    { offset: 0, color: '#FF6B6B' },</a:t>
            </a:r>
          </a:p>
          <a:p>
            <a:r>
              <a:rPr lang="en-US" altLang="zh-CN" dirty="0"/>
              <a:t>    { offset: 1, color: '#4ECDC4' }</a:t>
            </a:r>
          </a:p>
          <a:p>
            <a:r>
              <a:rPr lang="en-US" altLang="zh-CN" dirty="0"/>
              <a:t>  ]</a:t>
            </a:r>
          </a:p>
          <a:p>
            <a:r>
              <a:rPr lang="en-US" altLang="zh-CN" dirty="0"/>
              <a:t>}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06A1BC-55D8-8209-0365-8CC71EE71EB5}"/>
              </a:ext>
            </a:extLst>
          </p:cNvPr>
          <p:cNvSpPr txBox="1"/>
          <p:nvPr/>
        </p:nvSpPr>
        <p:spPr>
          <a:xfrm>
            <a:off x="669924" y="128110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1</a:t>
            </a:r>
            <a:r>
              <a:rPr lang="zh-CN" altLang="en-US" b="1" dirty="0"/>
              <a:t>：渐变效果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7605A-ADDD-919B-0ACF-A46FFDF061B7}"/>
              </a:ext>
            </a:extLst>
          </p:cNvPr>
          <p:cNvSpPr txBox="1"/>
          <p:nvPr/>
        </p:nvSpPr>
        <p:spPr>
          <a:xfrm>
            <a:off x="669924" y="4131690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2</a:t>
            </a:r>
            <a:r>
              <a:rPr lang="zh-CN" altLang="en-US" b="1" dirty="0"/>
              <a:t>：</a:t>
            </a:r>
            <a:r>
              <a:rPr lang="zh-CN" altLang="en-US" b="1" i="0" dirty="0">
                <a:solidFill>
                  <a:srgbClr val="0F1115"/>
                </a:solidFill>
                <a:effectLst/>
                <a:latin typeface="quote-cjk-patch"/>
              </a:rPr>
              <a:t>悬停交互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9F0C49-3A93-5A18-B978-DB1AB8D62FD4}"/>
              </a:ext>
            </a:extLst>
          </p:cNvPr>
          <p:cNvSpPr txBox="1"/>
          <p:nvPr/>
        </p:nvSpPr>
        <p:spPr>
          <a:xfrm>
            <a:off x="669924" y="4568316"/>
            <a:ext cx="60949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state: {</a:t>
            </a:r>
          </a:p>
          <a:p>
            <a:r>
              <a:rPr lang="zh-CN" altLang="en-US" dirty="0"/>
              <a:t>  hover: { fill: 'rgba(255,107,107,0.8)' },</a:t>
            </a:r>
          </a:p>
          <a:p>
            <a:r>
              <a:rPr lang="zh-CN" altLang="en-US" dirty="0"/>
              <a:t>  selected: { stroke: '#000', lineWidth: 3 }</a:t>
            </a:r>
          </a:p>
          <a:p>
            <a:r>
              <a:rPr lang="zh-CN" alt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79874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25B9-DD51-18C3-2EB1-B4CAB544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F8968-5DB9-C104-43EC-969C3DD69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选择指南决策树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797CE40-70F5-E4D1-10DA-F74753A7577B}"/>
              </a:ext>
            </a:extLst>
          </p:cNvPr>
          <p:cNvSpPr txBox="1"/>
          <p:nvPr/>
        </p:nvSpPr>
        <p:spPr>
          <a:xfrm>
            <a:off x="669924" y="1254695"/>
            <a:ext cx="60949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开始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要对比数据？</a:t>
            </a:r>
          </a:p>
          <a:p>
            <a:r>
              <a:rPr lang="zh-CN" altLang="en-US" dirty="0"/>
              <a:t>  ├─ 是 → 基础柱状图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要对比多个维度？</a:t>
            </a:r>
          </a:p>
          <a:p>
            <a:r>
              <a:rPr lang="zh-CN" altLang="en-US" dirty="0"/>
              <a:t>  ├─ 是 → 分组柱状图</a:t>
            </a:r>
          </a:p>
          <a:p>
            <a:r>
              <a:rPr lang="zh-CN" altLang="en-US" dirty="0"/>
              <a:t>  ↓  </a:t>
            </a:r>
          </a:p>
          <a:p>
            <a:r>
              <a:rPr lang="zh-CN" altLang="en-US" dirty="0"/>
              <a:t>要看构成和总量？</a:t>
            </a:r>
          </a:p>
          <a:p>
            <a:r>
              <a:rPr lang="zh-CN" altLang="en-US" dirty="0"/>
              <a:t>  ├─ 是 → 堆叠柱状图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要看占比关系？</a:t>
            </a:r>
          </a:p>
          <a:p>
            <a:r>
              <a:rPr lang="zh-CN" altLang="en-US" dirty="0"/>
              <a:t>  ├─ 是 → 百分比堆叠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类别名称很长？</a:t>
            </a:r>
          </a:p>
          <a:p>
            <a:r>
              <a:rPr lang="zh-CN" altLang="en-US" dirty="0"/>
              <a:t>  ├─ 是 → 条形图</a:t>
            </a:r>
          </a:p>
          <a:p>
            <a:r>
              <a:rPr lang="zh-CN" altLang="en-US" dirty="0"/>
              <a:t>  ↓</a:t>
            </a:r>
          </a:p>
          <a:p>
            <a:r>
              <a:rPr lang="zh-CN" altLang="en-US" dirty="0"/>
              <a:t>完成选择！</a:t>
            </a:r>
          </a:p>
        </p:txBody>
      </p:sp>
    </p:spTree>
    <p:extLst>
      <p:ext uri="{BB962C8B-B14F-4D97-AF65-F5344CB8AC3E}">
        <p14:creationId xmlns:p14="http://schemas.microsoft.com/office/powerpoint/2010/main" val="783476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A420A-B3C7-9E37-34B6-B6C92B34A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B19F7F-78D2-0F7F-ACC5-5A5C9D35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课程总结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90858-9C71-074D-F2A0-5CF58456809E}"/>
              </a:ext>
            </a:extLst>
          </p:cNvPr>
          <p:cNvSpPr txBox="1"/>
          <p:nvPr/>
        </p:nvSpPr>
        <p:spPr>
          <a:xfrm>
            <a:off x="669924" y="1265658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🎓 你已掌握的技能：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623CCF7-806E-8331-7C77-886EEE9D84C8}"/>
              </a:ext>
            </a:extLst>
          </p:cNvPr>
          <p:cNvSpPr txBox="1"/>
          <p:nvPr/>
        </p:nvSpPr>
        <p:spPr>
          <a:xfrm>
            <a:off x="669924" y="1769002"/>
            <a:ext cx="46105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分组柱状图配置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堆叠与百分比堆叠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高级样式与交互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综合应用能力</a:t>
            </a:r>
          </a:p>
        </p:txBody>
      </p:sp>
    </p:spTree>
    <p:extLst>
      <p:ext uri="{BB962C8B-B14F-4D97-AF65-F5344CB8AC3E}">
        <p14:creationId xmlns:p14="http://schemas.microsoft.com/office/powerpoint/2010/main" val="4169164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3019" y="2290947"/>
            <a:ext cx="1897468" cy="194844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880028" y="4419529"/>
            <a:ext cx="2855421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8" name="图片 7" descr="QR 代码&#10;&#10;AI 生成的内容可能不正确。">
            <a:extLst>
              <a:ext uri="{FF2B5EF4-FFF2-40B4-BE49-F238E27FC236}">
                <a16:creationId xmlns:a16="http://schemas.microsoft.com/office/drawing/2014/main" id="{4BC5A303-5DB3-5205-5B22-BB506EC58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5877" y="1675605"/>
            <a:ext cx="1947142" cy="275255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A10B264-B5D3-ED22-0CAB-A678DD03360B}"/>
              </a:ext>
            </a:extLst>
          </p:cNvPr>
          <p:cNvSpPr txBox="1"/>
          <p:nvPr/>
        </p:nvSpPr>
        <p:spPr>
          <a:xfrm>
            <a:off x="7211240" y="4461194"/>
            <a:ext cx="2855421" cy="341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zh-CN" altLang="en-US" u="sng" dirty="0">
                <a:latin typeface="+mn-ea"/>
              </a:rPr>
              <a:t>讲师微信</a:t>
            </a: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</TotalTime>
  <Words>649</Words>
  <Application>Microsoft Office PowerPoint</Application>
  <PresentationFormat>宽屏</PresentationFormat>
  <Paragraphs>139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Menlo</vt:lpstr>
      <vt:lpstr>quote-cjk-patch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上节课回顾</vt:lpstr>
      <vt:lpstr>分组柱状图</vt:lpstr>
      <vt:lpstr>分组配置详解</vt:lpstr>
      <vt:lpstr>堆叠柱状图</vt:lpstr>
      <vt:lpstr>百分比堆叠</vt:lpstr>
      <vt:lpstr>三种布局对比表</vt:lpstr>
      <vt:lpstr>高级样式</vt:lpstr>
      <vt:lpstr>选择指南决策树</vt:lpstr>
      <vt:lpstr>课程总结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370</cp:revision>
  <dcterms:created xsi:type="dcterms:W3CDTF">2025-10-28T10:07:16Z</dcterms:created>
  <dcterms:modified xsi:type="dcterms:W3CDTF">2026-02-06T10:00:34Z</dcterms:modified>
</cp:coreProperties>
</file>