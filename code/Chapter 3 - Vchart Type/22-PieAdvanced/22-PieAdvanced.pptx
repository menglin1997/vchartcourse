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4"/>
  </p:notesMasterIdLst>
  <p:sldIdLst>
    <p:sldId id="262" r:id="rId3"/>
    <p:sldId id="286" r:id="rId4"/>
    <p:sldId id="303" r:id="rId5"/>
    <p:sldId id="295" r:id="rId6"/>
    <p:sldId id="307" r:id="rId7"/>
    <p:sldId id="300" r:id="rId8"/>
    <p:sldId id="302" r:id="rId9"/>
    <p:sldId id="304" r:id="rId10"/>
    <p:sldId id="305" r:id="rId11"/>
    <p:sldId id="283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isactor.com/vchart/guide/tutorial_docs/Chart_Types/todo" TargetMode="Externa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22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饼图与环图进阶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指标卡组件</a:t>
            </a:r>
            <a:r>
              <a:rPr lang="en-US" altLang="zh-CN" dirty="0"/>
              <a:t>——</a:t>
            </a:r>
            <a:r>
              <a:rPr lang="zh-CN" altLang="en-US" dirty="0"/>
              <a:t>概念与作用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95E536-E5DE-C388-A411-28C4A630D2A9}"/>
              </a:ext>
            </a:extLst>
          </p:cNvPr>
          <p:cNvSpPr txBox="1"/>
          <p:nvPr/>
        </p:nvSpPr>
        <p:spPr>
          <a:xfrm>
            <a:off x="669923" y="1548602"/>
            <a:ext cx="6096000" cy="2528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：位于环图中心的组件，用于展示关键信息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主要作用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展示总计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：所有扇区数据的总和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交互反馈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：悬停时显示当前扇区数据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突出重点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：放置核心指标</a:t>
            </a:r>
          </a:p>
        </p:txBody>
      </p:sp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8EE01-59EF-F05A-B83F-6E123B580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F56A71-D185-7DA0-759B-E8C79F243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指标卡基础配置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F641CDE-D6D1-271A-099C-064A505C5FD5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737CD2-3AAC-732B-0AF8-FD49F646AC52}"/>
              </a:ext>
            </a:extLst>
          </p:cNvPr>
          <p:cNvSpPr txBox="1"/>
          <p:nvPr/>
        </p:nvSpPr>
        <p:spPr>
          <a:xfrm>
            <a:off x="762000" y="1102995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indicator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显示指标卡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latinLnBrk="1"/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title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 </a:t>
            </a:r>
            <a:r>
              <a:rPr lang="en-US" altLang="zh-CN" i="1" dirty="0">
                <a:solidFill>
                  <a:srgbClr val="A0A1A7"/>
                </a:solidFill>
                <a:latin typeface="var(--ds-font-family-code)"/>
              </a:rPr>
              <a:t>//</a:t>
            </a:r>
            <a:r>
              <a:rPr lang="zh-CN" altLang="en-US" i="1" dirty="0">
                <a:solidFill>
                  <a:srgbClr val="A0A1A7"/>
                </a:solidFill>
                <a:latin typeface="var(--ds-font-family-code)"/>
              </a:rPr>
              <a:t>标题文字配置</a:t>
            </a:r>
            <a:endParaRPr lang="en-US" altLang="zh-CN" i="1" dirty="0">
              <a:solidFill>
                <a:srgbClr val="A0A1A7"/>
              </a:solidFill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latinLnBrk="1"/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dirty="0">
                <a:solidFill>
                  <a:srgbClr val="E45649"/>
                </a:solidFill>
                <a:latin typeface="var(--ds-font-family-code)"/>
              </a:rPr>
              <a:t>style</a:t>
            </a:r>
            <a:r>
              <a:rPr lang="en-US" altLang="zh-CN" dirty="0">
                <a:solidFill>
                  <a:srgbClr val="4078F2"/>
                </a:solidFill>
                <a:latin typeface="var(--ds-font-family-code)"/>
              </a:rPr>
              <a:t>:</a:t>
            </a:r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</a:t>
            </a:r>
            <a:r>
              <a:rPr lang="en-US" altLang="zh-CN" dirty="0">
                <a:solidFill>
                  <a:srgbClr val="383A42"/>
                </a:solidFill>
                <a:latin typeface="var(--ds-font-family-code)"/>
              </a:rPr>
              <a:t>{</a:t>
            </a:r>
            <a:endParaRPr lang="en-US" altLang="zh-CN" dirty="0">
              <a:solidFill>
                <a:srgbClr val="0F1115"/>
              </a:solidFill>
              <a:latin typeface="var(--ds-font-family-code)"/>
            </a:endParaRPr>
          </a:p>
          <a:p>
            <a:pPr latinLnBrk="1"/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         </a:t>
            </a:r>
            <a:r>
              <a:rPr lang="en-US" altLang="zh-CN" dirty="0" err="1">
                <a:solidFill>
                  <a:srgbClr val="E45649"/>
                </a:solidFill>
                <a:latin typeface="var(--ds-font-family-code)"/>
              </a:rPr>
              <a:t>fontSize</a:t>
            </a:r>
            <a:r>
              <a:rPr lang="en-US" altLang="zh-CN" dirty="0">
                <a:solidFill>
                  <a:srgbClr val="4078F2"/>
                </a:solidFill>
                <a:latin typeface="var(--ds-font-family-code)"/>
              </a:rPr>
              <a:t>:</a:t>
            </a:r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</a:t>
            </a:r>
            <a:r>
              <a:rPr lang="en-US" altLang="zh-CN" dirty="0">
                <a:solidFill>
                  <a:srgbClr val="B76B01"/>
                </a:solidFill>
                <a:latin typeface="var(--ds-font-family-code)"/>
              </a:rPr>
              <a:t>20</a:t>
            </a:r>
            <a:r>
              <a:rPr lang="en-US" altLang="zh-CN" dirty="0">
                <a:solidFill>
                  <a:srgbClr val="383A42"/>
                </a:solidFill>
                <a:latin typeface="var(--ds-font-family-code)"/>
              </a:rPr>
              <a:t>,</a:t>
            </a:r>
            <a:endParaRPr lang="en-US" altLang="zh-CN" dirty="0">
              <a:solidFill>
                <a:srgbClr val="0F1115"/>
              </a:solidFill>
              <a:latin typeface="var(--ds-font-family-code)"/>
            </a:endParaRPr>
          </a:p>
          <a:p>
            <a:pPr latinLnBrk="1"/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         </a:t>
            </a:r>
            <a:r>
              <a:rPr lang="en-US" altLang="zh-CN" dirty="0" err="1">
                <a:solidFill>
                  <a:srgbClr val="E45649"/>
                </a:solidFill>
                <a:latin typeface="var(--ds-font-family-code)"/>
              </a:rPr>
              <a:t>fontWeight</a:t>
            </a:r>
            <a:r>
              <a:rPr lang="en-US" altLang="zh-CN" dirty="0">
                <a:solidFill>
                  <a:srgbClr val="4078F2"/>
                </a:solidFill>
                <a:latin typeface="var(--ds-font-family-code)"/>
              </a:rPr>
              <a:t>:</a:t>
            </a:r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</a:t>
            </a:r>
            <a:r>
              <a:rPr lang="en-US" altLang="zh-CN" dirty="0">
                <a:solidFill>
                  <a:srgbClr val="50A14F"/>
                </a:solidFill>
                <a:latin typeface="var(--ds-font-family-code)"/>
              </a:rPr>
              <a:t>'bold’,</a:t>
            </a:r>
          </a:p>
          <a:p>
            <a:pPr latinLnBrk="1"/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         </a:t>
            </a:r>
            <a:r>
              <a:rPr lang="en-US" altLang="zh-CN" dirty="0">
                <a:solidFill>
                  <a:srgbClr val="E45649"/>
                </a:solidFill>
                <a:latin typeface="var(--ds-font-family-code)"/>
              </a:rPr>
              <a:t>text</a:t>
            </a:r>
            <a:r>
              <a:rPr lang="en-US" altLang="zh-CN" dirty="0">
                <a:solidFill>
                  <a:srgbClr val="4078F2"/>
                </a:solidFill>
                <a:latin typeface="var(--ds-font-family-code)"/>
              </a:rPr>
              <a:t>:</a:t>
            </a:r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</a:t>
            </a:r>
            <a:r>
              <a:rPr lang="en-US" altLang="zh-CN" dirty="0">
                <a:solidFill>
                  <a:srgbClr val="B76B01"/>
                </a:solidFill>
                <a:latin typeface="var(--ds-font-family-code)"/>
              </a:rPr>
              <a:t>“</a:t>
            </a:r>
            <a:r>
              <a:rPr lang="zh-CN" altLang="en-US" dirty="0">
                <a:solidFill>
                  <a:srgbClr val="B76B01"/>
                </a:solidFill>
                <a:latin typeface="var(--ds-font-family-code)"/>
              </a:rPr>
              <a:t>标题</a:t>
            </a:r>
            <a:r>
              <a:rPr lang="en-US" altLang="zh-CN" dirty="0">
                <a:solidFill>
                  <a:srgbClr val="B76B01"/>
                </a:solidFill>
                <a:latin typeface="var(--ds-font-family-code)"/>
              </a:rPr>
              <a:t>”</a:t>
            </a:r>
            <a:r>
              <a:rPr lang="en-US" altLang="zh-CN" dirty="0">
                <a:solidFill>
                  <a:srgbClr val="383A42"/>
                </a:solidFill>
                <a:latin typeface="var(--ds-font-family-code)"/>
              </a:rPr>
              <a:t>,</a:t>
            </a:r>
            <a:endParaRPr lang="en-US" altLang="zh-CN" dirty="0">
              <a:solidFill>
                <a:srgbClr val="0F1115"/>
              </a:solidFill>
              <a:latin typeface="var(--ds-font-family-code)"/>
            </a:endParaRPr>
          </a:p>
          <a:p>
            <a:pPr latinLnBrk="1"/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       </a:t>
            </a:r>
            <a:r>
              <a:rPr lang="en-US" altLang="zh-CN" dirty="0">
                <a:solidFill>
                  <a:srgbClr val="383A42"/>
                </a:solidFill>
                <a:latin typeface="var(--ds-font-family-code)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80A542F-CF99-10B6-156D-983F7494B1E7}"/>
              </a:ext>
            </a:extLst>
          </p:cNvPr>
          <p:cNvSpPr txBox="1"/>
          <p:nvPr/>
        </p:nvSpPr>
        <p:spPr>
          <a:xfrm>
            <a:off x="6096000" y="1241494"/>
            <a:ext cx="5143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content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[ </a:t>
            </a:r>
            <a:r>
              <a:rPr lang="en-US" altLang="zh-CN" i="1" dirty="0">
                <a:solidFill>
                  <a:srgbClr val="A0A1A7"/>
                </a:solidFill>
                <a:latin typeface="var(--ds-font-family-code)"/>
              </a:rPr>
              <a:t>//</a:t>
            </a:r>
            <a:r>
              <a:rPr lang="zh-CN" altLang="en-US" i="1" dirty="0">
                <a:solidFill>
                  <a:srgbClr val="A0A1A7"/>
                </a:solidFill>
                <a:latin typeface="var(--ds-font-family-code)"/>
              </a:rPr>
              <a:t>指标卡内容文字配置</a:t>
            </a:r>
            <a:endParaRPr lang="en-US" altLang="zh-CN" i="1" dirty="0">
              <a:solidFill>
                <a:srgbClr val="A0A1A7"/>
              </a:solidFill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        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</a:p>
          <a:p>
            <a:pPr latinLnBrk="1"/>
            <a:r>
              <a:rPr lang="en-US" altLang="zh-CN" dirty="0">
                <a:solidFill>
                  <a:srgbClr val="E45649"/>
                </a:solidFill>
                <a:latin typeface="var(--ds-font-family-code)"/>
              </a:rPr>
              <a:t>          text</a:t>
            </a:r>
            <a:r>
              <a:rPr lang="en-US" altLang="zh-CN" dirty="0">
                <a:solidFill>
                  <a:srgbClr val="4078F2"/>
                </a:solidFill>
                <a:latin typeface="var(--ds-font-family-code)"/>
              </a:rPr>
              <a:t>:</a:t>
            </a:r>
            <a:r>
              <a:rPr lang="en-US" altLang="zh-CN" dirty="0">
                <a:solidFill>
                  <a:srgbClr val="0F1115"/>
                </a:solidFill>
                <a:latin typeface="var(--ds-font-family-code)"/>
              </a:rPr>
              <a:t> </a:t>
            </a:r>
            <a:r>
              <a:rPr lang="en-US" altLang="zh-CN" dirty="0">
                <a:solidFill>
                  <a:srgbClr val="50A14F"/>
                </a:solidFill>
                <a:latin typeface="var(--ds-font-family-code)"/>
              </a:rPr>
              <a:t>'185</a:t>
            </a:r>
            <a:r>
              <a:rPr lang="zh-CN" altLang="en-US" dirty="0">
                <a:solidFill>
                  <a:srgbClr val="50A14F"/>
                </a:solidFill>
                <a:latin typeface="var(--ds-font-family-code)"/>
              </a:rPr>
              <a:t>万</a:t>
            </a:r>
            <a:r>
              <a:rPr lang="en-US" altLang="zh-CN" dirty="0">
                <a:solidFill>
                  <a:srgbClr val="50A14F"/>
                </a:solidFill>
                <a:latin typeface="var(--ds-font-family-code)"/>
              </a:rPr>
              <a:t>'</a:t>
            </a:r>
            <a:r>
              <a:rPr lang="en-US" altLang="zh-CN" dirty="0">
                <a:solidFill>
                  <a:srgbClr val="383A42"/>
                </a:solidFill>
                <a:latin typeface="var(--ds-font-family-code)"/>
              </a:rPr>
              <a:t>,</a:t>
            </a:r>
            <a:r>
              <a:rPr lang="zh-CN" altLang="en-US" dirty="0">
                <a:solidFill>
                  <a:srgbClr val="0F1115"/>
                </a:solidFill>
                <a:latin typeface="var(--ds-font-family-code)"/>
              </a:rPr>
              <a:t>   </a:t>
            </a:r>
            <a:r>
              <a:rPr lang="en-US" altLang="zh-CN" i="1" dirty="0">
                <a:solidFill>
                  <a:srgbClr val="A0A1A7"/>
                </a:solidFill>
                <a:latin typeface="var(--ds-font-family-code)"/>
              </a:rPr>
              <a:t>// </a:t>
            </a:r>
            <a:r>
              <a:rPr lang="zh-CN" altLang="en-US" i="1" dirty="0">
                <a:solidFill>
                  <a:srgbClr val="A0A1A7"/>
                </a:solidFill>
                <a:latin typeface="var(--ds-font-family-code)"/>
              </a:rPr>
              <a:t>静态文本</a:t>
            </a:r>
            <a:endParaRPr lang="zh-CN" altLang="en-US" dirty="0">
              <a:solidFill>
                <a:srgbClr val="0F1115"/>
              </a:solidFill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fontSize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20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latinLnBrk="1"/>
            <a:r>
              <a:rPr lang="en-US" altLang="zh-CN" dirty="0">
                <a:solidFill>
                  <a:srgbClr val="E45649"/>
                </a:solidFill>
                <a:latin typeface="var(--ds-font-family-code)"/>
              </a:rPr>
              <a:t>          </a:t>
            </a:r>
            <a:r>
              <a:rPr lang="en-US" altLang="zh-CN" dirty="0" err="1">
                <a:solidFill>
                  <a:srgbClr val="E45649"/>
                </a:solidFill>
                <a:latin typeface="var(--ds-font-family-code)"/>
              </a:rPr>
              <a:t>fontFamily</a:t>
            </a:r>
            <a:r>
              <a:rPr lang="en-US" altLang="zh-CN" dirty="0">
                <a:solidFill>
                  <a:srgbClr val="E45649"/>
                </a:solidFill>
                <a:latin typeface="var(--ds-font-family-code)"/>
              </a:rPr>
              <a:t>: 'bold'</a:t>
            </a: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]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</p:spTree>
    <p:extLst>
      <p:ext uri="{BB962C8B-B14F-4D97-AF65-F5344CB8AC3E}">
        <p14:creationId xmlns:p14="http://schemas.microsoft.com/office/powerpoint/2010/main" val="2756737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纹理填充</a:t>
            </a:r>
            <a:r>
              <a:rPr lang="en-US" altLang="zh-CN" dirty="0"/>
              <a:t>——</a:t>
            </a:r>
            <a:r>
              <a:rPr lang="zh-CN" altLang="en-US" dirty="0"/>
              <a:t>概念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7BE312-4E6A-7364-91ED-DAD25BCAC439}"/>
              </a:ext>
            </a:extLst>
          </p:cNvPr>
          <p:cNvSpPr txBox="1"/>
          <p:nvPr/>
        </p:nvSpPr>
        <p:spPr>
          <a:xfrm>
            <a:off x="669924" y="1269348"/>
            <a:ext cx="6096000" cy="3023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：为图元添加纹理图案，增强视觉区分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作用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黑白打印时区分扇区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色盲友好设计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增强视觉效果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品牌风格统一</a:t>
            </a:r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DD72C-16AB-E3A5-6096-0817AAFB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BCFF0F-4432-C3B9-CBD9-803EAA19E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纹理填充</a:t>
            </a:r>
            <a:r>
              <a:rPr lang="en-US" altLang="zh-CN" dirty="0"/>
              <a:t>——</a:t>
            </a:r>
            <a:r>
              <a:rPr lang="zh-CN" altLang="en-US" dirty="0"/>
              <a:t>概念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4183B2C-E58E-4D17-3669-84F2B79E6F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907107"/>
              </p:ext>
            </p:extLst>
          </p:nvPr>
        </p:nvGraphicFramePr>
        <p:xfrm>
          <a:off x="896066" y="2136074"/>
          <a:ext cx="10850564" cy="2468880"/>
        </p:xfrm>
        <a:graphic>
          <a:graphicData uri="http://schemas.openxmlformats.org/drawingml/2006/table">
            <a:tbl>
              <a:tblPr/>
              <a:tblGrid>
                <a:gridCol w="2712641">
                  <a:extLst>
                    <a:ext uri="{9D8B030D-6E8A-4147-A177-3AD203B41FA5}">
                      <a16:colId xmlns:a16="http://schemas.microsoft.com/office/drawing/2014/main" val="14547085"/>
                    </a:ext>
                  </a:extLst>
                </a:gridCol>
                <a:gridCol w="2712641">
                  <a:extLst>
                    <a:ext uri="{9D8B030D-6E8A-4147-A177-3AD203B41FA5}">
                      <a16:colId xmlns:a16="http://schemas.microsoft.com/office/drawing/2014/main" val="4254464151"/>
                    </a:ext>
                  </a:extLst>
                </a:gridCol>
                <a:gridCol w="2712641">
                  <a:extLst>
                    <a:ext uri="{9D8B030D-6E8A-4147-A177-3AD203B41FA5}">
                      <a16:colId xmlns:a16="http://schemas.microsoft.com/office/drawing/2014/main" val="3780293787"/>
                    </a:ext>
                  </a:extLst>
                </a:gridCol>
                <a:gridCol w="2712641">
                  <a:extLst>
                    <a:ext uri="{9D8B030D-6E8A-4147-A177-3AD203B41FA5}">
                      <a16:colId xmlns:a16="http://schemas.microsoft.com/office/drawing/2014/main" val="2121517170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sz="1800"/>
                    </a:p>
                  </a:txBody>
                  <a:tcPr>
                    <a:lnB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800"/>
                    </a:p>
                  </a:txBody>
                  <a:tcPr>
                    <a:lnB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800"/>
                    </a:p>
                  </a:txBody>
                  <a:tcPr>
                    <a:lnB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800"/>
                    </a:p>
                  </a:txBody>
                  <a:tcPr>
                    <a:lnB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963252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 b="1">
                          <a:solidFill>
                            <a:srgbClr val="1A2233"/>
                          </a:solidFill>
                          <a:effectLst/>
                        </a:rPr>
                        <a:t>关键字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 b="1">
                          <a:solidFill>
                            <a:srgbClr val="1A2233"/>
                          </a:solidFill>
                          <a:effectLst/>
                        </a:rPr>
                        <a:t>类型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 b="1">
                          <a:solidFill>
                            <a:srgbClr val="1A2233"/>
                          </a:solidFill>
                          <a:effectLst/>
                        </a:rPr>
                        <a:t>描述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 b="1">
                          <a:solidFill>
                            <a:srgbClr val="1A2233"/>
                          </a:solidFill>
                          <a:effectLst/>
                        </a:rPr>
                        <a:t>默认值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80A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92939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texture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TextureType ｜ string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arc </a:t>
                      </a:r>
                      <a:r>
                        <a:rPr lang="zh-CN" altLang="en-US" sz="1800">
                          <a:solidFill>
                            <a:srgbClr val="424E66"/>
                          </a:solidFill>
                          <a:effectLst/>
                        </a:rPr>
                        <a:t>图元的纹理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800">
                        <a:solidFill>
                          <a:srgbClr val="424E66"/>
                        </a:solidFill>
                        <a:effectLst/>
                      </a:endParaRPr>
                    </a:p>
                  </a:txBody>
                  <a:tcPr marL="99060" marR="99060" anchor="ctr">
                    <a:lnL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B8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8378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textureColor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string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800">
                          <a:solidFill>
                            <a:srgbClr val="424E66"/>
                          </a:solidFill>
                          <a:effectLst/>
                        </a:rPr>
                        <a:t>arc </a:t>
                      </a:r>
                      <a:r>
                        <a:rPr lang="zh-CN" altLang="en-US" sz="1800">
                          <a:solidFill>
                            <a:srgbClr val="424E66"/>
                          </a:solidFill>
                          <a:effectLst/>
                        </a:rPr>
                        <a:t>图元的纹理颜色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800">
                        <a:solidFill>
                          <a:srgbClr val="424E66"/>
                        </a:solidFill>
                        <a:effectLst/>
                      </a:endParaRPr>
                    </a:p>
                  </a:txBody>
                  <a:tcPr marL="99060" marR="99060" anchor="ctr">
                    <a:lnL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B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2679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textureSize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dirty="0">
                          <a:solidFill>
                            <a:srgbClr val="424E66"/>
                          </a:solidFill>
                          <a:effectLst/>
                        </a:rPr>
                        <a:t>number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800">
                          <a:solidFill>
                            <a:srgbClr val="424E66"/>
                          </a:solidFill>
                          <a:effectLst/>
                        </a:rPr>
                        <a:t>arc </a:t>
                      </a:r>
                      <a:r>
                        <a:rPr lang="zh-CN" altLang="en-US" sz="1800">
                          <a:solidFill>
                            <a:srgbClr val="424E66"/>
                          </a:solidFill>
                          <a:effectLst/>
                        </a:rPr>
                        <a:t>图元的纹理大小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800">
                        <a:solidFill>
                          <a:srgbClr val="424E66"/>
                        </a:solidFill>
                        <a:effectLst/>
                      </a:endParaRPr>
                    </a:p>
                  </a:txBody>
                  <a:tcPr marL="99060" marR="99060" anchor="ctr">
                    <a:lnL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81654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texturePadding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>
                          <a:solidFill>
                            <a:srgbClr val="424E66"/>
                          </a:solidFill>
                          <a:effectLst/>
                        </a:rPr>
                        <a:t>number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800">
                          <a:solidFill>
                            <a:srgbClr val="424E66"/>
                          </a:solidFill>
                          <a:effectLst/>
                        </a:rPr>
                        <a:t>arc </a:t>
                      </a:r>
                      <a:r>
                        <a:rPr lang="zh-CN" altLang="en-US" sz="1800">
                          <a:solidFill>
                            <a:srgbClr val="424E66"/>
                          </a:solidFill>
                          <a:effectLst/>
                        </a:rPr>
                        <a:t>图元的纹理之间空隙的大小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800" dirty="0"/>
                    </a:p>
                  </a:txBody>
                  <a:tcPr>
                    <a:lnL w="7620" cap="flat" cmpd="sng" algn="ctr">
                      <a:solidFill>
                        <a:srgbClr val="C0E1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" cap="flat" cmpd="sng" algn="ctr">
                      <a:solidFill>
                        <a:srgbClr val="00C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12564683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0430F231-4733-A19F-2A17-659A97AF3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7912" y="299848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E70555-AE86-6827-D9C8-D478F482C5EE}"/>
              </a:ext>
            </a:extLst>
          </p:cNvPr>
          <p:cNvSpPr txBox="1"/>
          <p:nvPr/>
        </p:nvSpPr>
        <p:spPr>
          <a:xfrm>
            <a:off x="669924" y="1582076"/>
            <a:ext cx="1096855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通过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ui-monospace"/>
              </a:rPr>
              <a:t> </a:t>
            </a:r>
            <a:r>
              <a:rPr lang="en-US" altLang="zh-CN" b="0" i="0" dirty="0" err="1">
                <a:solidFill>
                  <a:srgbClr val="424E66"/>
                </a:solidFill>
                <a:effectLst/>
                <a:latin typeface="ui-monospace"/>
              </a:rPr>
              <a:t>pieChart.pie.style.texture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 属性可以配置图元填充纹理，该配置适用于所有图元，详情请见</a:t>
            </a:r>
            <a:r>
              <a:rPr lang="zh-CN" altLang="en-US" b="0" i="0" u="none" strike="noStrike" dirty="0">
                <a:solidFill>
                  <a:srgbClr val="424E66"/>
                </a:solidFill>
                <a:effectLst/>
                <a:latin typeface="Nunito for Arco"/>
                <a:hlinkClick r:id="rId2"/>
              </a:rPr>
              <a:t>图元纹理配置</a:t>
            </a:r>
            <a:endParaRPr lang="zh-CN" altLang="en-US" b="0" i="0" dirty="0">
              <a:solidFill>
                <a:srgbClr val="424E66"/>
              </a:solidFill>
              <a:effectLst/>
              <a:latin typeface="Nunito for Arco"/>
            </a:endParaRP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840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纹理类型详解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3A7E51-6ED9-FE0A-C189-883B5D4D910F}"/>
              </a:ext>
            </a:extLst>
          </p:cNvPr>
          <p:cNvSpPr txBox="1"/>
          <p:nvPr/>
        </p:nvSpPr>
        <p:spPr>
          <a:xfrm>
            <a:off x="669924" y="1413639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pie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texture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'grid'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纹理类型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textureColor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'#666666'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纹理颜色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textureSize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8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纹理大小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texturePadding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2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纹理间距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C6133E66-3C08-F8B2-40DE-B39A01826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136129"/>
              </p:ext>
            </p:extLst>
          </p:nvPr>
        </p:nvGraphicFramePr>
        <p:xfrm>
          <a:off x="669924" y="4432299"/>
          <a:ext cx="10850564" cy="2133600"/>
        </p:xfrm>
        <a:graphic>
          <a:graphicData uri="http://schemas.openxmlformats.org/drawingml/2006/table">
            <a:tbl>
              <a:tblPr/>
              <a:tblGrid>
                <a:gridCol w="2475614">
                  <a:extLst>
                    <a:ext uri="{9D8B030D-6E8A-4147-A177-3AD203B41FA5}">
                      <a16:colId xmlns:a16="http://schemas.microsoft.com/office/drawing/2014/main" val="3513116204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3197772333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1733847453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3633129609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类型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说明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类型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说明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568561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circle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圆形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rect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矩形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8696898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dimond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菱形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grid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网格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8215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vertical-line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垂直线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horizontal-line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水平线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2027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bias-lr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左斜线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bias-rl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右斜线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097244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B65A5081-21D6-B532-7626-194D9D2866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4" y="3998962"/>
            <a:ext cx="11306176" cy="5539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1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Arial" panose="020B0604020202020204" pitchFamily="34" charset="0"/>
                <a:ea typeface="quote-cjk-patch"/>
              </a:rPr>
              <a:t>TextureType 枚举</a:t>
            </a: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Arial" panose="020B0604020202020204" pitchFamily="34" charset="0"/>
                <a:ea typeface="quote-cjk-patch"/>
              </a:rPr>
              <a:t>：</a:t>
            </a:r>
            <a:endParaRPr kumimoji="0" lang="zh-CN" altLang="zh-CN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4DA5947-327B-757B-BF89-8AA278F532BC}"/>
              </a:ext>
            </a:extLst>
          </p:cNvPr>
          <p:cNvSpPr txBox="1"/>
          <p:nvPr/>
        </p:nvSpPr>
        <p:spPr>
          <a:xfrm>
            <a:off x="5506064" y="1744389"/>
            <a:ext cx="6096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altLang="zh-CN" b="0" i="0" dirty="0" err="1">
                <a:solidFill>
                  <a:srgbClr val="424E66"/>
                </a:solidFill>
                <a:effectLst/>
                <a:latin typeface="Nunito for Arco"/>
              </a:rPr>
              <a:t>TextureType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定义如下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: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24292F"/>
                </a:solidFill>
                <a:effectLst/>
                <a:latin typeface="Menlo"/>
              </a:rPr>
            </a:b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13C67D5-11D2-169D-681E-48FDD8C73210}"/>
              </a:ext>
            </a:extLst>
          </p:cNvPr>
          <p:cNvSpPr txBox="1"/>
          <p:nvPr/>
        </p:nvSpPr>
        <p:spPr>
          <a:xfrm>
            <a:off x="5506064" y="2298387"/>
            <a:ext cx="60960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spcAft>
                <a:spcPts val="1200"/>
              </a:spcAft>
              <a:buNone/>
            </a:pPr>
            <a:r>
              <a:rPr lang="en-US" altLang="zh-CN" b="0" i="0" dirty="0">
                <a:solidFill>
                  <a:srgbClr val="725EE1"/>
                </a:solidFill>
                <a:effectLst/>
                <a:latin typeface="Menlo"/>
              </a:rPr>
              <a:t>type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</a:t>
            </a:r>
            <a:r>
              <a:rPr lang="en-US" altLang="zh-CN" b="0" i="0" dirty="0" err="1">
                <a:solidFill>
                  <a:srgbClr val="24292F"/>
                </a:solidFill>
                <a:effectLst/>
                <a:latin typeface="Menlo"/>
              </a:rPr>
              <a:t>TextureType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=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'circle'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|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</a:t>
            </a:r>
            <a:r>
              <a:rPr lang="en-US" altLang="zh-CN" b="0" i="0" dirty="0" err="1">
                <a:solidFill>
                  <a:srgbClr val="04A86B"/>
                </a:solidFill>
                <a:effectLst/>
                <a:latin typeface="Menlo"/>
              </a:rPr>
              <a:t>dimond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|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</a:t>
            </a:r>
            <a:r>
              <a:rPr lang="en-US" altLang="zh-CN" b="0" i="0" dirty="0" err="1">
                <a:solidFill>
                  <a:srgbClr val="04A86B"/>
                </a:solidFill>
                <a:effectLst/>
                <a:latin typeface="Menlo"/>
              </a:rPr>
              <a:t>rect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|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'vertical-line'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|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'horizontal-line'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|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'bias-</a:t>
            </a:r>
            <a:r>
              <a:rPr lang="en-US" altLang="zh-CN" b="0" i="0" dirty="0" err="1">
                <a:solidFill>
                  <a:srgbClr val="04A86B"/>
                </a:solidFill>
                <a:effectLst/>
                <a:latin typeface="Menlo"/>
              </a:rPr>
              <a:t>lr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|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'bias-</a:t>
            </a:r>
            <a:r>
              <a:rPr lang="en-US" altLang="zh-CN" b="0" i="0" dirty="0" err="1">
                <a:solidFill>
                  <a:srgbClr val="04A86B"/>
                </a:solidFill>
                <a:effectLst/>
                <a:latin typeface="Menlo"/>
              </a:rPr>
              <a:t>rl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 | </a:t>
            </a:r>
            <a:r>
              <a:rPr lang="en-US" altLang="zh-CN" b="0" i="0" dirty="0">
                <a:solidFill>
                  <a:srgbClr val="04A86B"/>
                </a:solidFill>
                <a:effectLst/>
                <a:latin typeface="Menlo"/>
              </a:rPr>
              <a:t>'grid'</a:t>
            </a:r>
            <a:r>
              <a:rPr lang="en-US" altLang="zh-CN" b="0" i="0" dirty="0">
                <a:solidFill>
                  <a:srgbClr val="24292F"/>
                </a:solidFill>
                <a:effectLst/>
                <a:latin typeface="Menlo"/>
              </a:rPr>
              <a:t>;</a:t>
            </a:r>
          </a:p>
          <a:p>
            <a:pPr>
              <a:buNone/>
            </a:pP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动态纹理配置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E7AAB0-9B00-81C3-11B8-0FF75CAE29DA}"/>
              </a:ext>
            </a:extLst>
          </p:cNvPr>
          <p:cNvSpPr txBox="1"/>
          <p:nvPr/>
        </p:nvSpPr>
        <p:spPr>
          <a:xfrm>
            <a:off x="787400" y="1632794"/>
            <a:ext cx="60960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pie: {</a:t>
            </a:r>
          </a:p>
          <a:p>
            <a:r>
              <a:rPr lang="en-US" altLang="zh-CN" dirty="0"/>
              <a:t>    style: {</a:t>
            </a:r>
          </a:p>
          <a:p>
            <a:r>
              <a:rPr lang="en-US" altLang="zh-CN" dirty="0"/>
              <a:t>      </a:t>
            </a:r>
            <a:r>
              <a:rPr lang="en-US" altLang="zh-CN" dirty="0" err="1"/>
              <a:t>cornerRadius</a:t>
            </a:r>
            <a:r>
              <a:rPr lang="en-US" altLang="zh-CN" dirty="0"/>
              <a:t>: 5,</a:t>
            </a:r>
          </a:p>
          <a:p>
            <a:r>
              <a:rPr lang="en-US" altLang="zh-CN" dirty="0"/>
              <a:t>      texture: datum =&gt; datum['texture']</a:t>
            </a:r>
          </a:p>
          <a:p>
            <a:r>
              <a:rPr lang="en-US" altLang="zh-CN" dirty="0"/>
              <a:t>    },</a:t>
            </a:r>
          </a:p>
          <a:p>
            <a:r>
              <a:rPr lang="en-US" altLang="zh-CN" dirty="0"/>
              <a:t>    state: {</a:t>
            </a:r>
          </a:p>
          <a:p>
            <a:r>
              <a:rPr lang="en-US" altLang="zh-CN" dirty="0"/>
              <a:t>      hover: {</a:t>
            </a:r>
          </a:p>
          <a:p>
            <a:r>
              <a:rPr lang="en-US" altLang="zh-CN" dirty="0"/>
              <a:t>        </a:t>
            </a:r>
            <a:r>
              <a:rPr lang="en-US" altLang="zh-CN" dirty="0" err="1"/>
              <a:t>outerRadius</a:t>
            </a:r>
            <a:r>
              <a:rPr lang="en-US" altLang="zh-CN" dirty="0"/>
              <a:t>: 0.85,</a:t>
            </a:r>
          </a:p>
          <a:p>
            <a:r>
              <a:rPr lang="en-US" altLang="zh-CN" dirty="0"/>
              <a:t>        stroke: '#000',</a:t>
            </a:r>
          </a:p>
          <a:p>
            <a:r>
              <a:rPr lang="en-US" altLang="zh-CN" dirty="0"/>
              <a:t>        </a:t>
            </a:r>
            <a:r>
              <a:rPr lang="en-US" altLang="zh-CN" dirty="0" err="1"/>
              <a:t>lineWidth</a:t>
            </a:r>
            <a:r>
              <a:rPr lang="en-US" altLang="zh-CN" dirty="0"/>
              <a:t>: 1</a:t>
            </a:r>
          </a:p>
          <a:p>
            <a:r>
              <a:rPr lang="en-US" altLang="zh-CN" dirty="0"/>
              <a:t>      },</a:t>
            </a:r>
          </a:p>
          <a:p>
            <a:r>
              <a:rPr lang="en-US" altLang="zh-CN" dirty="0"/>
              <a:t>      selected: {</a:t>
            </a:r>
          </a:p>
          <a:p>
            <a:r>
              <a:rPr lang="en-US" altLang="zh-CN" dirty="0"/>
              <a:t>        </a:t>
            </a:r>
            <a:r>
              <a:rPr lang="en-US" altLang="zh-CN" dirty="0" err="1"/>
              <a:t>outerRadius</a:t>
            </a:r>
            <a:r>
              <a:rPr lang="en-US" altLang="zh-CN" dirty="0"/>
              <a:t>: 0.85,</a:t>
            </a:r>
          </a:p>
          <a:p>
            <a:r>
              <a:rPr lang="en-US" altLang="zh-CN" dirty="0"/>
              <a:t>        stroke: '#000',</a:t>
            </a:r>
          </a:p>
          <a:p>
            <a:r>
              <a:rPr lang="en-US" altLang="zh-CN" dirty="0"/>
              <a:t>        </a:t>
            </a:r>
            <a:r>
              <a:rPr lang="en-US" altLang="zh-CN" dirty="0" err="1"/>
              <a:t>lineWidth</a:t>
            </a:r>
            <a:r>
              <a:rPr lang="en-US" altLang="zh-CN" dirty="0"/>
              <a:t>: 1</a:t>
            </a:r>
          </a:p>
          <a:p>
            <a:r>
              <a:rPr lang="en-US" altLang="zh-CN" dirty="0"/>
              <a:t>      }</a:t>
            </a:r>
          </a:p>
          <a:p>
            <a:r>
              <a:rPr lang="en-US" altLang="zh-CN" dirty="0"/>
              <a:t>    }</a:t>
            </a:r>
          </a:p>
          <a:p>
            <a:r>
              <a:rPr lang="en-US" altLang="zh-CN" dirty="0"/>
              <a:t>  },</a:t>
            </a:r>
          </a:p>
          <a:p>
            <a:pPr algn="l" latinLnBrk="1">
              <a:buNone/>
            </a:pP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9D72FEF-4AD2-9983-E12A-AB5461C8C89B}"/>
              </a:ext>
            </a:extLst>
          </p:cNvPr>
          <p:cNvSpPr txBox="1"/>
          <p:nvPr/>
        </p:nvSpPr>
        <p:spPr>
          <a:xfrm>
            <a:off x="669924" y="113098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优势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：根据数据特征差异化设计</a:t>
            </a:r>
            <a:br>
              <a:rPr lang="zh-CN" altLang="en-US" dirty="0"/>
            </a:b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5A7E8E2-1523-637D-CC6B-31CACA41C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575" y="1777316"/>
            <a:ext cx="705802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FDD32-0A03-BB0C-4FEE-9F330BCD9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1BF0CD-E99B-FD26-0A54-03C26F684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综合案例</a:t>
            </a:r>
            <a:r>
              <a:rPr lang="en-US" altLang="zh-CN" dirty="0"/>
              <a:t>——</a:t>
            </a:r>
            <a:r>
              <a:rPr lang="zh-CN" altLang="en-US" dirty="0"/>
              <a:t>销售看板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849ADD-C7BE-02C4-4C47-770CFA57502F}"/>
              </a:ext>
            </a:extLst>
          </p:cNvPr>
          <p:cNvSpPr txBox="1"/>
          <p:nvPr/>
        </p:nvSpPr>
        <p:spPr>
          <a:xfrm>
            <a:off x="669924" y="1333136"/>
            <a:ext cx="6096000" cy="249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需求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：创建一个销售数据看板，如同所示，展示：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各产品线销售额占比（环图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+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指标卡显示标题和额度）</a:t>
            </a:r>
            <a:b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标题：</a:t>
            </a: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销售占比</a:t>
            </a:r>
            <a:br>
              <a:rPr lang="en-US" altLang="zh-CN" dirty="0">
                <a:solidFill>
                  <a:srgbClr val="0F1115"/>
                </a:solidFill>
                <a:latin typeface="quote-cjk-patch"/>
              </a:rPr>
            </a:b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点击显示当前的比例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悬停显示详细数据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使用纹理增强区分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339CAD6-7ED5-A180-BCA1-A8BD7A10B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5450" y="2325637"/>
            <a:ext cx="483870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081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B7CDA-793B-C0CD-42CB-68E7A1594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08184A-A72A-628E-D96B-725F82B85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本节回顾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C82131-2D50-AD6D-6E34-6A4E3BF15A0C}"/>
              </a:ext>
            </a:extLst>
          </p:cNvPr>
          <p:cNvSpPr txBox="1"/>
          <p:nvPr/>
        </p:nvSpPr>
        <p:spPr>
          <a:xfrm>
            <a:off x="669924" y="1326932"/>
            <a:ext cx="6096000" cy="1944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已掌握知识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✅ 指标卡组件的配置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✅ 纹理类型及应用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✅ 综合图表设计能力</a:t>
            </a:r>
          </a:p>
        </p:txBody>
      </p:sp>
    </p:spTree>
    <p:extLst>
      <p:ext uri="{BB962C8B-B14F-4D97-AF65-F5344CB8AC3E}">
        <p14:creationId xmlns:p14="http://schemas.microsoft.com/office/powerpoint/2010/main" val="212643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1244</TotalTime>
  <Words>609</Words>
  <Application>Microsoft Office PowerPoint</Application>
  <PresentationFormat>宽屏</PresentationFormat>
  <Paragraphs>134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Menlo</vt:lpstr>
      <vt:lpstr>Nunito for Arco</vt:lpstr>
      <vt:lpstr>quote-cjk-patch</vt:lpstr>
      <vt:lpstr>ui-monospace</vt:lpstr>
      <vt:lpstr>var(--ds-font-family-code)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指标卡组件——概念与作用</vt:lpstr>
      <vt:lpstr>指标卡基础配置</vt:lpstr>
      <vt:lpstr>纹理填充——概念</vt:lpstr>
      <vt:lpstr>纹理填充——概念</vt:lpstr>
      <vt:lpstr>纹理类型详解</vt:lpstr>
      <vt:lpstr>动态纹理配置</vt:lpstr>
      <vt:lpstr>综合案例——销售看板</vt:lpstr>
      <vt:lpstr>本节回顾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458</cp:revision>
  <dcterms:created xsi:type="dcterms:W3CDTF">2025-10-28T10:07:16Z</dcterms:created>
  <dcterms:modified xsi:type="dcterms:W3CDTF">2026-03-12T13:56:48Z</dcterms:modified>
</cp:coreProperties>
</file>