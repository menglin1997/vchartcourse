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8"/>
  </p:notesMasterIdLst>
  <p:sldIdLst>
    <p:sldId id="262" r:id="rId3"/>
    <p:sldId id="284" r:id="rId4"/>
    <p:sldId id="286" r:id="rId5"/>
    <p:sldId id="303" r:id="rId6"/>
    <p:sldId id="296" r:id="rId7"/>
    <p:sldId id="293" r:id="rId8"/>
    <p:sldId id="294" r:id="rId9"/>
    <p:sldId id="297" r:id="rId10"/>
    <p:sldId id="295" r:id="rId11"/>
    <p:sldId id="300" r:id="rId12"/>
    <p:sldId id="302" r:id="rId13"/>
    <p:sldId id="304" r:id="rId14"/>
    <p:sldId id="305" r:id="rId15"/>
    <p:sldId id="283" r:id="rId16"/>
    <p:sldId id="265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CF908-1C26-48E2-87DA-1AF51B1E776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471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0F666-2BAE-FFA5-93A5-9FF6EEFAB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BC6F21-3D7D-9CA7-F795-AFA9E6734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F22DFE-0AA0-A1F9-B860-0FD41DC63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2467DF-4268-83D0-F907-02F45C732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CF908-1C26-48E2-87DA-1AF51B1E776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552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22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zh-CN" altLang="en-US" dirty="0"/>
              <a:t>饼图与环图进阶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2085-6C1E-0D15-1DC2-CA199408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277A5-6950-9361-2308-058A1A23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87E448-B838-FABD-3111-816FFECF9962}"/>
              </a:ext>
            </a:extLst>
          </p:cNvPr>
          <p:cNvSpPr txBox="1"/>
          <p:nvPr/>
        </p:nvSpPr>
        <p:spPr>
          <a:xfrm>
            <a:off x="669924" y="13755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1.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指标卡组件</a:t>
            </a: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环图中心的动态信息展示     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2.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嵌套图表</a:t>
            </a: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多层次数据的展示方式</a:t>
            </a: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3.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纹理填充</a:t>
            </a: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增强区分度与可访问性</a:t>
            </a: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4.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提示信息</a:t>
            </a: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悬停交互展示详细信息</a:t>
            </a:r>
            <a:endParaRPr lang="en-US" altLang="zh-CN" dirty="0">
              <a:solidFill>
                <a:srgbClr val="0F1115"/>
              </a:solidFill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5.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动态数据与更新</a:t>
            </a: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响应式数据变化   </a:t>
            </a:r>
          </a:p>
        </p:txBody>
      </p:sp>
    </p:spTree>
    <p:extLst>
      <p:ext uri="{BB962C8B-B14F-4D97-AF65-F5344CB8AC3E}">
        <p14:creationId xmlns:p14="http://schemas.microsoft.com/office/powerpoint/2010/main" val="276575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74F7-F2A6-465B-6477-11D587DE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2DE8E-7BB9-BFB4-F3B8-9EFF709B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指标卡组件</a:t>
            </a:r>
            <a:r>
              <a:rPr lang="en-US" altLang="zh-CN" dirty="0"/>
              <a:t>——</a:t>
            </a:r>
            <a:r>
              <a:rPr lang="zh-CN" altLang="en-US" dirty="0"/>
              <a:t>概念与作用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E714B4-E229-EB53-E11D-00980E5A517E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95E536-E5DE-C388-A411-28C4A630D2A9}"/>
              </a:ext>
            </a:extLst>
          </p:cNvPr>
          <p:cNvSpPr txBox="1"/>
          <p:nvPr/>
        </p:nvSpPr>
        <p:spPr>
          <a:xfrm>
            <a:off x="669923" y="1548602"/>
            <a:ext cx="6096000" cy="252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定义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：位于环图中心的组件，用于展示关键信息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主要作用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展示总计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：所有扇区数据的总和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交互反馈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：悬停时显示当前扇区数据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突出重点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：放置核心指标</a:t>
            </a:r>
          </a:p>
        </p:txBody>
      </p:sp>
    </p:spTree>
    <p:extLst>
      <p:ext uri="{BB962C8B-B14F-4D97-AF65-F5344CB8AC3E}">
        <p14:creationId xmlns:p14="http://schemas.microsoft.com/office/powerpoint/2010/main" val="151827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8EE01-59EF-F05A-B83F-6E123B580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F56A71-D185-7DA0-759B-E8C79F24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指标卡基础配置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F641CDE-D6D1-271A-099C-064A505C5FD5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737CD2-3AAC-732B-0AF8-FD49F646AC52}"/>
              </a:ext>
            </a:extLst>
          </p:cNvPr>
          <p:cNvSpPr txBox="1"/>
          <p:nvPr/>
        </p:nvSpPr>
        <p:spPr>
          <a:xfrm>
            <a:off x="762000" y="1102995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type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'pie'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var(--ds-font-family-code)"/>
              </a:rPr>
              <a:t>innerRadius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0.6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环图必需</a:t>
            </a:r>
            <a:endParaRPr lang="en-US" altLang="zh-CN" b="0" i="1" dirty="0">
              <a:solidFill>
                <a:srgbClr val="A0A1A7"/>
              </a:solidFill>
              <a:effectLst/>
              <a:latin typeface="var(--ds-font-family-code)"/>
            </a:endParaRPr>
          </a:p>
          <a:p>
            <a:pPr latinLnBrk="1"/>
            <a:r>
              <a:rPr lang="en-US" altLang="zh-CN" dirty="0" err="1"/>
              <a:t>outerRadius</a:t>
            </a:r>
            <a:r>
              <a:rPr lang="en-US" altLang="zh-CN" dirty="0"/>
              <a:t>: 1,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indicator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visible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true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显示指标卡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title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visible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true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text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zh-CN" altLang="en-US" b="0" i="0" dirty="0">
                <a:solidFill>
                  <a:srgbClr val="50A14F"/>
                </a:solidFill>
                <a:effectLst/>
                <a:latin typeface="var(--ds-font-family-code)"/>
              </a:rPr>
              <a:t>总销售额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静态标题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content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[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visible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true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text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'185</a:t>
            </a:r>
            <a:r>
              <a:rPr lang="zh-CN" altLang="en-US" b="0" i="0" dirty="0">
                <a:solidFill>
                  <a:srgbClr val="50A14F"/>
                </a:solidFill>
                <a:effectLst/>
                <a:latin typeface="var(--ds-font-family-code)"/>
              </a:rPr>
              <a:t>万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静态文本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  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style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var(--ds-font-family-code)"/>
              </a:rPr>
              <a:t>fontSize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20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var(--ds-font-family-code)"/>
              </a:rPr>
              <a:t>fontWeight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'bold'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]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</p:txBody>
      </p:sp>
    </p:spTree>
    <p:extLst>
      <p:ext uri="{BB962C8B-B14F-4D97-AF65-F5344CB8AC3E}">
        <p14:creationId xmlns:p14="http://schemas.microsoft.com/office/powerpoint/2010/main" val="2756737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E808E-BE2A-D38A-0A07-84B9F8DA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9DE32-EF03-E2AD-9A46-0FD5CB786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指标卡动态计算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D8B4BDB-8D8B-302B-E7AF-0A56A94A6C15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9E180E-EDC1-701C-CC90-DE511D492403}"/>
              </a:ext>
            </a:extLst>
          </p:cNvPr>
          <p:cNvSpPr txBox="1"/>
          <p:nvPr/>
        </p:nvSpPr>
        <p:spPr>
          <a:xfrm>
            <a:off x="895350" y="1133321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indicator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visible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true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title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visible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true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text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zh-CN" altLang="en-US" b="0" i="0" dirty="0">
                <a:solidFill>
                  <a:srgbClr val="50A14F"/>
                </a:solidFill>
                <a:effectLst/>
                <a:latin typeface="var(--ds-font-family-code)"/>
              </a:rPr>
              <a:t>总销售额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content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[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visible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true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动态计算总和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  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text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field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'sales'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数值字段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    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type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'sum'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聚合类型：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sum/average/max/min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format: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(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value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)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=&gt;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value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+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zh-CN" altLang="en-US" b="0" i="0" dirty="0">
                <a:solidFill>
                  <a:srgbClr val="50A14F"/>
                </a:solidFill>
                <a:effectLst/>
                <a:latin typeface="var(--ds-font-family-code)"/>
              </a:rPr>
              <a:t>万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格式化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]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1AFEC3-AE79-4262-3BFE-E3916C5C9B71}"/>
              </a:ext>
            </a:extLst>
          </p:cNvPr>
          <p:cNvSpPr txBox="1"/>
          <p:nvPr/>
        </p:nvSpPr>
        <p:spPr>
          <a:xfrm>
            <a:off x="6991350" y="2120536"/>
            <a:ext cx="4114800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聚合类型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sum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：总和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average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：平均值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max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：最大值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min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：最小值</a:t>
            </a:r>
          </a:p>
        </p:txBody>
      </p:sp>
    </p:spTree>
    <p:extLst>
      <p:ext uri="{BB962C8B-B14F-4D97-AF65-F5344CB8AC3E}">
        <p14:creationId xmlns:p14="http://schemas.microsoft.com/office/powerpoint/2010/main" val="2522324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EEA16-C40C-8B47-568A-98621C07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BD3ED-676C-367F-29AE-88ECA16FC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交互式指标卡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D849D27-25B5-F813-9DA0-15864065E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0563" y="31067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4E25DC-39B5-BAE9-B63C-2273832D09BB}"/>
              </a:ext>
            </a:extLst>
          </p:cNvPr>
          <p:cNvSpPr txBox="1"/>
          <p:nvPr/>
        </p:nvSpPr>
        <p:spPr>
          <a:xfrm>
            <a:off x="669924" y="1225550"/>
            <a:ext cx="4873895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sz="14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sz="1400" b="0" i="0" dirty="0">
                <a:solidFill>
                  <a:srgbClr val="E45649"/>
                </a:solidFill>
                <a:effectLst/>
                <a:latin typeface="var(--ds-font-family-code)"/>
              </a:rPr>
              <a:t>indicator</a:t>
            </a:r>
            <a:r>
              <a:rPr lang="en-US" altLang="zh-CN" sz="1400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sz="14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sz="1400" b="0" i="0" dirty="0">
                <a:solidFill>
                  <a:srgbClr val="E45649"/>
                </a:solidFill>
                <a:effectLst/>
                <a:latin typeface="var(--ds-font-family-code)"/>
              </a:rPr>
              <a:t>visible</a:t>
            </a:r>
            <a:r>
              <a:rPr lang="en-US" altLang="zh-CN" sz="1400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400" b="0" i="0" dirty="0">
                <a:solidFill>
                  <a:srgbClr val="B76B01"/>
                </a:solidFill>
                <a:effectLst/>
                <a:latin typeface="var(--ds-font-family-code)"/>
              </a:rPr>
              <a:t>true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sz="14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sz="1400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sz="1400" b="0" i="1" dirty="0">
                <a:solidFill>
                  <a:srgbClr val="A0A1A7"/>
                </a:solidFill>
                <a:effectLst/>
                <a:latin typeface="var(--ds-font-family-code)"/>
              </a:rPr>
              <a:t>交互触发时更新内容</a:t>
            </a:r>
            <a:endParaRPr lang="zh-CN" altLang="en-US" sz="14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sz="1400" b="0" i="0" dirty="0">
                <a:solidFill>
                  <a:srgbClr val="E45649"/>
                </a:solidFill>
                <a:effectLst/>
                <a:latin typeface="var(--ds-font-family-code)"/>
              </a:rPr>
              <a:t>trigger</a:t>
            </a:r>
            <a:r>
              <a:rPr lang="en-US" altLang="zh-CN" sz="1400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400" b="0" i="0" dirty="0">
                <a:solidFill>
                  <a:srgbClr val="50A14F"/>
                </a:solidFill>
                <a:effectLst/>
                <a:latin typeface="var(--ds-font-family-code)"/>
              </a:rPr>
              <a:t>'hover'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sz="1400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sz="1400" b="0" i="1" dirty="0">
                <a:solidFill>
                  <a:srgbClr val="A0A1A7"/>
                </a:solidFill>
                <a:effectLst/>
                <a:latin typeface="var(--ds-font-family-code)"/>
              </a:rPr>
              <a:t>悬停触发</a:t>
            </a:r>
            <a:endParaRPr lang="zh-CN" altLang="en-US" sz="14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sz="1400" b="0" i="0" dirty="0">
                <a:solidFill>
                  <a:srgbClr val="E45649"/>
                </a:solidFill>
                <a:effectLst/>
                <a:latin typeface="var(--ds-font-family-code)"/>
              </a:rPr>
              <a:t>title</a:t>
            </a:r>
            <a:r>
              <a:rPr lang="en-US" altLang="zh-CN" sz="1400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sz="14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sz="1400" b="0" i="0" dirty="0">
                <a:solidFill>
                  <a:srgbClr val="E45649"/>
                </a:solidFill>
                <a:effectLst/>
                <a:latin typeface="var(--ds-font-family-code)"/>
              </a:rPr>
              <a:t>visible</a:t>
            </a:r>
            <a:r>
              <a:rPr lang="en-US" altLang="zh-CN" sz="1400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400" b="0" i="0" dirty="0">
                <a:solidFill>
                  <a:srgbClr val="B76B01"/>
                </a:solidFill>
                <a:effectLst/>
                <a:latin typeface="var(--ds-font-family-code)"/>
              </a:rPr>
              <a:t>true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sz="14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sz="1400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sz="1400" b="0" i="1" dirty="0">
                <a:solidFill>
                  <a:srgbClr val="A0A1A7"/>
                </a:solidFill>
                <a:effectLst/>
                <a:latin typeface="var(--ds-font-family-code)"/>
              </a:rPr>
              <a:t>动态获取当前悬停扇区数据</a:t>
            </a:r>
            <a:endParaRPr lang="zh-CN" altLang="en-US" sz="14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sz="1400" b="0" i="0" dirty="0">
                <a:solidFill>
                  <a:srgbClr val="4078F2"/>
                </a:solidFill>
                <a:effectLst/>
                <a:latin typeface="var(--ds-font-family-code)"/>
              </a:rPr>
              <a:t>text: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(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datum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)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400" b="0" i="0" dirty="0">
                <a:solidFill>
                  <a:srgbClr val="4078F2"/>
                </a:solidFill>
                <a:effectLst/>
                <a:latin typeface="var(--ds-font-family-code)"/>
              </a:rPr>
              <a:t>=&gt;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400" b="0" i="0" dirty="0" err="1">
                <a:solidFill>
                  <a:srgbClr val="0F1115"/>
                </a:solidFill>
                <a:effectLst/>
                <a:latin typeface="var(--ds-font-family-code)"/>
              </a:rPr>
              <a:t>datum</a:t>
            </a:r>
            <a:r>
              <a:rPr lang="en-US" altLang="zh-CN" sz="1400" b="0" i="0" dirty="0" err="1">
                <a:solidFill>
                  <a:srgbClr val="4078F2"/>
                </a:solidFill>
                <a:effectLst/>
                <a:latin typeface="var(--ds-font-family-code)"/>
              </a:rPr>
              <a:t>?.</a:t>
            </a:r>
            <a:r>
              <a:rPr lang="en-US" altLang="zh-CN" sz="1400" b="0" i="0" dirty="0" err="1">
                <a:solidFill>
                  <a:srgbClr val="0F1115"/>
                </a:solidFill>
                <a:effectLst/>
                <a:latin typeface="var(--ds-font-family-code)"/>
              </a:rPr>
              <a:t>product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400" b="0" i="0" dirty="0">
                <a:solidFill>
                  <a:srgbClr val="4078F2"/>
                </a:solidFill>
                <a:effectLst/>
                <a:latin typeface="var(--ds-font-family-code)"/>
              </a:rPr>
              <a:t>||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400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zh-CN" altLang="en-US" sz="1400" b="0" i="0" dirty="0">
                <a:solidFill>
                  <a:srgbClr val="50A14F"/>
                </a:solidFill>
                <a:effectLst/>
                <a:latin typeface="var(--ds-font-family-code)"/>
              </a:rPr>
              <a:t>总计</a:t>
            </a:r>
            <a:r>
              <a:rPr lang="en-US" altLang="zh-CN" sz="1400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endParaRPr lang="zh-CN" altLang="en-US" sz="14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endParaRPr lang="zh-CN" altLang="en-US" sz="14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sz="1400" b="0" i="0" dirty="0">
                <a:solidFill>
                  <a:srgbClr val="E45649"/>
                </a:solidFill>
                <a:effectLst/>
                <a:latin typeface="var(--ds-font-family-code)"/>
              </a:rPr>
              <a:t>content</a:t>
            </a:r>
            <a:r>
              <a:rPr lang="en-US" altLang="zh-CN" sz="1400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[</a:t>
            </a:r>
            <a:endParaRPr lang="en-US" altLang="zh-CN" sz="14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sz="14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      </a:t>
            </a:r>
            <a:r>
              <a:rPr lang="en-US" altLang="zh-CN" sz="1400" b="0" i="0" dirty="0">
                <a:solidFill>
                  <a:srgbClr val="E45649"/>
                </a:solidFill>
                <a:effectLst/>
                <a:latin typeface="var(--ds-font-family-code)"/>
              </a:rPr>
              <a:t>visible</a:t>
            </a:r>
            <a:r>
              <a:rPr lang="en-US" altLang="zh-CN" sz="1400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400" b="0" i="0" dirty="0">
                <a:solidFill>
                  <a:srgbClr val="B76B01"/>
                </a:solidFill>
                <a:effectLst/>
                <a:latin typeface="var(--ds-font-family-code)"/>
              </a:rPr>
              <a:t>true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sz="14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      </a:t>
            </a:r>
            <a:r>
              <a:rPr lang="en-US" altLang="zh-CN" sz="1400" b="0" i="0" dirty="0">
                <a:solidFill>
                  <a:srgbClr val="4078F2"/>
                </a:solidFill>
                <a:effectLst/>
                <a:latin typeface="var(--ds-font-family-code)"/>
              </a:rPr>
              <a:t>text: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(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datum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)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400" b="0" i="0" dirty="0">
                <a:solidFill>
                  <a:srgbClr val="4078F2"/>
                </a:solidFill>
                <a:effectLst/>
                <a:latin typeface="var(--ds-font-family-code)"/>
              </a:rPr>
              <a:t>=&gt;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sz="14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        </a:t>
            </a:r>
            <a:r>
              <a:rPr lang="en-US" altLang="zh-CN" sz="1400" b="0" i="0" dirty="0">
                <a:solidFill>
                  <a:srgbClr val="A626A4"/>
                </a:solidFill>
                <a:effectLst/>
                <a:latin typeface="var(--ds-font-family-code)"/>
              </a:rPr>
              <a:t>if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(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datum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)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sz="14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          </a:t>
            </a:r>
            <a:r>
              <a:rPr lang="en-US" altLang="zh-CN" sz="1400" b="0" i="0" dirty="0">
                <a:solidFill>
                  <a:srgbClr val="A626A4"/>
                </a:solidFill>
                <a:effectLst/>
                <a:latin typeface="var(--ds-font-family-code)"/>
              </a:rPr>
              <a:t>return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400" b="0" i="0" dirty="0">
                <a:solidFill>
                  <a:srgbClr val="50A14F"/>
                </a:solidFill>
                <a:effectLst/>
                <a:latin typeface="var(--ds-font-family-code)"/>
              </a:rPr>
              <a:t>`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${</a:t>
            </a:r>
            <a:r>
              <a:rPr lang="en-US" altLang="zh-CN" sz="1400" b="0" i="0" dirty="0" err="1">
                <a:solidFill>
                  <a:srgbClr val="0F1115"/>
                </a:solidFill>
                <a:effectLst/>
                <a:latin typeface="var(--ds-font-family-code)"/>
              </a:rPr>
              <a:t>datum</a:t>
            </a:r>
            <a:r>
              <a:rPr lang="en-US" altLang="zh-CN" sz="1400" b="0" i="0" dirty="0" err="1"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lang="en-US" altLang="zh-CN" sz="1400" b="0" i="0" dirty="0" err="1">
                <a:solidFill>
                  <a:srgbClr val="0F1115"/>
                </a:solidFill>
                <a:effectLst/>
                <a:latin typeface="var(--ds-font-family-code)"/>
              </a:rPr>
              <a:t>sales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r>
              <a:rPr lang="zh-CN" altLang="en-US" sz="1400" b="0" i="0" dirty="0">
                <a:solidFill>
                  <a:srgbClr val="50A14F"/>
                </a:solidFill>
                <a:effectLst/>
                <a:latin typeface="var(--ds-font-family-code)"/>
              </a:rPr>
              <a:t>万</a:t>
            </a:r>
            <a:r>
              <a:rPr lang="en-US" altLang="zh-CN" sz="1400" b="0" i="0" dirty="0">
                <a:solidFill>
                  <a:srgbClr val="50A14F"/>
                </a:solidFill>
                <a:effectLst/>
                <a:latin typeface="var(--ds-font-family-code)"/>
              </a:rPr>
              <a:t>`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;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sz="1400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sz="1400" b="0" i="1" dirty="0">
                <a:solidFill>
                  <a:srgbClr val="A0A1A7"/>
                </a:solidFill>
                <a:effectLst/>
                <a:latin typeface="var(--ds-font-family-code)"/>
              </a:rPr>
              <a:t>扇区数据</a:t>
            </a:r>
            <a:endParaRPr lang="zh-CN" altLang="en-US" sz="14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        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zh-CN" altLang="en-US" sz="14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        </a:t>
            </a:r>
            <a:r>
              <a:rPr lang="en-US" altLang="zh-CN" sz="1400" b="0" i="0" dirty="0">
                <a:solidFill>
                  <a:srgbClr val="A626A4"/>
                </a:solidFill>
                <a:effectLst/>
                <a:latin typeface="var(--ds-font-family-code)"/>
              </a:rPr>
              <a:t>return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400" b="0" i="0" dirty="0">
                <a:solidFill>
                  <a:srgbClr val="50A14F"/>
                </a:solidFill>
                <a:effectLst/>
                <a:latin typeface="var(--ds-font-family-code)"/>
              </a:rPr>
              <a:t>'185</a:t>
            </a:r>
            <a:r>
              <a:rPr lang="zh-CN" altLang="en-US" sz="1400" b="0" i="0" dirty="0">
                <a:solidFill>
                  <a:srgbClr val="50A14F"/>
                </a:solidFill>
                <a:effectLst/>
                <a:latin typeface="var(--ds-font-family-code)"/>
              </a:rPr>
              <a:t>万</a:t>
            </a:r>
            <a:r>
              <a:rPr lang="en-US" altLang="zh-CN" sz="1400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;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sz="1400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sz="1400" b="0" i="1" dirty="0">
                <a:solidFill>
                  <a:srgbClr val="A0A1A7"/>
                </a:solidFill>
                <a:effectLst/>
                <a:latin typeface="var(--ds-font-family-code)"/>
              </a:rPr>
              <a:t>总计数据</a:t>
            </a:r>
            <a:endParaRPr lang="zh-CN" altLang="en-US" sz="14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      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zh-CN" altLang="en-US" sz="14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zh-CN" altLang="en-US" sz="14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]</a:t>
            </a:r>
            <a:endParaRPr lang="zh-CN" altLang="en-US" sz="14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sz="1400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zh-CN" altLang="en-US" sz="14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sz="1400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zh-CN" altLang="en-US" sz="1400" b="0" i="0" dirty="0">
              <a:solidFill>
                <a:srgbClr val="0F1115"/>
              </a:solidFill>
              <a:effectLst/>
              <a:latin typeface="var(--ds-font-family-code)"/>
            </a:endParaRPr>
          </a:p>
        </p:txBody>
      </p:sp>
    </p:spTree>
    <p:extLst>
      <p:ext uri="{BB962C8B-B14F-4D97-AF65-F5344CB8AC3E}">
        <p14:creationId xmlns:p14="http://schemas.microsoft.com/office/powerpoint/2010/main" val="13414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07736-06AC-2ADB-FE58-72F336A99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2F24668-3EC2-F535-D4AB-E23CB46DE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嵌套图表</a:t>
            </a:r>
            <a:r>
              <a:rPr lang="en-US" altLang="zh-CN" dirty="0"/>
              <a:t>——</a:t>
            </a:r>
            <a:r>
              <a:rPr lang="zh-CN" altLang="en-US" dirty="0"/>
              <a:t>概念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0BD9A3-4254-29E6-FB17-C3350774C24A}"/>
              </a:ext>
            </a:extLst>
          </p:cNvPr>
          <p:cNvSpPr txBox="1"/>
          <p:nvPr/>
        </p:nvSpPr>
        <p:spPr>
          <a:xfrm>
            <a:off x="669924" y="1332272"/>
            <a:ext cx="6096000" cy="4193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定义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：在同一个图表中嵌套多层圆形图表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常见形式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饼图嵌套饼图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：内层细分类，外层主分类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环图嵌套环图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：多层环形展示多层次数据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适用场景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展示层级结构数据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对比不同层级占比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节省空间，提高信息密度</a:t>
            </a:r>
          </a:p>
        </p:txBody>
      </p:sp>
    </p:spTree>
    <p:extLst>
      <p:ext uri="{BB962C8B-B14F-4D97-AF65-F5344CB8AC3E}">
        <p14:creationId xmlns:p14="http://schemas.microsoft.com/office/powerpoint/2010/main" val="2965933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00F8B-1555-109B-8083-E036CD81F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67BA3-9253-30C3-41CA-2554A61E0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嵌套图表配置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4E96983-151C-3BDC-C154-ECBBFE339BDA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C03213-B9C4-6CA1-9B92-F35FFFCAFE31}"/>
              </a:ext>
            </a:extLst>
          </p:cNvPr>
          <p:cNvSpPr txBox="1"/>
          <p:nvPr/>
        </p:nvSpPr>
        <p:spPr>
          <a:xfrm>
            <a:off x="5699124" y="1028700"/>
            <a:ext cx="6096000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spcBef>
                <a:spcPts val="1200"/>
              </a:spcBef>
              <a:buNone/>
            </a:pPr>
            <a:r>
              <a:rPr lang="en-US" altLang="zh-CN" sz="1200" b="0" i="0" dirty="0">
                <a:solidFill>
                  <a:srgbClr val="E45649"/>
                </a:solidFill>
                <a:effectLst/>
                <a:latin typeface="var(--ds-font-family-code)"/>
              </a:rPr>
              <a:t>data</a:t>
            </a:r>
            <a:r>
              <a:rPr lang="en-US" altLang="zh-CN" sz="1200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>
                <a:solidFill>
                  <a:srgbClr val="383A42"/>
                </a:solidFill>
                <a:effectLst/>
                <a:latin typeface="var(--ds-font-family-code)"/>
              </a:rPr>
              <a:t>[{</a:t>
            </a:r>
            <a:endParaRPr lang="en-US" altLang="zh-CN" sz="12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latinLnBrk="1">
              <a:spcBef>
                <a:spcPts val="1200"/>
              </a:spcBef>
            </a:pPr>
            <a:r>
              <a:rPr lang="en-US" altLang="zh-CN" sz="1200" b="0" i="0" dirty="0">
                <a:solidFill>
                  <a:srgbClr val="E45649"/>
                </a:solidFill>
                <a:effectLst/>
                <a:latin typeface="var(--ds-font-family-code)"/>
              </a:rPr>
              <a:t>values</a:t>
            </a:r>
            <a:r>
              <a:rPr lang="en-US" altLang="zh-CN" sz="1200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 err="1">
                <a:solidFill>
                  <a:srgbClr val="0F1115"/>
                </a:solidFill>
                <a:effectLst/>
                <a:latin typeface="var(--ds-font-family-code)"/>
              </a:rPr>
              <a:t>mainCategoryData</a:t>
            </a:r>
            <a:r>
              <a:rPr lang="en-US" altLang="zh-CN" sz="1200" dirty="0">
                <a:solidFill>
                  <a:srgbClr val="0F1115"/>
                </a:solidFill>
                <a:latin typeface="var(--ds-font-family-code)"/>
              </a:rPr>
              <a:t> </a:t>
            </a:r>
            <a:r>
              <a:rPr lang="en-US" altLang="zh-CN" sz="1200" i="1" dirty="0">
                <a:solidFill>
                  <a:srgbClr val="A0A1A7"/>
                </a:solidFill>
                <a:latin typeface="var(--ds-font-family-code)"/>
              </a:rPr>
              <a:t>// </a:t>
            </a:r>
            <a:r>
              <a:rPr lang="zh-CN" altLang="en-US" sz="1200" i="1" dirty="0">
                <a:solidFill>
                  <a:srgbClr val="A0A1A7"/>
                </a:solidFill>
                <a:latin typeface="var(--ds-font-family-code)"/>
              </a:rPr>
              <a:t>主数据</a:t>
            </a:r>
            <a:endParaRPr lang="en-US" altLang="zh-CN" sz="12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spcBef>
                <a:spcPts val="1200"/>
              </a:spcBef>
              <a:buNone/>
            </a:pP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sz="1200" b="0" i="0" dirty="0"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sz="12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latinLnBrk="1">
              <a:spcBef>
                <a:spcPts val="1200"/>
              </a:spcBef>
            </a:pPr>
            <a:r>
              <a:rPr lang="en-US" altLang="zh-CN" sz="1200" b="0" i="0" dirty="0">
                <a:solidFill>
                  <a:srgbClr val="E45649"/>
                </a:solidFill>
                <a:effectLst/>
                <a:latin typeface="var(--ds-font-family-code)"/>
              </a:rPr>
              <a:t>values</a:t>
            </a:r>
            <a:r>
              <a:rPr lang="en-US" altLang="zh-CN" sz="1200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 err="1">
                <a:solidFill>
                  <a:srgbClr val="0F1115"/>
                </a:solidFill>
                <a:effectLst/>
                <a:latin typeface="var(--ds-font-family-code)"/>
              </a:rPr>
              <a:t>subCategoryData</a:t>
            </a:r>
            <a:r>
              <a:rPr lang="en-US" altLang="zh-CN" sz="1200" dirty="0">
                <a:solidFill>
                  <a:srgbClr val="0F1115"/>
                </a:solidFill>
                <a:latin typeface="var(--ds-font-family-code)"/>
              </a:rPr>
              <a:t> </a:t>
            </a:r>
            <a:r>
              <a:rPr lang="en-US" altLang="zh-CN" sz="1200" i="1" dirty="0">
                <a:solidFill>
                  <a:srgbClr val="A0A1A7"/>
                </a:solidFill>
                <a:latin typeface="var(--ds-font-family-code)"/>
              </a:rPr>
              <a:t>// </a:t>
            </a:r>
            <a:r>
              <a:rPr lang="zh-CN" altLang="en-US" sz="1200" i="1" dirty="0">
                <a:solidFill>
                  <a:srgbClr val="A0A1A7"/>
                </a:solidFill>
                <a:latin typeface="var(--ds-font-family-code)"/>
              </a:rPr>
              <a:t>嵌套数据</a:t>
            </a:r>
            <a:endParaRPr lang="en-US" altLang="zh-CN" sz="12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spcBef>
                <a:spcPts val="1200"/>
              </a:spcBef>
              <a:buNone/>
            </a:pP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sz="1200" b="0" i="0" dirty="0">
                <a:solidFill>
                  <a:srgbClr val="383A42"/>
                </a:solidFill>
                <a:effectLst/>
                <a:latin typeface="var(--ds-font-family-code)"/>
              </a:rPr>
              <a:t>}],</a:t>
            </a:r>
            <a:endParaRPr lang="en-US" altLang="zh-CN" sz="12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spcBef>
                <a:spcPts val="1200"/>
              </a:spcBef>
              <a:buNone/>
            </a:pP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sz="1200" b="0" i="0" dirty="0" err="1">
                <a:solidFill>
                  <a:srgbClr val="E45649"/>
                </a:solidFill>
                <a:effectLst/>
                <a:latin typeface="var(--ds-font-family-code)"/>
              </a:rPr>
              <a:t>categoryField</a:t>
            </a:r>
            <a:r>
              <a:rPr lang="en-US" altLang="zh-CN" sz="1200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>
                <a:solidFill>
                  <a:srgbClr val="50A14F"/>
                </a:solidFill>
                <a:effectLst/>
                <a:latin typeface="var(--ds-font-family-code)"/>
              </a:rPr>
              <a:t>'category'</a:t>
            </a:r>
            <a:r>
              <a:rPr lang="en-US" altLang="zh-CN" sz="1200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sz="12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spcBef>
                <a:spcPts val="1200"/>
              </a:spcBef>
              <a:buNone/>
            </a:pP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sz="1200" b="0" i="0" dirty="0" err="1">
                <a:solidFill>
                  <a:srgbClr val="E45649"/>
                </a:solidFill>
                <a:effectLst/>
                <a:latin typeface="var(--ds-font-family-code)"/>
              </a:rPr>
              <a:t>valueField</a:t>
            </a:r>
            <a:r>
              <a:rPr lang="en-US" altLang="zh-CN" sz="1200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>
                <a:solidFill>
                  <a:srgbClr val="50A14F"/>
                </a:solidFill>
                <a:effectLst/>
                <a:latin typeface="var(--ds-font-family-code)"/>
              </a:rPr>
              <a:t>'value'</a:t>
            </a:r>
            <a:r>
              <a:rPr lang="en-US" altLang="zh-CN" sz="1200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sz="12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spcBef>
                <a:spcPts val="1200"/>
              </a:spcBef>
              <a:buNone/>
            </a:pP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sz="1200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sz="1200" b="0" i="1" dirty="0">
                <a:solidFill>
                  <a:srgbClr val="A0A1A7"/>
                </a:solidFill>
                <a:effectLst/>
                <a:latin typeface="var(--ds-font-family-code)"/>
              </a:rPr>
              <a:t>第一层（内层）配置</a:t>
            </a:r>
            <a:endParaRPr lang="zh-CN" altLang="en-US" sz="12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spcBef>
                <a:spcPts val="1200"/>
              </a:spcBef>
              <a:buNone/>
            </a:pPr>
            <a:r>
              <a:rPr lang="zh-CN" altLang="en-US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sz="1200" b="0" i="0" dirty="0" err="1">
                <a:solidFill>
                  <a:srgbClr val="E45649"/>
                </a:solidFill>
                <a:effectLst/>
                <a:latin typeface="var(--ds-font-family-code)"/>
              </a:rPr>
              <a:t>outerRadius</a:t>
            </a:r>
            <a:r>
              <a:rPr lang="en-US" altLang="zh-CN" sz="1200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>
                <a:solidFill>
                  <a:srgbClr val="B76B01"/>
                </a:solidFill>
                <a:effectLst/>
                <a:latin typeface="var(--ds-font-family-code)"/>
              </a:rPr>
              <a:t>0.5</a:t>
            </a:r>
            <a:r>
              <a:rPr lang="en-US" altLang="zh-CN" sz="1200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   </a:t>
            </a:r>
            <a:r>
              <a:rPr lang="en-US" altLang="zh-CN" sz="1200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sz="1200" b="0" i="1" dirty="0">
                <a:solidFill>
                  <a:srgbClr val="A0A1A7"/>
                </a:solidFill>
                <a:effectLst/>
                <a:latin typeface="var(--ds-font-family-code)"/>
              </a:rPr>
              <a:t>内层半径</a:t>
            </a:r>
            <a:endParaRPr lang="zh-CN" altLang="en-US" sz="12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spcBef>
                <a:spcPts val="1200"/>
              </a:spcBef>
              <a:buNone/>
            </a:pPr>
            <a:r>
              <a:rPr lang="zh-CN" altLang="en-US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sz="1200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sz="1200" b="0" i="1" dirty="0">
                <a:solidFill>
                  <a:srgbClr val="A0A1A7"/>
                </a:solidFill>
                <a:effectLst/>
                <a:latin typeface="var(--ds-font-family-code)"/>
              </a:rPr>
              <a:t>第二层（外层）配置</a:t>
            </a:r>
            <a:endParaRPr lang="zh-CN" altLang="en-US" sz="12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spcBef>
                <a:spcPts val="1200"/>
              </a:spcBef>
              <a:buNone/>
            </a:pPr>
            <a:r>
              <a:rPr lang="zh-CN" altLang="en-US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sz="1200" b="0" i="0" dirty="0">
                <a:solidFill>
                  <a:srgbClr val="E45649"/>
                </a:solidFill>
                <a:effectLst/>
                <a:latin typeface="var(--ds-font-family-code)"/>
              </a:rPr>
              <a:t>series</a:t>
            </a:r>
            <a:r>
              <a:rPr lang="en-US" altLang="zh-CN" sz="1200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>
                <a:solidFill>
                  <a:srgbClr val="383A42"/>
                </a:solidFill>
                <a:effectLst/>
                <a:latin typeface="var(--ds-font-family-code)"/>
              </a:rPr>
              <a:t>[{</a:t>
            </a:r>
            <a:endParaRPr lang="en-US" altLang="zh-CN" sz="12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spcBef>
                <a:spcPts val="1200"/>
              </a:spcBef>
              <a:buNone/>
            </a:pP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sz="1200" b="0" i="0" dirty="0" err="1">
                <a:solidFill>
                  <a:srgbClr val="E45649"/>
                </a:solidFill>
                <a:effectLst/>
                <a:latin typeface="var(--ds-font-family-code)"/>
              </a:rPr>
              <a:t>dataIndex</a:t>
            </a:r>
            <a:r>
              <a:rPr lang="en-US" altLang="zh-CN" sz="1200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>
                <a:solidFill>
                  <a:srgbClr val="B76B01"/>
                </a:solidFill>
                <a:effectLst/>
                <a:latin typeface="var(--ds-font-family-code)"/>
              </a:rPr>
              <a:t>1</a:t>
            </a:r>
            <a:r>
              <a:rPr lang="en-US" altLang="zh-CN" sz="1200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     </a:t>
            </a:r>
            <a:r>
              <a:rPr lang="en-US" altLang="zh-CN" sz="1200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sz="1200" b="0" i="1" dirty="0">
                <a:solidFill>
                  <a:srgbClr val="A0A1A7"/>
                </a:solidFill>
                <a:effectLst/>
                <a:latin typeface="var(--ds-font-family-code)"/>
              </a:rPr>
              <a:t>使用第二个数据集</a:t>
            </a:r>
            <a:endParaRPr lang="zh-CN" altLang="en-US" sz="12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spcBef>
                <a:spcPts val="1200"/>
              </a:spcBef>
              <a:buNone/>
            </a:pPr>
            <a:r>
              <a:rPr lang="zh-CN" altLang="en-US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sz="1200" b="0" i="0" dirty="0" err="1">
                <a:solidFill>
                  <a:srgbClr val="E45649"/>
                </a:solidFill>
                <a:effectLst/>
                <a:latin typeface="var(--ds-font-family-code)"/>
              </a:rPr>
              <a:t>categoryField</a:t>
            </a:r>
            <a:r>
              <a:rPr lang="en-US" altLang="zh-CN" sz="1200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en-US" altLang="zh-CN" sz="1200" b="0" i="0" dirty="0" err="1">
                <a:solidFill>
                  <a:srgbClr val="50A14F"/>
                </a:solidFill>
                <a:effectLst/>
                <a:latin typeface="var(--ds-font-family-code)"/>
              </a:rPr>
              <a:t>subCategory</a:t>
            </a:r>
            <a:r>
              <a:rPr lang="en-US" altLang="zh-CN" sz="1200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en-US" altLang="zh-CN" sz="1200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sz="12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spcBef>
                <a:spcPts val="1200"/>
              </a:spcBef>
              <a:buNone/>
            </a:pP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sz="1200" b="0" i="0" dirty="0" err="1">
                <a:solidFill>
                  <a:srgbClr val="E45649"/>
                </a:solidFill>
                <a:effectLst/>
                <a:latin typeface="var(--ds-font-family-code)"/>
              </a:rPr>
              <a:t>valueField</a:t>
            </a:r>
            <a:r>
              <a:rPr lang="en-US" altLang="zh-CN" sz="1200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>
                <a:solidFill>
                  <a:srgbClr val="50A14F"/>
                </a:solidFill>
                <a:effectLst/>
                <a:latin typeface="var(--ds-font-family-code)"/>
              </a:rPr>
              <a:t>'value'</a:t>
            </a:r>
            <a:r>
              <a:rPr lang="en-US" altLang="zh-CN" sz="1200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endParaRPr lang="en-US" altLang="zh-CN" sz="12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spcBef>
                <a:spcPts val="1200"/>
              </a:spcBef>
              <a:buNone/>
            </a:pP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sz="1200" b="0" i="0" dirty="0" err="1">
                <a:solidFill>
                  <a:srgbClr val="E45649"/>
                </a:solidFill>
                <a:effectLst/>
                <a:latin typeface="var(--ds-font-family-code)"/>
              </a:rPr>
              <a:t>innerRadius</a:t>
            </a:r>
            <a:r>
              <a:rPr lang="en-US" altLang="zh-CN" sz="1200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>
                <a:solidFill>
                  <a:srgbClr val="B76B01"/>
                </a:solidFill>
                <a:effectLst/>
                <a:latin typeface="var(--ds-font-family-code)"/>
              </a:rPr>
              <a:t>0.5</a:t>
            </a:r>
            <a:r>
              <a:rPr lang="en-US" altLang="zh-CN" sz="1200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 </a:t>
            </a:r>
            <a:r>
              <a:rPr lang="en-US" altLang="zh-CN" sz="1200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sz="1200" b="0" i="1" dirty="0">
                <a:solidFill>
                  <a:srgbClr val="A0A1A7"/>
                </a:solidFill>
                <a:effectLst/>
                <a:latin typeface="var(--ds-font-family-code)"/>
              </a:rPr>
              <a:t>从内层边缘开始</a:t>
            </a:r>
            <a:endParaRPr lang="zh-CN" altLang="en-US" sz="12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spcBef>
                <a:spcPts val="1200"/>
              </a:spcBef>
              <a:buNone/>
            </a:pPr>
            <a:r>
              <a:rPr lang="zh-CN" altLang="en-US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sz="1200" b="0" i="0" dirty="0" err="1">
                <a:solidFill>
                  <a:srgbClr val="E45649"/>
                </a:solidFill>
                <a:effectLst/>
                <a:latin typeface="var(--ds-font-family-code)"/>
              </a:rPr>
              <a:t>outerRadius</a:t>
            </a:r>
            <a:r>
              <a:rPr lang="en-US" altLang="zh-CN" sz="1200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sz="1200" b="0" i="0" dirty="0">
                <a:solidFill>
                  <a:srgbClr val="B76B01"/>
                </a:solidFill>
                <a:effectLst/>
                <a:latin typeface="var(--ds-font-family-code)"/>
              </a:rPr>
              <a:t>0.8</a:t>
            </a:r>
            <a:endParaRPr lang="en-US" altLang="zh-CN" sz="1200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spcBef>
                <a:spcPts val="1200"/>
              </a:spcBef>
              <a:buNone/>
            </a:pPr>
            <a:r>
              <a:rPr lang="en-US" altLang="zh-CN" sz="1200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sz="1200" b="0" i="0" dirty="0">
                <a:solidFill>
                  <a:srgbClr val="383A42"/>
                </a:solidFill>
                <a:effectLst/>
                <a:latin typeface="var(--ds-font-family-code)"/>
              </a:rPr>
              <a:t>}]</a:t>
            </a:r>
            <a:br>
              <a:rPr lang="en-US" altLang="zh-CN" sz="1200" dirty="0"/>
            </a:br>
            <a:endParaRPr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25097D-157D-524F-CEB4-4A3C2D2180AC}"/>
              </a:ext>
            </a:extLst>
          </p:cNvPr>
          <p:cNvSpPr txBox="1"/>
          <p:nvPr/>
        </p:nvSpPr>
        <p:spPr>
          <a:xfrm>
            <a:off x="717550" y="1218078"/>
            <a:ext cx="40322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关键点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：通过控制内外半径实现嵌套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0434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C336-D3F7-4DF1-7E18-CC829D56F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34340-8F55-7A2F-1DC1-9B2A2775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纹理填充</a:t>
            </a:r>
            <a:r>
              <a:rPr lang="en-US" altLang="zh-CN" dirty="0"/>
              <a:t>——</a:t>
            </a:r>
            <a:r>
              <a:rPr lang="zh-CN" altLang="en-US" dirty="0"/>
              <a:t>概念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7BE312-4E6A-7364-91ED-DAD25BCAC439}"/>
              </a:ext>
            </a:extLst>
          </p:cNvPr>
          <p:cNvSpPr txBox="1"/>
          <p:nvPr/>
        </p:nvSpPr>
        <p:spPr>
          <a:xfrm>
            <a:off x="669924" y="1269348"/>
            <a:ext cx="6096000" cy="3023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定义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：为图元添加纹理图案，增强视觉区分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作用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黑白打印时区分扇区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色盲友好设计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增强视觉效果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品牌风格统一</a:t>
            </a:r>
          </a:p>
        </p:txBody>
      </p:sp>
    </p:spTree>
    <p:extLst>
      <p:ext uri="{BB962C8B-B14F-4D97-AF65-F5344CB8AC3E}">
        <p14:creationId xmlns:p14="http://schemas.microsoft.com/office/powerpoint/2010/main" val="1479874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225B9-DD51-18C3-2EB1-B4CAB5445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F8968-5DB9-C104-43EC-969C3DD69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纹理类型详解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3A7E51-6ED9-FE0A-C189-883B5D4D910F}"/>
              </a:ext>
            </a:extLst>
          </p:cNvPr>
          <p:cNvSpPr txBox="1"/>
          <p:nvPr/>
        </p:nvSpPr>
        <p:spPr>
          <a:xfrm>
            <a:off x="669924" y="14136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pie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style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texture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'grid'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纹理类型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var(--ds-font-family-code)"/>
              </a:rPr>
              <a:t>textureColor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'#666666'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纹理颜色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var(--ds-font-family-code)"/>
              </a:rPr>
              <a:t>textureSize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8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纹理大小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 err="1">
                <a:solidFill>
                  <a:srgbClr val="E45649"/>
                </a:solidFill>
                <a:effectLst/>
                <a:latin typeface="var(--ds-font-family-code)"/>
              </a:rPr>
              <a:t>texturePadding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2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纹理间距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6133E66-3C08-F8B2-40DE-B39A01826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136129"/>
              </p:ext>
            </p:extLst>
          </p:nvPr>
        </p:nvGraphicFramePr>
        <p:xfrm>
          <a:off x="669924" y="4432299"/>
          <a:ext cx="10850564" cy="2133600"/>
        </p:xfrm>
        <a:graphic>
          <a:graphicData uri="http://schemas.openxmlformats.org/drawingml/2006/table">
            <a:tbl>
              <a:tblPr/>
              <a:tblGrid>
                <a:gridCol w="2475614">
                  <a:extLst>
                    <a:ext uri="{9D8B030D-6E8A-4147-A177-3AD203B41FA5}">
                      <a16:colId xmlns:a16="http://schemas.microsoft.com/office/drawing/2014/main" val="3513116204"/>
                    </a:ext>
                  </a:extLst>
                </a:gridCol>
                <a:gridCol w="2791650">
                  <a:extLst>
                    <a:ext uri="{9D8B030D-6E8A-4147-A177-3AD203B41FA5}">
                      <a16:colId xmlns:a16="http://schemas.microsoft.com/office/drawing/2014/main" val="3197772333"/>
                    </a:ext>
                  </a:extLst>
                </a:gridCol>
                <a:gridCol w="2791650">
                  <a:extLst>
                    <a:ext uri="{9D8B030D-6E8A-4147-A177-3AD203B41FA5}">
                      <a16:colId xmlns:a16="http://schemas.microsoft.com/office/drawing/2014/main" val="1733847453"/>
                    </a:ext>
                  </a:extLst>
                </a:gridCol>
                <a:gridCol w="2791650">
                  <a:extLst>
                    <a:ext uri="{9D8B030D-6E8A-4147-A177-3AD203B41FA5}">
                      <a16:colId xmlns:a16="http://schemas.microsoft.com/office/drawing/2014/main" val="3633129609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>
                          <a:effectLst/>
                        </a:rPr>
                        <a:t>类型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>
                          <a:effectLst/>
                        </a:rPr>
                        <a:t>说明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>
                          <a:effectLst/>
                        </a:rPr>
                        <a:t>类型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>
                          <a:effectLst/>
                        </a:rPr>
                        <a:t>说明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68561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circle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圆形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rect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矩形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869689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dimond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菱形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grid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网格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8215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vertical-line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垂直线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horizontal-line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水平线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2027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bias-lr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左斜线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bias-rl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effectLst/>
                        </a:rPr>
                        <a:t>右斜线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097244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B65A5081-21D6-B532-7626-194D9D286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4" y="3998962"/>
            <a:ext cx="11306176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F1115"/>
                </a:solidFill>
                <a:effectLst/>
                <a:latin typeface="Arial" panose="020B0604020202020204" pitchFamily="34" charset="0"/>
                <a:ea typeface="quote-cjk-patch"/>
              </a:rPr>
              <a:t>TextureType 枚举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F1115"/>
                </a:solidFill>
                <a:effectLst/>
                <a:latin typeface="Arial" panose="020B0604020202020204" pitchFamily="34" charset="0"/>
                <a:ea typeface="quote-cjk-patch"/>
              </a:rPr>
              <a:t>：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476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A420A-B3C7-9E37-34B6-B6C92B34A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B19F7F-78D2-0F7F-ACC5-5A5C9D35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动态纹理配置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E7AAB0-9B00-81C3-11B8-0FF75CAE29DA}"/>
              </a:ext>
            </a:extLst>
          </p:cNvPr>
          <p:cNvSpPr txBox="1"/>
          <p:nvPr/>
        </p:nvSpPr>
        <p:spPr>
          <a:xfrm>
            <a:off x="787400" y="1632794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pie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var(--ds-font-family-code)"/>
              </a:rPr>
              <a:t>style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根据数据动态设置纹理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texture: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(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datum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)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=&gt;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var(--ds-font-family-code)"/>
              </a:rPr>
              <a:t>if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(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datum</a:t>
            </a:r>
            <a:r>
              <a:rPr lang="en-US" altLang="zh-CN" b="0" i="0" dirty="0" err="1"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product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===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zh-CN" altLang="en-US" b="0" i="0" dirty="0">
                <a:solidFill>
                  <a:srgbClr val="50A14F"/>
                </a:solidFill>
                <a:effectLst/>
                <a:latin typeface="var(--ds-font-family-code)"/>
              </a:rPr>
              <a:t>数码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)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var(--ds-font-family-code)"/>
              </a:rPr>
              <a:t>return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'grid'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;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var(--ds-font-family-code)"/>
              </a:rPr>
              <a:t>if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(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datum</a:t>
            </a:r>
            <a:r>
              <a:rPr lang="en-US" altLang="zh-CN" b="0" i="0" dirty="0" err="1"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product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===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zh-CN" altLang="en-US" b="0" i="0" dirty="0">
                <a:solidFill>
                  <a:srgbClr val="50A14F"/>
                </a:solidFill>
                <a:effectLst/>
                <a:latin typeface="var(--ds-font-family-code)"/>
              </a:rPr>
              <a:t>日用品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)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var(--ds-font-family-code)"/>
              </a:rPr>
              <a:t>return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'vertical-line'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;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var(--ds-font-family-code)"/>
              </a:rPr>
              <a:t>if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(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datum</a:t>
            </a:r>
            <a:r>
              <a:rPr lang="en-US" altLang="zh-CN" b="0" i="0" dirty="0" err="1"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product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===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zh-CN" altLang="en-US" b="0" i="0" dirty="0">
                <a:solidFill>
                  <a:srgbClr val="50A14F"/>
                </a:solidFill>
                <a:effectLst/>
                <a:latin typeface="var(--ds-font-family-code)"/>
              </a:rPr>
              <a:t>食品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)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var(--ds-font-family-code)"/>
              </a:rPr>
              <a:t>return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'bias-</a:t>
            </a:r>
            <a:r>
              <a:rPr lang="en-US" altLang="zh-CN" b="0" i="0" dirty="0" err="1">
                <a:solidFill>
                  <a:srgbClr val="50A14F"/>
                </a:solidFill>
                <a:effectLst/>
                <a:latin typeface="var(--ds-font-family-code)"/>
              </a:rPr>
              <a:t>lr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;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var(--ds-font-family-code)"/>
              </a:rPr>
              <a:t>return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'circle'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;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},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var(--ds-font-family-code)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var(--ds-font-family-code)"/>
              </a:rPr>
              <a:t>动态设置纹理颜色</a:t>
            </a: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 err="1">
                <a:solidFill>
                  <a:srgbClr val="4078F2"/>
                </a:solidFill>
                <a:effectLst/>
                <a:latin typeface="var(--ds-font-family-code)"/>
              </a:rPr>
              <a:t>textureColor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(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datum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)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=&gt;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{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var(--ds-font-family-code)"/>
              </a:rPr>
              <a:t>if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(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datum</a:t>
            </a:r>
            <a:r>
              <a:rPr lang="en-US" altLang="zh-CN" b="0" i="0" dirty="0" err="1">
                <a:solidFill>
                  <a:srgbClr val="383A42"/>
                </a:solidFill>
                <a:effectLst/>
                <a:latin typeface="var(--ds-font-family-code)"/>
              </a:rPr>
              <a:t>.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sales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var(--ds-font-family-code)"/>
              </a:rPr>
              <a:t>&gt;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var(--ds-font-family-code)"/>
              </a:rPr>
              <a:t>50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)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var(--ds-font-family-code)"/>
              </a:rPr>
              <a:t>return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'#ff0000'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;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  </a:t>
            </a:r>
            <a:r>
              <a:rPr lang="en-US" altLang="zh-CN" b="0" i="0" dirty="0">
                <a:solidFill>
                  <a:srgbClr val="A626A4"/>
                </a:solidFill>
                <a:effectLst/>
                <a:latin typeface="var(--ds-font-family-code)"/>
              </a:rPr>
              <a:t>return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var(--ds-font-family-code)"/>
              </a:rPr>
              <a:t>'#666666'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;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var(--ds-font-family-code)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D72FEF-4AD2-9983-E12A-AB5461C8C89B}"/>
              </a:ext>
            </a:extLst>
          </p:cNvPr>
          <p:cNvSpPr txBox="1"/>
          <p:nvPr/>
        </p:nvSpPr>
        <p:spPr>
          <a:xfrm>
            <a:off x="669924" y="113098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优势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：根据数据特征差异化设计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9164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FDD32-0A03-BB0C-4FEE-9F330BCD9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BF0CD-E99B-FD26-0A54-03C26F684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综合案例</a:t>
            </a:r>
            <a:r>
              <a:rPr lang="en-US" altLang="zh-CN" dirty="0"/>
              <a:t>——</a:t>
            </a:r>
            <a:r>
              <a:rPr lang="zh-CN" altLang="en-US" dirty="0"/>
              <a:t>销售看板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849ADD-C7BE-02C4-4C47-770CFA57502F}"/>
              </a:ext>
            </a:extLst>
          </p:cNvPr>
          <p:cNvSpPr txBox="1"/>
          <p:nvPr/>
        </p:nvSpPr>
        <p:spPr>
          <a:xfrm>
            <a:off x="669924" y="1333136"/>
            <a:ext cx="6096000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需求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：创建一个销售数据看板，展示：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各产品线销售额占比（环图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+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指标卡显示总额）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各季度销售分布（嵌套环图）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悬停显示详细数据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使用纹理增强区分</a:t>
            </a:r>
          </a:p>
        </p:txBody>
      </p:sp>
    </p:spTree>
    <p:extLst>
      <p:ext uri="{BB962C8B-B14F-4D97-AF65-F5344CB8AC3E}">
        <p14:creationId xmlns:p14="http://schemas.microsoft.com/office/powerpoint/2010/main" val="3415081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B7CDA-793B-C0CD-42CB-68E7A1594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08184A-A72A-628E-D96B-725F82B85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本节回顾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C82131-2D50-AD6D-6E34-6A4E3BF15A0C}"/>
              </a:ext>
            </a:extLst>
          </p:cNvPr>
          <p:cNvSpPr txBox="1"/>
          <p:nvPr/>
        </p:nvSpPr>
        <p:spPr>
          <a:xfrm>
            <a:off x="669924" y="1326932"/>
            <a:ext cx="6096000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已掌握知识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✅ 指标卡组件的静态与动态配置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✅ 嵌套图表的实现原理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✅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8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种纹理类型及应用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✅ 综合图表设计能力</a:t>
            </a:r>
          </a:p>
        </p:txBody>
      </p:sp>
    </p:spTree>
    <p:extLst>
      <p:ext uri="{BB962C8B-B14F-4D97-AF65-F5344CB8AC3E}">
        <p14:creationId xmlns:p14="http://schemas.microsoft.com/office/powerpoint/2010/main" val="212643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</TotalTime>
  <Words>999</Words>
  <Application>Microsoft Office PowerPoint</Application>
  <PresentationFormat>宽屏</PresentationFormat>
  <Paragraphs>203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quote-cjk-patch</vt:lpstr>
      <vt:lpstr>var(--ds-font-family-code)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大纲</vt:lpstr>
      <vt:lpstr>指标卡组件——概念与作用</vt:lpstr>
      <vt:lpstr>指标卡基础配置</vt:lpstr>
      <vt:lpstr>指标卡动态计算</vt:lpstr>
      <vt:lpstr>交互式指标卡</vt:lpstr>
      <vt:lpstr>嵌套图表——概念</vt:lpstr>
      <vt:lpstr>嵌套图表配置</vt:lpstr>
      <vt:lpstr>纹理填充——概念</vt:lpstr>
      <vt:lpstr>纹理类型详解</vt:lpstr>
      <vt:lpstr>动态纹理配置</vt:lpstr>
      <vt:lpstr>综合案例——销售看板</vt:lpstr>
      <vt:lpstr>本节回顾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433</cp:revision>
  <dcterms:created xsi:type="dcterms:W3CDTF">2025-10-28T10:07:16Z</dcterms:created>
  <dcterms:modified xsi:type="dcterms:W3CDTF">2026-03-08T14:28:00Z</dcterms:modified>
</cp:coreProperties>
</file>