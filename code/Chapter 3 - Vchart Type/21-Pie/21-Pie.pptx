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18"/>
  </p:notesMasterIdLst>
  <p:sldIdLst>
    <p:sldId id="262" r:id="rId3"/>
    <p:sldId id="284" r:id="rId4"/>
    <p:sldId id="286" r:id="rId5"/>
    <p:sldId id="303" r:id="rId6"/>
    <p:sldId id="296" r:id="rId7"/>
    <p:sldId id="293" r:id="rId8"/>
    <p:sldId id="294" r:id="rId9"/>
    <p:sldId id="297" r:id="rId10"/>
    <p:sldId id="295" r:id="rId11"/>
    <p:sldId id="300" r:id="rId12"/>
    <p:sldId id="302" r:id="rId13"/>
    <p:sldId id="304" r:id="rId14"/>
    <p:sldId id="305" r:id="rId15"/>
    <p:sldId id="283" r:id="rId16"/>
    <p:sldId id="265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CF908-1C26-48E2-87DA-1AF51B1E776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471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0F666-2BAE-FFA5-93A5-9FF6EEFAB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BC6F21-3D7D-9CA7-F795-AFA9E6734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F22DFE-0AA0-A1F9-B860-0FD41DC635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2467DF-4268-83D0-F907-02F45C732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CF908-1C26-48E2-87DA-1AF51B1E776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552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21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</a:t>
            </a:r>
            <a:r>
              <a:rPr lang="zh-CN" altLang="en-US" dirty="0"/>
              <a:t>饼图与环图基础</a:t>
            </a:r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B2085-6C1E-0D15-1DC2-CA199408F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277A5-6950-9361-2308-058A1A234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AEFE8AB-526D-AFC0-3DD0-D90CC0EBDEB5}"/>
              </a:ext>
            </a:extLst>
          </p:cNvPr>
          <p:cNvSpPr txBox="1"/>
          <p:nvPr/>
        </p:nvSpPr>
        <p:spPr>
          <a:xfrm>
            <a:off x="669924" y="1391915"/>
            <a:ext cx="6096000" cy="105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理解饼图与环图的基本概念与区别</a:t>
            </a:r>
          </a:p>
          <a:p>
            <a:pPr algn="l">
              <a:spcBef>
                <a:spcPts val="450"/>
              </a:spcBef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掌握核心配置项与数据映射</a:t>
            </a:r>
          </a:p>
          <a:p>
            <a:pPr algn="l">
              <a:spcBef>
                <a:spcPts val="450"/>
              </a:spcBef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学会创建基础的饼图和环图</a:t>
            </a:r>
          </a:p>
        </p:txBody>
      </p:sp>
    </p:spTree>
    <p:extLst>
      <p:ext uri="{BB962C8B-B14F-4D97-AF65-F5344CB8AC3E}">
        <p14:creationId xmlns:p14="http://schemas.microsoft.com/office/powerpoint/2010/main" val="2765752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574F7-F2A6-465B-6477-11D587DE4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2DE8E-7BB9-BFB4-F3B8-9EFF709BA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什么是饼图？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BE714B4-E229-EB53-E11D-00980E5A517E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05C38E4-94E2-7BD9-CAF1-E7BBCF4D6C64}"/>
              </a:ext>
            </a:extLst>
          </p:cNvPr>
          <p:cNvSpPr txBox="1"/>
          <p:nvPr/>
        </p:nvSpPr>
        <p:spPr>
          <a:xfrm>
            <a:off x="669923" y="1509765"/>
            <a:ext cx="6094990" cy="4021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定义：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饼图是一个划分为多个扇形的圆形统计图表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用于展示各部分占整体的比例关系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特点：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扇形大小反映数据比例（弧长、圆心角、面积）</a:t>
            </a:r>
          </a:p>
          <a:p>
            <a:pPr marL="742950" lvl="1" indent="-285750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/>
              <a:t>饼图由扇区图元、标签及图例等其他组件构成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所有扇形组合为一个完整的圆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适用场景：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展示分类数据的占比（如：市场份额、年龄分布）</a:t>
            </a:r>
          </a:p>
        </p:txBody>
      </p:sp>
      <p:pic>
        <p:nvPicPr>
          <p:cNvPr id="10" name="图片 9" descr="图表, 饼图, 旭日形&#10;&#10;AI 生成的内容可能不正确。">
            <a:extLst>
              <a:ext uri="{FF2B5EF4-FFF2-40B4-BE49-F238E27FC236}">
                <a16:creationId xmlns:a16="http://schemas.microsoft.com/office/drawing/2014/main" id="{A0AD250C-DC17-7157-397D-F550926CA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789" y="2834035"/>
            <a:ext cx="4769698" cy="281417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768EB0F-E846-3A76-8218-C5DC59ED5612}"/>
              </a:ext>
            </a:extLst>
          </p:cNvPr>
          <p:cNvSpPr txBox="1"/>
          <p:nvPr/>
        </p:nvSpPr>
        <p:spPr>
          <a:xfrm>
            <a:off x="6750789" y="1910705"/>
            <a:ext cx="43282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下图通过饼图和环图嵌套的方式展示了 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Nunito for Arco"/>
              </a:rPr>
              <a:t>2021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年美国人口按年龄分布图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8275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8EE01-59EF-F05A-B83F-6E123B580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F56A71-D185-7DA0-759B-E8C79F243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什么是环图？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F641CDE-D6D1-271A-099C-064A505C5FD5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569337-7DBD-7E20-F92D-3155B295B7C7}"/>
              </a:ext>
            </a:extLst>
          </p:cNvPr>
          <p:cNvSpPr txBox="1"/>
          <p:nvPr/>
        </p:nvSpPr>
        <p:spPr>
          <a:xfrm>
            <a:off x="669923" y="1209788"/>
            <a:ext cx="6094990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定义：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/>
              <a:t>饼图的变体通过挖空中心形成环形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用于展示</a:t>
            </a:r>
            <a:r>
              <a:rPr lang="zh-CN" altLang="en-US" dirty="0"/>
              <a:t>，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各部分占整体的比例关系</a:t>
            </a:r>
          </a:p>
          <a:p>
            <a:pPr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dirty="0"/>
              <a:t>核心配置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endParaRPr lang="en-US" altLang="zh-CN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atinLnBrk="1"/>
            <a:r>
              <a:rPr lang="en-US" altLang="zh-CN" dirty="0" err="1"/>
              <a:t>innerRadius</a:t>
            </a:r>
            <a:r>
              <a:rPr lang="en-US" altLang="zh-CN" dirty="0"/>
              <a:t>: 0.3,  </a:t>
            </a:r>
            <a:r>
              <a:rPr lang="en-US" altLang="zh-CN" i="1" dirty="0"/>
              <a:t>// </a:t>
            </a:r>
            <a:r>
              <a:rPr lang="zh-CN" altLang="en-US" i="1" dirty="0"/>
              <a:t>内半径（</a:t>
            </a:r>
            <a:r>
              <a:rPr lang="en-US" altLang="zh-CN" i="1" dirty="0"/>
              <a:t>0-1</a:t>
            </a:r>
            <a:r>
              <a:rPr lang="zh-CN" altLang="en-US" i="1" dirty="0"/>
              <a:t>之间的比例）</a:t>
            </a:r>
            <a:endParaRPr lang="zh-CN" altLang="en-US" dirty="0"/>
          </a:p>
          <a:p>
            <a:pPr latinLnBrk="1"/>
            <a:r>
              <a:rPr lang="en-US" altLang="zh-CN" dirty="0" err="1"/>
              <a:t>outerRadius</a:t>
            </a:r>
            <a:r>
              <a:rPr lang="en-US" altLang="zh-CN" dirty="0"/>
              <a:t>: 0.8   </a:t>
            </a:r>
            <a:r>
              <a:rPr lang="en-US" altLang="zh-CN" i="1" dirty="0"/>
              <a:t>// </a:t>
            </a:r>
            <a:r>
              <a:rPr lang="zh-CN" altLang="en-US" i="1" dirty="0"/>
              <a:t>外半径</a:t>
            </a:r>
            <a:endParaRPr lang="zh-CN" altLang="en-US" dirty="0"/>
          </a:p>
          <a:p>
            <a:pPr>
              <a:spcBef>
                <a:spcPts val="450"/>
              </a:spcBef>
              <a:spcAft>
                <a:spcPts val="600"/>
              </a:spcAft>
            </a:pP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10" name="图片 9" descr="图表, 饼图, 旭日形&#10;&#10;AI 生成的内容可能不正确。">
            <a:extLst>
              <a:ext uri="{FF2B5EF4-FFF2-40B4-BE49-F238E27FC236}">
                <a16:creationId xmlns:a16="http://schemas.microsoft.com/office/drawing/2014/main" id="{C5EBDF08-82EB-98BA-649E-0BCE6FE91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789" y="2834035"/>
            <a:ext cx="4769698" cy="281417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8CE12A5-DD1D-0A80-9E39-D30613B3655D}"/>
              </a:ext>
            </a:extLst>
          </p:cNvPr>
          <p:cNvSpPr txBox="1"/>
          <p:nvPr/>
        </p:nvSpPr>
        <p:spPr>
          <a:xfrm>
            <a:off x="6750789" y="1910705"/>
            <a:ext cx="43282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下图通过饼图和环图嵌套的方式展示了 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Nunito for Arco"/>
              </a:rPr>
              <a:t>2021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年美国人口按年龄分布图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FEF7CE-E501-1B71-67CF-903E7E6DD178}"/>
              </a:ext>
            </a:extLst>
          </p:cNvPr>
          <p:cNvSpPr txBox="1"/>
          <p:nvPr/>
        </p:nvSpPr>
        <p:spPr>
          <a:xfrm>
            <a:off x="707807" y="3727832"/>
            <a:ext cx="609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环图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vs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饼图：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483D8E5-F245-9E2F-A35B-0863E3F49BA4}"/>
              </a:ext>
            </a:extLst>
          </p:cNvPr>
          <p:cNvSpPr txBox="1"/>
          <p:nvPr/>
        </p:nvSpPr>
        <p:spPr>
          <a:xfrm>
            <a:off x="707807" y="4208078"/>
            <a:ext cx="6094990" cy="53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zh-CN" altLang="en-US" b="0" dirty="0">
                <a:solidFill>
                  <a:srgbClr val="0F1115"/>
                </a:solidFill>
                <a:effectLst/>
                <a:latin typeface="Menlo"/>
              </a:rPr>
              <a:t>饼图：扇形从圆心开始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b="0" dirty="0">
                <a:solidFill>
                  <a:srgbClr val="0F1115"/>
                </a:solidFill>
                <a:effectLst/>
                <a:latin typeface="Menlo"/>
              </a:rPr>
              <a:t>环图：扇形从内圈开始，形成环形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DFD175D-7CCF-2291-234B-6DDC82CB5FDF}"/>
              </a:ext>
            </a:extLst>
          </p:cNvPr>
          <p:cNvSpPr txBox="1"/>
          <p:nvPr/>
        </p:nvSpPr>
        <p:spPr>
          <a:xfrm>
            <a:off x="669923" y="4885231"/>
            <a:ext cx="6094990" cy="1751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优势：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中心空间可放置关键信息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视觉层次更丰富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适合多层数据嵌套展示</a:t>
            </a:r>
          </a:p>
        </p:txBody>
      </p:sp>
    </p:spTree>
    <p:extLst>
      <p:ext uri="{BB962C8B-B14F-4D97-AF65-F5344CB8AC3E}">
        <p14:creationId xmlns:p14="http://schemas.microsoft.com/office/powerpoint/2010/main" val="2756737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E808E-BE2A-D38A-0A07-84B9F8DAA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9DE32-EF03-E2AD-9A46-0FD5CB786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图表构成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D8B4BDB-8D8B-302B-E7AF-0A56A94A6C15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8C1594A-059A-0866-145F-BBA62C2CF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395201"/>
              </p:ext>
            </p:extLst>
          </p:nvPr>
        </p:nvGraphicFramePr>
        <p:xfrm>
          <a:off x="669924" y="1528127"/>
          <a:ext cx="10850564" cy="2560320"/>
        </p:xfrm>
        <a:graphic>
          <a:graphicData uri="http://schemas.openxmlformats.org/drawingml/2006/table">
            <a:tbl>
              <a:tblPr/>
              <a:tblGrid>
                <a:gridCol w="2475614">
                  <a:extLst>
                    <a:ext uri="{9D8B030D-6E8A-4147-A177-3AD203B41FA5}">
                      <a16:colId xmlns:a16="http://schemas.microsoft.com/office/drawing/2014/main" val="1381239369"/>
                    </a:ext>
                  </a:extLst>
                </a:gridCol>
                <a:gridCol w="2791650">
                  <a:extLst>
                    <a:ext uri="{9D8B030D-6E8A-4147-A177-3AD203B41FA5}">
                      <a16:colId xmlns:a16="http://schemas.microsoft.com/office/drawing/2014/main" val="1600685723"/>
                    </a:ext>
                  </a:extLst>
                </a:gridCol>
                <a:gridCol w="2791650">
                  <a:extLst>
                    <a:ext uri="{9D8B030D-6E8A-4147-A177-3AD203B41FA5}">
                      <a16:colId xmlns:a16="http://schemas.microsoft.com/office/drawing/2014/main" val="173739450"/>
                    </a:ext>
                  </a:extLst>
                </a:gridCol>
                <a:gridCol w="2791650">
                  <a:extLst>
                    <a:ext uri="{9D8B030D-6E8A-4147-A177-3AD203B41FA5}">
                      <a16:colId xmlns:a16="http://schemas.microsoft.com/office/drawing/2014/main" val="2386654438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>
                          <a:effectLst/>
                        </a:rPr>
                        <a:t>构成元素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>
                          <a:effectLst/>
                        </a:rPr>
                        <a:t>饼图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>
                          <a:effectLst/>
                        </a:rPr>
                        <a:t>环图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>
                          <a:effectLst/>
                        </a:rPr>
                        <a:t>作用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97997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b="1">
                          <a:effectLst/>
                        </a:rPr>
                        <a:t>扇区图元</a:t>
                      </a:r>
                      <a:endParaRPr lang="zh-CN" altLang="en-US" sz="1800">
                        <a:effectLst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✅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✅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表示数据的图形区域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849836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b="1">
                          <a:effectLst/>
                        </a:rPr>
                        <a:t>标签</a:t>
                      </a:r>
                      <a:endParaRPr lang="zh-CN" altLang="en-US" sz="1800">
                        <a:effectLst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✅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✅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显示类别名称</a:t>
                      </a:r>
                      <a:r>
                        <a:rPr lang="en-US" altLang="zh-CN" sz="1800">
                          <a:effectLst/>
                        </a:rPr>
                        <a:t>/</a:t>
                      </a:r>
                      <a:r>
                        <a:rPr lang="zh-CN" altLang="en-US" sz="1800">
                          <a:effectLst/>
                        </a:rPr>
                        <a:t>数值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278501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b="1">
                          <a:effectLst/>
                        </a:rPr>
                        <a:t>图例</a:t>
                      </a:r>
                      <a:endParaRPr lang="zh-CN" altLang="en-US" sz="1800">
                        <a:effectLst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✅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✅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解释颜色对应的类别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99650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b="1">
                          <a:effectLst/>
                        </a:rPr>
                        <a:t>指标卡</a:t>
                      </a:r>
                      <a:endParaRPr lang="zh-CN" altLang="en-US" sz="1800">
                        <a:effectLst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❌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✅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环心展示总计</a:t>
                      </a:r>
                      <a:r>
                        <a:rPr lang="en-US" altLang="zh-CN" sz="1800">
                          <a:effectLst/>
                        </a:rPr>
                        <a:t>/</a:t>
                      </a:r>
                      <a:r>
                        <a:rPr lang="zh-CN" altLang="en-US" sz="1800">
                          <a:effectLst/>
                        </a:rPr>
                        <a:t>交互信息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8742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b="1">
                          <a:effectLst/>
                        </a:rPr>
                        <a:t>提示信息</a:t>
                      </a:r>
                      <a:endParaRPr lang="zh-CN" altLang="en-US" sz="1800">
                        <a:effectLst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✅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✅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effectLst/>
                        </a:rPr>
                        <a:t>悬停显示详细数据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6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2324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EEA16-C40C-8B47-568A-98621C07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BBD3ED-676C-367F-29AE-88ECA16FC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核心配置项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D849D27-25B5-F813-9DA0-15864065E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0563" y="31067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2668D9B-C42B-EC80-F3C6-089BBC206AD3}"/>
              </a:ext>
            </a:extLst>
          </p:cNvPr>
          <p:cNvSpPr txBox="1"/>
          <p:nvPr/>
        </p:nvSpPr>
        <p:spPr>
          <a:xfrm>
            <a:off x="669924" y="1381542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b="0" i="1" dirty="0">
                <a:solidFill>
                  <a:srgbClr val="FF0000"/>
                </a:solidFill>
                <a:effectLst/>
                <a:latin typeface="var(--ds-font-family-code)"/>
              </a:rPr>
              <a:t>必需配置</a:t>
            </a:r>
            <a:endParaRPr lang="zh-CN" altLang="en-US" b="0" i="0" dirty="0">
              <a:solidFill>
                <a:srgbClr val="FF0000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type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'pie'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   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图表类型（饼图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环图都用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pie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）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data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[{}],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    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数据源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 err="1">
                <a:solidFill>
                  <a:srgbClr val="E45649"/>
                </a:solidFill>
                <a:effectLst/>
                <a:latin typeface="var(--ds-font-family-code)"/>
              </a:rPr>
              <a:t>categoryField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'product'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分类字段（映射扇区）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 err="1">
                <a:solidFill>
                  <a:srgbClr val="E45649"/>
                </a:solidFill>
                <a:effectLst/>
                <a:latin typeface="var(--ds-font-family-code)"/>
              </a:rPr>
              <a:t>valueField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'sales'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数值字段（映射角度）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环图特有配置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 err="1">
                <a:solidFill>
                  <a:srgbClr val="E45649"/>
                </a:solidFill>
                <a:effectLst/>
                <a:latin typeface="var(--ds-font-family-code)"/>
              </a:rPr>
              <a:t>innerRadius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0.6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内半径（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0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为饼图，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&gt;0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为环图）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 err="1">
                <a:solidFill>
                  <a:srgbClr val="E45649"/>
                </a:solidFill>
                <a:effectLst/>
                <a:latin typeface="var(--ds-font-family-code)"/>
              </a:rPr>
              <a:t>outerRadius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1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外半径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可选配置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legends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visible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true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},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label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visible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true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D1830F5-EA07-5D4A-E989-4BF98541CEFB}"/>
              </a:ext>
            </a:extLst>
          </p:cNvPr>
          <p:cNvSpPr txBox="1"/>
          <p:nvPr/>
        </p:nvSpPr>
        <p:spPr>
          <a:xfrm>
            <a:off x="6369050" y="2006987"/>
            <a:ext cx="53149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424E66"/>
                </a:solidFill>
                <a:effectLst/>
                <a:latin typeface="Menlo"/>
              </a:rPr>
              <a:t>data: [ { name: 'bar', values: [ { product: '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Menlo"/>
              </a:rPr>
              <a:t>数码产品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Menlo"/>
              </a:rPr>
              <a:t>', sales: 20 }, { product: '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Menlo"/>
              </a:rPr>
              <a:t>日用品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Menlo"/>
              </a:rPr>
              <a:t>', sales: 50 }, { product: '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Menlo"/>
              </a:rPr>
              <a:t>食品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Menlo"/>
              </a:rPr>
              <a:t>', sales: 80 } ] } ];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2DFCE8F-8101-70A7-26CA-0EC24DF8D8A8}"/>
              </a:ext>
            </a:extLst>
          </p:cNvPr>
          <p:cNvSpPr txBox="1"/>
          <p:nvPr/>
        </p:nvSpPr>
        <p:spPr>
          <a:xfrm>
            <a:off x="6324600" y="1573252"/>
            <a:ext cx="6096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一组产品类别和销售额的数据定义如下：</a:t>
            </a:r>
          </a:p>
          <a:p>
            <a:pPr>
              <a:buNone/>
            </a:pPr>
            <a:br>
              <a:rPr lang="zh-CN" altLang="en-US" b="0" i="0" dirty="0">
                <a:solidFill>
                  <a:srgbClr val="24292F"/>
                </a:solidFill>
                <a:effectLst/>
                <a:latin typeface="Menlo"/>
              </a:rPr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14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07736-06AC-2ADB-FE58-72F336A99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82F24668-3EC2-F535-D4AB-E23CB46DE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数据结构与映射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B65EAFD-6D8D-AD13-64A7-94EBC9243800}"/>
              </a:ext>
            </a:extLst>
          </p:cNvPr>
          <p:cNvSpPr txBox="1"/>
          <p:nvPr/>
        </p:nvSpPr>
        <p:spPr>
          <a:xfrm>
            <a:off x="669924" y="1150491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标准数据结构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>
              <a:buNone/>
            </a:pP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CB316A5-EF98-FF2A-F68D-495218783D17}"/>
              </a:ext>
            </a:extLst>
          </p:cNvPr>
          <p:cNvSpPr txBox="1"/>
          <p:nvPr/>
        </p:nvSpPr>
        <p:spPr>
          <a:xfrm>
            <a:off x="793750" y="1758087"/>
            <a:ext cx="42989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[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"product"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"</a:t>
            </a:r>
            <a:r>
              <a:rPr lang="zh-CN" altLang="en-US" b="0" i="0" dirty="0">
                <a:solidFill>
                  <a:srgbClr val="50A14F"/>
                </a:solidFill>
                <a:effectLst/>
                <a:latin typeface="var(--ds-font-family-code)"/>
              </a:rPr>
              <a:t>数码产品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"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"sales"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20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},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"product"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"</a:t>
            </a:r>
            <a:r>
              <a:rPr lang="zh-CN" altLang="en-US" b="0" i="0" dirty="0">
                <a:solidFill>
                  <a:srgbClr val="50A14F"/>
                </a:solidFill>
                <a:effectLst/>
                <a:latin typeface="var(--ds-font-family-code)"/>
              </a:rPr>
              <a:t>日用品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"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"sales"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50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},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"product"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"</a:t>
            </a:r>
            <a:r>
              <a:rPr lang="zh-CN" altLang="en-US" b="0" i="0" dirty="0">
                <a:solidFill>
                  <a:srgbClr val="50A14F"/>
                </a:solidFill>
                <a:effectLst/>
                <a:latin typeface="var(--ds-font-family-code)"/>
              </a:rPr>
              <a:t>食品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"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"sales"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80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},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"product"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"</a:t>
            </a:r>
            <a:r>
              <a:rPr lang="zh-CN" altLang="en-US" b="0" i="0" dirty="0">
                <a:solidFill>
                  <a:srgbClr val="50A14F"/>
                </a:solidFill>
                <a:effectLst/>
                <a:latin typeface="var(--ds-font-family-code)"/>
              </a:rPr>
              <a:t>服装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"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"sales"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35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]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0751837-44CE-1750-289D-789562FA4823}"/>
              </a:ext>
            </a:extLst>
          </p:cNvPr>
          <p:cNvSpPr txBox="1"/>
          <p:nvPr/>
        </p:nvSpPr>
        <p:spPr>
          <a:xfrm>
            <a:off x="5784850" y="1332555"/>
            <a:ext cx="6096000" cy="2033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字段映射关系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categoryField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: "product"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→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决定有几个扇区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valueField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: "sales"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→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决定每个扇区的角度大小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计算公式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：扇区角度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= (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该值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/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总和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) × 360°</a:t>
            </a:r>
          </a:p>
        </p:txBody>
      </p:sp>
    </p:spTree>
    <p:extLst>
      <p:ext uri="{BB962C8B-B14F-4D97-AF65-F5344CB8AC3E}">
        <p14:creationId xmlns:p14="http://schemas.microsoft.com/office/powerpoint/2010/main" val="2965933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00F8B-1555-109B-8083-E036CD81F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067BA3-9253-30C3-41CA-2554A61E0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基础饼图示例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4E96983-151C-3BDC-C154-ECBBFE339BDA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CE2E54-BDF6-D3CB-48EF-8011EF8F9840}"/>
              </a:ext>
            </a:extLst>
          </p:cNvPr>
          <p:cNvSpPr txBox="1"/>
          <p:nvPr/>
        </p:nvSpPr>
        <p:spPr>
          <a:xfrm>
            <a:off x="793750" y="1373341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altLang="zh-CN" b="0" i="0" dirty="0">
                <a:solidFill>
                  <a:srgbClr val="A626A4"/>
                </a:solidFill>
                <a:effectLst/>
                <a:latin typeface="var(--ds-font-family-code)"/>
              </a:rPr>
              <a:t>const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pieChart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=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type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'pie'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data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[{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values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[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product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</a:t>
            </a:r>
            <a:r>
              <a:rPr lang="zh-CN" altLang="en-US" b="0" i="0" dirty="0">
                <a:solidFill>
                  <a:srgbClr val="50A14F"/>
                </a:solidFill>
                <a:effectLst/>
                <a:latin typeface="var(--ds-font-family-code)"/>
              </a:rPr>
              <a:t>数码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sales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20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},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product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</a:t>
            </a:r>
            <a:r>
              <a:rPr lang="zh-CN" altLang="en-US" b="0" i="0" dirty="0">
                <a:solidFill>
                  <a:srgbClr val="50A14F"/>
                </a:solidFill>
                <a:effectLst/>
                <a:latin typeface="var(--ds-font-family-code)"/>
              </a:rPr>
              <a:t>日用品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sales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50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},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product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</a:t>
            </a:r>
            <a:r>
              <a:rPr lang="zh-CN" altLang="en-US" b="0" i="0" dirty="0">
                <a:solidFill>
                  <a:srgbClr val="50A14F"/>
                </a:solidFill>
                <a:effectLst/>
                <a:latin typeface="var(--ds-font-family-code)"/>
              </a:rPr>
              <a:t>食品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sales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80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]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}],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 err="1">
                <a:solidFill>
                  <a:srgbClr val="E45649"/>
                </a:solidFill>
                <a:effectLst/>
                <a:latin typeface="var(--ds-font-family-code)"/>
              </a:rPr>
              <a:t>categoryField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'product'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 err="1">
                <a:solidFill>
                  <a:srgbClr val="E45649"/>
                </a:solidFill>
                <a:effectLst/>
                <a:latin typeface="var(--ds-font-family-code)"/>
              </a:rPr>
              <a:t>valueField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'sales'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label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visible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true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显示标签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legends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visible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true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显示图例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};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969A27-E985-22CA-7F30-84965EACA9B3}"/>
              </a:ext>
            </a:extLst>
          </p:cNvPr>
          <p:cNvSpPr txBox="1"/>
          <p:nvPr/>
        </p:nvSpPr>
        <p:spPr>
          <a:xfrm>
            <a:off x="793750" y="55400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关键点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：未设置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innerRadius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，默认为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0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（实心饼图）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0434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AC336-D3F7-4DF1-7E18-CC829D56F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34340-8F55-7A2F-1DC1-9B2A2775F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基础环图示例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530499B-945B-6630-1066-D2814956DEDB}"/>
              </a:ext>
            </a:extLst>
          </p:cNvPr>
          <p:cNvSpPr txBox="1"/>
          <p:nvPr/>
        </p:nvSpPr>
        <p:spPr>
          <a:xfrm>
            <a:off x="669924" y="16525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altLang="zh-CN" b="0" i="0" dirty="0">
                <a:solidFill>
                  <a:srgbClr val="A626A4"/>
                </a:solidFill>
                <a:effectLst/>
                <a:latin typeface="var(--ds-font-family-code)"/>
              </a:rPr>
              <a:t>const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ringChart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=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type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'pie'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注意：类型仍是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pie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data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[{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values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salesData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}],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 err="1">
                <a:solidFill>
                  <a:srgbClr val="E45649"/>
                </a:solidFill>
                <a:effectLst/>
                <a:latin typeface="var(--ds-font-family-code)"/>
              </a:rPr>
              <a:t>categoryField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'product'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 err="1">
                <a:solidFill>
                  <a:srgbClr val="E45649"/>
                </a:solidFill>
                <a:effectLst/>
                <a:latin typeface="var(--ds-font-family-code)"/>
              </a:rPr>
              <a:t>valueField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'sales'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 err="1">
                <a:solidFill>
                  <a:srgbClr val="E45649"/>
                </a:solidFill>
                <a:effectLst/>
                <a:latin typeface="var(--ds-font-family-code)"/>
              </a:rPr>
              <a:t>innerRadius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0.2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设置内半径，饼图变环图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label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visible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true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};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01489B6-F3FF-761B-FDF8-CB53ECFF4E1B}"/>
              </a:ext>
            </a:extLst>
          </p:cNvPr>
          <p:cNvSpPr txBox="1"/>
          <p:nvPr/>
        </p:nvSpPr>
        <p:spPr>
          <a:xfrm>
            <a:off x="669924" y="4196547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关键点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quote-cjk-patch"/>
              </a:rPr>
              <a:t>只需添加</a:t>
            </a:r>
            <a:r>
              <a:rPr lang="en-US" altLang="zh-CN" b="0" i="0" dirty="0" err="1">
                <a:solidFill>
                  <a:srgbClr val="FF0000"/>
                </a:solidFill>
                <a:effectLst/>
                <a:latin typeface="var(--ds-font-family-code)"/>
              </a:rPr>
              <a:t>innerRadius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quote-cjk-patch"/>
              </a:rPr>
              <a:t>配置，饼图即变环图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CN" b="1" i="0" dirty="0" err="1">
                <a:solidFill>
                  <a:srgbClr val="0F1115"/>
                </a:solidFill>
                <a:effectLst/>
                <a:latin typeface="quote-cjk-patch"/>
              </a:rPr>
              <a:t>innerRadius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取值范围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0-1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，相对半径比例</a:t>
            </a:r>
          </a:p>
        </p:txBody>
      </p:sp>
    </p:spTree>
    <p:extLst>
      <p:ext uri="{BB962C8B-B14F-4D97-AF65-F5344CB8AC3E}">
        <p14:creationId xmlns:p14="http://schemas.microsoft.com/office/powerpoint/2010/main" val="1479874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225B9-DD51-18C3-2EB1-B4CAB5445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F8968-5DB9-C104-43EC-969C3DD69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标签配置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F28DFAA-370C-FE6A-066C-08471F80FB1D}"/>
              </a:ext>
            </a:extLst>
          </p:cNvPr>
          <p:cNvSpPr txBox="1"/>
          <p:nvPr/>
        </p:nvSpPr>
        <p:spPr>
          <a:xfrm>
            <a:off x="669924" y="1271141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为什么饼图需要标签？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——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因为没有坐标轴</a:t>
            </a:r>
          </a:p>
          <a:p>
            <a:pPr>
              <a:buNone/>
            </a:pP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545033-C3A3-065B-1B44-0A04FA93C34A}"/>
              </a:ext>
            </a:extLst>
          </p:cNvPr>
          <p:cNvSpPr txBox="1"/>
          <p:nvPr/>
        </p:nvSpPr>
        <p:spPr>
          <a:xfrm>
            <a:off x="669924" y="1678791"/>
            <a:ext cx="553402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label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visible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true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position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'outside'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标签位置：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outside/inside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style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0" dirty="0" err="1">
                <a:solidFill>
                  <a:srgbClr val="E45649"/>
                </a:solidFill>
                <a:effectLst/>
                <a:latin typeface="var(--ds-font-family-code)"/>
              </a:rPr>
              <a:t>fontSize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12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fill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‘reds'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},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line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           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引导线配置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visible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true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0" dirty="0" err="1">
                <a:solidFill>
                  <a:srgbClr val="E45649"/>
                </a:solidFill>
                <a:effectLst/>
                <a:latin typeface="var(--ds-font-family-code)"/>
              </a:rPr>
              <a:t>lineWidth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1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B0633D-124C-7945-741B-BB05ABA5CE6D}"/>
              </a:ext>
            </a:extLst>
          </p:cNvPr>
          <p:cNvSpPr txBox="1"/>
          <p:nvPr/>
        </p:nvSpPr>
        <p:spPr>
          <a:xfrm>
            <a:off x="6305550" y="1678791"/>
            <a:ext cx="5156200" cy="1449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标签类型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内部标签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：简洁，适合扇区较大时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外部标签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+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引导线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：清晰，避免遮挡</a:t>
            </a:r>
          </a:p>
        </p:txBody>
      </p:sp>
    </p:spTree>
    <p:extLst>
      <p:ext uri="{BB962C8B-B14F-4D97-AF65-F5344CB8AC3E}">
        <p14:creationId xmlns:p14="http://schemas.microsoft.com/office/powerpoint/2010/main" val="783476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A420A-B3C7-9E37-34B6-B6C92B34A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B19F7F-78D2-0F7F-ACC5-5A5C9D35B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图例配置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E1C4217-C608-9D16-419C-F6F031D1BB54}"/>
              </a:ext>
            </a:extLst>
          </p:cNvPr>
          <p:cNvSpPr txBox="1"/>
          <p:nvPr/>
        </p:nvSpPr>
        <p:spPr>
          <a:xfrm>
            <a:off x="669924" y="2021185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legends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visible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true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orient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'right'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  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位置：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top/bottom/left/right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title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visible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true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text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</a:t>
            </a:r>
            <a:r>
              <a:rPr lang="zh-CN" altLang="en-US" b="0" i="0" dirty="0">
                <a:solidFill>
                  <a:srgbClr val="50A14F"/>
                </a:solidFill>
                <a:effectLst/>
                <a:latin typeface="var(--ds-font-family-code)"/>
              </a:rPr>
              <a:t>产品类别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},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item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style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  </a:t>
            </a:r>
            <a:r>
              <a:rPr lang="en-US" altLang="zh-CN" b="0" i="0" dirty="0" err="1">
                <a:solidFill>
                  <a:srgbClr val="E45649"/>
                </a:solidFill>
                <a:effectLst/>
                <a:latin typeface="var(--ds-font-family-code)"/>
              </a:rPr>
              <a:t>fontSize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12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EE83F40-3737-AAA7-C008-C7BE40ECAC96}"/>
              </a:ext>
            </a:extLst>
          </p:cNvPr>
          <p:cNvSpPr txBox="1"/>
          <p:nvPr/>
        </p:nvSpPr>
        <p:spPr>
          <a:xfrm>
            <a:off x="669924" y="1229135"/>
            <a:ext cx="100002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图例作用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：当标签无法展示所有信息时，图例提供颜色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-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类别对应关系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9164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FDD32-0A03-BB0C-4FEE-9F330BCD9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1BF0CD-E99B-FD26-0A54-03C26F684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基础练习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651B937-A5B8-EF5D-B33F-B51F62D88ADE}"/>
              </a:ext>
            </a:extLst>
          </p:cNvPr>
          <p:cNvSpPr txBox="1"/>
          <p:nvPr/>
        </p:nvSpPr>
        <p:spPr>
          <a:xfrm>
            <a:off x="669924" y="1229135"/>
            <a:ext cx="10000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任务</a:t>
            </a:r>
            <a:r>
              <a:rPr lang="zh-CN" altLang="en-US" dirty="0"/>
              <a:t>：创建一个公司年度预算占比图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D1A7FA9-AC3A-72A5-6478-1961B4BDE65C}"/>
              </a:ext>
            </a:extLst>
          </p:cNvPr>
          <p:cNvSpPr txBox="1"/>
          <p:nvPr/>
        </p:nvSpPr>
        <p:spPr>
          <a:xfrm>
            <a:off x="669924" y="1881025"/>
            <a:ext cx="6094926" cy="293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要求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分别创建饼图和环图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饼图使用外部标签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环图使用外部标签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+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引导线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添加图例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在上方</a:t>
            </a:r>
            <a:endParaRPr lang="en-US" altLang="zh-CN" dirty="0">
              <a:solidFill>
                <a:srgbClr val="0F1115"/>
              </a:solidFill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标签格式为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xxx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部门：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xxx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万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C252CE9-BA83-906F-0388-69DC5D75343D}"/>
              </a:ext>
            </a:extLst>
          </p:cNvPr>
          <p:cNvSpPr txBox="1"/>
          <p:nvPr/>
        </p:nvSpPr>
        <p:spPr>
          <a:xfrm>
            <a:off x="669924" y="4965269"/>
            <a:ext cx="609600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对比思考</a:t>
            </a:r>
          </a:p>
          <a:p>
            <a:pPr algn="l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哪种图表更适合这个场景？为什么？</a:t>
            </a:r>
          </a:p>
        </p:txBody>
      </p:sp>
    </p:spTree>
    <p:extLst>
      <p:ext uri="{BB962C8B-B14F-4D97-AF65-F5344CB8AC3E}">
        <p14:creationId xmlns:p14="http://schemas.microsoft.com/office/powerpoint/2010/main" val="3415081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B7CDA-793B-C0CD-42CB-68E7A1594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08184A-A72A-628E-D96B-725F82B85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本节回顾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3A6A61B-0D38-0CD5-DF8C-838373096CFC}"/>
              </a:ext>
            </a:extLst>
          </p:cNvPr>
          <p:cNvSpPr txBox="1"/>
          <p:nvPr/>
        </p:nvSpPr>
        <p:spPr>
          <a:xfrm>
            <a:off x="669924" y="1352332"/>
            <a:ext cx="6096000" cy="293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已掌握知识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✅ 饼图与环图的定义和区别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✅ 核心配置项：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type, data, 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categoryField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valueField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✅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环图特有配置：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innerRadius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✅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标签和图例的配置方法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✅ 基础图表创建能力</a:t>
            </a:r>
          </a:p>
        </p:txBody>
      </p:sp>
    </p:spTree>
    <p:extLst>
      <p:ext uri="{BB962C8B-B14F-4D97-AF65-F5344CB8AC3E}">
        <p14:creationId xmlns:p14="http://schemas.microsoft.com/office/powerpoint/2010/main" val="212643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1012</TotalTime>
  <Words>1132</Words>
  <Application>Microsoft Office PowerPoint</Application>
  <PresentationFormat>宽屏</PresentationFormat>
  <Paragraphs>184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Menlo</vt:lpstr>
      <vt:lpstr>Nunito for Arco</vt:lpstr>
      <vt:lpstr>quote-cjk-patch</vt:lpstr>
      <vt:lpstr>var(--ds-font-family-code)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大纲</vt:lpstr>
      <vt:lpstr>什么是饼图？</vt:lpstr>
      <vt:lpstr>什么是环图？</vt:lpstr>
      <vt:lpstr>图表构成</vt:lpstr>
      <vt:lpstr>核心配置项</vt:lpstr>
      <vt:lpstr>数据结构与映射</vt:lpstr>
      <vt:lpstr>基础饼图示例</vt:lpstr>
      <vt:lpstr>基础环图示例</vt:lpstr>
      <vt:lpstr>标签配置</vt:lpstr>
      <vt:lpstr>图例配置</vt:lpstr>
      <vt:lpstr>基础练习</vt:lpstr>
      <vt:lpstr>本节回顾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410</cp:revision>
  <dcterms:created xsi:type="dcterms:W3CDTF">2025-10-28T10:07:16Z</dcterms:created>
  <dcterms:modified xsi:type="dcterms:W3CDTF">2026-03-08T07:09:42Z</dcterms:modified>
</cp:coreProperties>
</file>