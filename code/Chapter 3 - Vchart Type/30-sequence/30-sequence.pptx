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6"/>
  </p:notesMasterIdLst>
  <p:sldIdLst>
    <p:sldId id="262" r:id="rId3"/>
    <p:sldId id="286" r:id="rId4"/>
    <p:sldId id="303" r:id="rId5"/>
    <p:sldId id="317" r:id="rId6"/>
    <p:sldId id="318" r:id="rId7"/>
    <p:sldId id="319" r:id="rId8"/>
    <p:sldId id="320" r:id="rId9"/>
    <p:sldId id="321" r:id="rId10"/>
    <p:sldId id="322" r:id="rId11"/>
    <p:sldId id="323" r:id="rId12"/>
    <p:sldId id="316" r:id="rId13"/>
    <p:sldId id="283" r:id="rId14"/>
    <p:sldId id="265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138" y="3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isactor.com/vchart/option/sequenceChart#series-link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www.visactor.com/vchart/option/sequenceChart#series-dot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30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课：时序</a:t>
            </a:r>
            <a:r>
              <a:rPr lang="zh-CN" altLang="en-US" dirty="0"/>
              <a:t>图</a:t>
            </a:r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0574F7-F2A6-465B-6477-11D587DE4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42DE8E-7BB9-BFB4-F3B8-9EFF709BA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时序图介绍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6BE714B4-E229-EB53-E11D-00980E5A517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0884FA2-6B49-B54B-757D-DFEB41927614}"/>
              </a:ext>
            </a:extLst>
          </p:cNvPr>
          <p:cNvSpPr txBox="1"/>
          <p:nvPr/>
        </p:nvSpPr>
        <p:spPr>
          <a:xfrm>
            <a:off x="669922" y="1275189"/>
            <a:ext cx="10135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时序图非常适合用来展示用户行为序列、设备事件链路等随时间变化的数据</a:t>
            </a:r>
            <a:endParaRPr lang="zh-CN" altLang="en-US" b="0" i="0" dirty="0">
              <a:solidFill>
                <a:srgbClr val="0F1115"/>
              </a:solidFill>
              <a:effectLst/>
              <a:latin typeface="quote-cjk-patch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230B31-4D7E-8321-7EB0-2FC707D980DD}"/>
              </a:ext>
            </a:extLst>
          </p:cNvPr>
          <p:cNvSpPr txBox="1"/>
          <p:nvPr/>
        </p:nvSpPr>
        <p:spPr>
          <a:xfrm>
            <a:off x="669922" y="2161161"/>
            <a:ext cx="601601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zh-CN" altLang="en-US" dirty="0"/>
              <a:t>时序图本质上为特定系列和组件组成的组合图。</a:t>
            </a:r>
          </a:p>
          <a:p>
            <a:pPr>
              <a:buNone/>
            </a:pPr>
            <a:b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</a:b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CB145D1-86AF-53C9-4B6B-2FCD95328897}"/>
              </a:ext>
            </a:extLst>
          </p:cNvPr>
          <p:cNvSpPr txBox="1"/>
          <p:nvPr/>
        </p:nvSpPr>
        <p:spPr>
          <a:xfrm>
            <a:off x="669921" y="2884168"/>
            <a:ext cx="101357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</a:pPr>
            <a:r>
              <a:rPr lang="zh-CN" altLang="en-US" dirty="0"/>
              <a:t>时序图是一种用于展示时间序列数据的图表类型，它可以表现出数据在时间上的变化趋势。</a:t>
            </a:r>
          </a:p>
        </p:txBody>
      </p:sp>
    </p:spTree>
    <p:extLst>
      <p:ext uri="{BB962C8B-B14F-4D97-AF65-F5344CB8AC3E}">
        <p14:creationId xmlns:p14="http://schemas.microsoft.com/office/powerpoint/2010/main" val="1518275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8EE01-59EF-F05A-B83F-6E123B580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CF56A71-D185-7DA0-759B-E8C79F243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整体结构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F641CDE-D6D1-271A-099C-064A505C5FD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6A041AE-0646-CA6A-480B-61A5207B79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923" y="1113579"/>
            <a:ext cx="9760266" cy="463642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B36DB25C-7F30-B2A7-EC55-94B45C953737}"/>
              </a:ext>
            </a:extLst>
          </p:cNvPr>
          <p:cNvSpPr txBox="1"/>
          <p:nvPr/>
        </p:nvSpPr>
        <p:spPr>
          <a:xfrm>
            <a:off x="404445" y="5750003"/>
            <a:ext cx="1092633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注意：</a:t>
            </a: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3"/>
              </a:rPr>
              <a:t>link </a:t>
            </a:r>
            <a:r>
              <a:rPr lang="zh-CN" altLang="en-US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3"/>
              </a:rPr>
              <a:t>系列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必须通过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dotSeriesIndex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'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属性与 </a:t>
            </a: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4"/>
              </a:rPr>
              <a:t>dot </a:t>
            </a:r>
            <a:r>
              <a:rPr lang="zh-CN" altLang="en-US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4"/>
              </a:rPr>
              <a:t>系列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绑定，因为其绘制数据及部分配置依赖于 </a:t>
            </a: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4"/>
              </a:rPr>
              <a:t>dot </a:t>
            </a:r>
            <a:r>
              <a:rPr lang="zh-CN" altLang="en-US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4"/>
              </a:rPr>
              <a:t>系列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。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567374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379A-9585-22FF-7E8C-0B858B798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BF35F-BE8A-F473-8D7E-5D11DC57F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全局配置和时间轴配置</a:t>
            </a:r>
            <a:endParaRPr lang="en-US" altLang="zh-CN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2EB9019-C2C8-E71B-48FA-2E9AE5AB6A88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55DB3CF-B96E-962F-1EF0-A99D833D6B22}"/>
              </a:ext>
            </a:extLst>
          </p:cNvPr>
          <p:cNvSpPr txBox="1"/>
          <p:nvPr/>
        </p:nvSpPr>
        <p:spPr>
          <a:xfrm>
            <a:off x="669923" y="1460942"/>
            <a:ext cx="1092633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全局配置</a:t>
            </a:r>
            <a:r>
              <a:rPr lang="en-US" altLang="zh-CN" dirty="0"/>
              <a:t>:</a:t>
            </a:r>
          </a:p>
          <a:p>
            <a:r>
              <a:rPr lang="en-US" altLang="zh-CN" dirty="0" err="1"/>
              <a:t>appendPadding</a:t>
            </a:r>
            <a:r>
              <a:rPr lang="zh-CN" altLang="en-US" dirty="0"/>
              <a:t>属性用于配置图表的内边距</a:t>
            </a:r>
            <a:r>
              <a:rPr lang="en-US" altLang="zh-CN" dirty="0"/>
              <a:t>, </a:t>
            </a:r>
            <a:r>
              <a:rPr lang="zh-CN" altLang="en-US" dirty="0"/>
              <a:t>建议配置</a:t>
            </a:r>
            <a:r>
              <a:rPr lang="en-US" altLang="zh-CN" dirty="0"/>
              <a:t>, </a:t>
            </a:r>
            <a:r>
              <a:rPr lang="zh-CN" altLang="en-US" dirty="0"/>
              <a:t>否则 </a:t>
            </a:r>
            <a:r>
              <a:rPr lang="en-US" altLang="zh-CN" dirty="0"/>
              <a:t>dot </a:t>
            </a:r>
            <a:r>
              <a:rPr lang="zh-CN" altLang="en-US" dirty="0"/>
              <a:t>和 </a:t>
            </a:r>
            <a:r>
              <a:rPr lang="en-US" altLang="zh-CN" dirty="0"/>
              <a:t>link </a:t>
            </a:r>
            <a:r>
              <a:rPr lang="zh-CN" altLang="en-US" dirty="0"/>
              <a:t>系列的 </a:t>
            </a:r>
            <a:r>
              <a:rPr lang="en-US" altLang="zh-CN" dirty="0"/>
              <a:t>title </a:t>
            </a:r>
            <a:r>
              <a:rPr lang="zh-CN" altLang="en-US" dirty="0"/>
              <a:t>将会与 </a:t>
            </a:r>
            <a:r>
              <a:rPr lang="en-US" altLang="zh-CN" dirty="0"/>
              <a:t>grid </a:t>
            </a:r>
            <a:r>
              <a:rPr lang="zh-CN" altLang="en-US" dirty="0"/>
              <a:t>重叠</a:t>
            </a:r>
            <a:r>
              <a:rPr lang="en-US" altLang="zh-CN" dirty="0"/>
              <a:t>.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F1BB04F-3E71-7638-64AA-F2AC1B022A68}"/>
              </a:ext>
            </a:extLst>
          </p:cNvPr>
          <p:cNvSpPr txBox="1"/>
          <p:nvPr/>
        </p:nvSpPr>
        <p:spPr>
          <a:xfrm>
            <a:off x="595746" y="2613392"/>
            <a:ext cx="1103640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dirty="0"/>
              <a:t>时间轴配置</a:t>
            </a:r>
            <a:r>
              <a:rPr lang="en-US" altLang="zh-CN" dirty="0"/>
              <a:t>:</a:t>
            </a:r>
          </a:p>
          <a:p>
            <a:pPr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type</a:t>
            </a:r>
            <a:r>
              <a:rPr lang="zh-CN" altLang="en-US" dirty="0"/>
              <a:t>属性用于配置轴的类型</a:t>
            </a:r>
            <a:r>
              <a:rPr lang="en-US" altLang="zh-CN" dirty="0"/>
              <a:t>, </a:t>
            </a:r>
            <a:r>
              <a:rPr lang="zh-CN" altLang="en-US" dirty="0"/>
              <a:t>此处推荐配置</a:t>
            </a:r>
            <a:r>
              <a:rPr lang="en-US" altLang="zh-CN" dirty="0"/>
              <a:t>time</a:t>
            </a:r>
            <a:r>
              <a:rPr lang="zh-CN" altLang="en-US" dirty="0"/>
              <a:t>用以映射时序数据</a:t>
            </a:r>
            <a:r>
              <a:rPr lang="en-US" altLang="zh-CN" dirty="0"/>
              <a:t>, </a:t>
            </a:r>
            <a:r>
              <a:rPr lang="zh-CN" altLang="en-US" dirty="0"/>
              <a:t>需要注意的是时间轴仅支持时间戳数据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layers</a:t>
            </a:r>
            <a:r>
              <a:rPr lang="zh-CN" altLang="en-US" dirty="0"/>
              <a:t> 属性用于配置时间轴子母轴的配置</a:t>
            </a:r>
            <a:r>
              <a:rPr lang="en-US" altLang="zh-CN" dirty="0"/>
              <a:t>, </a:t>
            </a:r>
            <a:r>
              <a:rPr lang="zh-CN" altLang="en-US" dirty="0"/>
              <a:t>当轴为时间轴时方可生效</a:t>
            </a:r>
            <a:r>
              <a:rPr lang="en-US" altLang="zh-CN" dirty="0"/>
              <a:t>. </a:t>
            </a:r>
            <a:r>
              <a:rPr lang="zh-CN" altLang="en-US" dirty="0"/>
              <a:t>第 </a:t>
            </a:r>
            <a:r>
              <a:rPr lang="en-US" altLang="zh-CN" dirty="0"/>
              <a:t>0 </a:t>
            </a:r>
            <a:r>
              <a:rPr lang="zh-CN" altLang="en-US" dirty="0"/>
              <a:t>项表示母轴</a:t>
            </a:r>
            <a:r>
              <a:rPr lang="en-US" altLang="zh-CN" dirty="0"/>
              <a:t>, </a:t>
            </a:r>
            <a:r>
              <a:rPr lang="zh-CN" altLang="en-US" dirty="0"/>
              <a:t>即下方的轴</a:t>
            </a:r>
            <a:r>
              <a:rPr lang="en-US" altLang="zh-CN" dirty="0"/>
              <a:t>; </a:t>
            </a:r>
            <a:r>
              <a:rPr lang="zh-CN" altLang="en-US" dirty="0"/>
              <a:t>第 </a:t>
            </a:r>
            <a:r>
              <a:rPr lang="en-US" altLang="zh-CN" dirty="0"/>
              <a:t>1 </a:t>
            </a:r>
            <a:r>
              <a:rPr lang="zh-CN" altLang="en-US" dirty="0"/>
              <a:t>项表示子轴</a:t>
            </a:r>
            <a:r>
              <a:rPr lang="en-US" altLang="zh-CN" dirty="0"/>
              <a:t>, </a:t>
            </a:r>
            <a:r>
              <a:rPr lang="zh-CN" altLang="en-US" dirty="0"/>
              <a:t>即上方的轴</a:t>
            </a:r>
            <a:r>
              <a:rPr lang="en-US" altLang="zh-CN" dirty="0"/>
              <a:t>. </a:t>
            </a:r>
            <a:r>
              <a:rPr lang="zh-CN" altLang="en-US" dirty="0"/>
              <a:t>通过</a:t>
            </a:r>
            <a:r>
              <a:rPr lang="en-US" altLang="zh-CN" dirty="0" err="1"/>
              <a:t>timeFormat</a:t>
            </a:r>
            <a:r>
              <a:rPr lang="zh-CN" altLang="en-US" dirty="0"/>
              <a:t>配置标签的时间格式</a:t>
            </a:r>
            <a:r>
              <a:rPr lang="en-US" altLang="zh-CN" dirty="0"/>
              <a:t>. </a:t>
            </a:r>
            <a:r>
              <a:rPr lang="zh-CN" altLang="en-US" dirty="0"/>
              <a:t>通过 </a:t>
            </a:r>
            <a:r>
              <a:rPr lang="en-US" altLang="zh-CN" dirty="0" err="1"/>
              <a:t>tickStep</a:t>
            </a:r>
            <a:r>
              <a:rPr lang="en-US" altLang="zh-CN" dirty="0"/>
              <a:t> </a:t>
            </a:r>
            <a:r>
              <a:rPr lang="zh-CN" altLang="en-US" dirty="0"/>
              <a:t>配置时间的间隔秒数</a:t>
            </a:r>
            <a:r>
              <a:rPr lang="en-US" altLang="zh-C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96299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99D3E-64DF-2C69-2556-9023DF013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A924E0-D8F2-94EC-4CE5-33ACCD9E20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dirty="0"/>
              <a:t>dot </a:t>
            </a:r>
            <a:r>
              <a:rPr lang="zh-CN" altLang="en-US" b="0" dirty="0"/>
              <a:t>系列配置</a:t>
            </a:r>
            <a:r>
              <a:rPr lang="en-US" altLang="zh-CN" b="0" dirty="0"/>
              <a:t>: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06D610F-A6AF-9C22-BBEA-2DE19B0DA2B3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F989881-E4D1-F214-538A-8AAD5EB54138}"/>
              </a:ext>
            </a:extLst>
          </p:cNvPr>
          <p:cNvSpPr txBox="1"/>
          <p:nvPr/>
        </p:nvSpPr>
        <p:spPr>
          <a:xfrm>
            <a:off x="669923" y="1373341"/>
            <a:ext cx="10850562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xField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系列的横坐标字段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yField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系列的纵坐标字段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/>
              <a:t>title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系列的标题字段</a:t>
            </a:r>
            <a:r>
              <a:rPr lang="en-US" altLang="zh-CN" dirty="0"/>
              <a:t>, </a:t>
            </a:r>
            <a:r>
              <a:rPr lang="zh-CN" altLang="en-US" dirty="0"/>
              <a:t>标题位于时间线左侧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subTitle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系列的副标题字段</a:t>
            </a:r>
            <a:r>
              <a:rPr lang="en-US" altLang="zh-CN" dirty="0"/>
              <a:t>, </a:t>
            </a:r>
            <a:r>
              <a:rPr lang="zh-CN" altLang="en-US" dirty="0"/>
              <a:t>标题位于标题下方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dotTypeField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系列的事件点分组字段</a:t>
            </a:r>
            <a:r>
              <a:rPr lang="en-US" altLang="zh-CN" dirty="0"/>
              <a:t>, </a:t>
            </a:r>
            <a:r>
              <a:rPr lang="zh-CN" altLang="en-US" dirty="0"/>
              <a:t>在相同的分组中事件点的颜色相同</a:t>
            </a:r>
            <a:r>
              <a:rPr lang="en-US" altLang="zh-CN" dirty="0"/>
              <a:t>.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highLightSeriesGroup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系列的高亮分组配置</a:t>
            </a:r>
            <a:r>
              <a:rPr lang="en-US" altLang="zh-CN" dirty="0"/>
              <a:t>, </a:t>
            </a:r>
            <a:r>
              <a:rPr lang="zh-CN" altLang="en-US" dirty="0"/>
              <a:t>当配置</a:t>
            </a:r>
            <a:r>
              <a:rPr lang="en-US" altLang="zh-CN" dirty="0" err="1"/>
              <a:t>seriesGroupField</a:t>
            </a:r>
            <a:r>
              <a:rPr lang="zh-CN" altLang="en-US" dirty="0"/>
              <a:t>时</a:t>
            </a:r>
            <a:r>
              <a:rPr lang="en-US" altLang="zh-CN" dirty="0"/>
              <a:t>, </a:t>
            </a:r>
            <a:r>
              <a:rPr lang="zh-CN" altLang="en-US" dirty="0"/>
              <a:t>可以指定高亮某个特定属性的分组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clipHeight</a:t>
            </a:r>
            <a:r>
              <a:rPr lang="zh-CN" altLang="en-US" dirty="0"/>
              <a:t> 属性声明为 </a:t>
            </a:r>
            <a:r>
              <a:rPr lang="en-US" altLang="zh-CN" dirty="0"/>
              <a:t>dot </a:t>
            </a:r>
            <a:r>
              <a:rPr lang="zh-CN" altLang="en-US" dirty="0"/>
              <a:t>系列的可视高度</a:t>
            </a:r>
          </a:p>
        </p:txBody>
      </p:sp>
    </p:spTree>
    <p:extLst>
      <p:ext uri="{BB962C8B-B14F-4D97-AF65-F5344CB8AC3E}">
        <p14:creationId xmlns:p14="http://schemas.microsoft.com/office/powerpoint/2010/main" val="1964377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23D07-DB59-39DF-63A2-F033CACFF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273C9E-903B-306A-6354-A7E629659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b="0" dirty="0"/>
              <a:t>link </a:t>
            </a:r>
            <a:r>
              <a:rPr lang="zh-CN" altLang="en-US" b="0" dirty="0"/>
              <a:t>系列配置</a:t>
            </a:r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B2B990E8-0738-D49D-8F46-ADE43D3F9346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BA71F9E-186A-D2C3-B97A-825364BFA824}"/>
              </a:ext>
            </a:extLst>
          </p:cNvPr>
          <p:cNvSpPr txBox="1"/>
          <p:nvPr/>
        </p:nvSpPr>
        <p:spPr>
          <a:xfrm>
            <a:off x="669922" y="1496600"/>
            <a:ext cx="9549251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400"/>
              </a:lnSpc>
              <a:spcAft>
                <a:spcPts val="1200"/>
              </a:spcAft>
              <a:buNone/>
            </a:pPr>
            <a:r>
              <a:rPr lang="en-US" altLang="zh-CN" dirty="0"/>
              <a:t>link </a:t>
            </a:r>
            <a:r>
              <a:rPr lang="zh-CN" altLang="en-US" dirty="0"/>
              <a:t>系列（</a:t>
            </a:r>
            <a:r>
              <a:rPr lang="en-US" altLang="zh-CN" dirty="0"/>
              <a:t>link series</a:t>
            </a:r>
            <a:r>
              <a:rPr lang="zh-CN" altLang="en-US" dirty="0"/>
              <a:t>）的数据依赖于事件（</a:t>
            </a:r>
            <a:r>
              <a:rPr lang="en-US" altLang="zh-CN" dirty="0"/>
              <a:t>event series</a:t>
            </a:r>
            <a:r>
              <a:rPr lang="zh-CN" altLang="en-US" dirty="0"/>
              <a:t>）系列</a:t>
            </a:r>
          </a:p>
          <a:p>
            <a:pPr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dotSeriesIndex</a:t>
            </a:r>
            <a:r>
              <a:rPr lang="en-US" altLang="zh-CN" dirty="0"/>
              <a:t> </a:t>
            </a:r>
            <a:r>
              <a:rPr lang="zh-CN" altLang="en-US" dirty="0"/>
              <a:t>属性声明为关联的 </a:t>
            </a:r>
            <a:r>
              <a:rPr lang="en-US" altLang="zh-CN" dirty="0"/>
              <a:t>dot </a:t>
            </a:r>
            <a:r>
              <a:rPr lang="zh-CN" altLang="en-US" dirty="0"/>
              <a:t>系列的索引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fromField</a:t>
            </a:r>
            <a:r>
              <a:rPr lang="en-US" altLang="zh-CN" dirty="0"/>
              <a:t> </a:t>
            </a:r>
            <a:r>
              <a:rPr lang="zh-CN" altLang="en-US" dirty="0"/>
              <a:t>属性声明为起点位置字段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toField</a:t>
            </a:r>
            <a:r>
              <a:rPr lang="en-US" altLang="zh-CN" dirty="0"/>
              <a:t> </a:t>
            </a:r>
            <a:r>
              <a:rPr lang="zh-CN" altLang="en-US" dirty="0"/>
              <a:t>属性声明为终点位置字段</a:t>
            </a:r>
          </a:p>
          <a:p>
            <a:pPr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dirty="0" err="1"/>
              <a:t>dotTypeField</a:t>
            </a:r>
            <a:r>
              <a:rPr lang="en-US" altLang="zh-CN" dirty="0"/>
              <a:t> </a:t>
            </a:r>
            <a:r>
              <a:rPr lang="zh-CN" altLang="en-US" dirty="0"/>
              <a:t>属性声明为关系类型字段</a:t>
            </a:r>
          </a:p>
        </p:txBody>
      </p:sp>
    </p:spTree>
    <p:extLst>
      <p:ext uri="{BB962C8B-B14F-4D97-AF65-F5344CB8AC3E}">
        <p14:creationId xmlns:p14="http://schemas.microsoft.com/office/powerpoint/2010/main" val="3035867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AE7EF9-3095-A932-672A-CC1D950EC0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D94E17-1AF2-AF22-84F5-1F79E08E5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柱系列数据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C78515E2-9FF9-F2DE-7D5B-2DC823415EFD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2E4E62-44ED-4CB8-2556-EACA236A73C3}"/>
              </a:ext>
            </a:extLst>
          </p:cNvPr>
          <p:cNvSpPr txBox="1"/>
          <p:nvPr/>
        </p:nvSpPr>
        <p:spPr>
          <a:xfrm>
            <a:off x="766186" y="1494986"/>
            <a:ext cx="9915211" cy="1682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对于柱系列而言需要展示特定时间间隔内的时序数据总数，属于频率统计的一种，所以结构类似于直方图。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两个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数值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start_time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ui-monospace"/>
              </a:rPr>
              <a:t>end_time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一个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数值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字段，如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: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ui-monospace"/>
              </a:rPr>
              <a:t>value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884900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934FB-15B7-9BB0-EA49-03AA514D9B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C2CD71-E0B5-A210-713F-C742E4E30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dot </a:t>
            </a:r>
            <a:r>
              <a:rPr lang="zh-CN" altLang="en-US" dirty="0"/>
              <a:t>系列数据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A3785B15-81D7-561B-D7DA-8F8B76C270C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E9DF302-67E9-3C95-4CB7-097C0093A779}"/>
              </a:ext>
            </a:extLst>
          </p:cNvPr>
          <p:cNvSpPr txBox="1"/>
          <p:nvPr/>
        </p:nvSpPr>
        <p:spPr>
          <a:xfrm>
            <a:off x="766186" y="1494986"/>
            <a:ext cx="9915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 </a:t>
            </a:r>
            <a:r>
              <a:rPr lang="en-US" altLang="zh-CN" dirty="0"/>
              <a:t>dot </a:t>
            </a:r>
            <a:r>
              <a:rPr lang="zh-CN" altLang="en-US" dirty="0"/>
              <a:t>系列而言，既要通过</a:t>
            </a:r>
            <a:r>
              <a:rPr lang="en-US" altLang="zh-CN" dirty="0"/>
              <a:t>title </a:t>
            </a:r>
            <a:r>
              <a:rPr lang="en-US" altLang="zh-CN" dirty="0" err="1"/>
              <a:t>subTitle</a:t>
            </a:r>
            <a:r>
              <a:rPr lang="en-US" altLang="zh-CN" dirty="0"/>
              <a:t> grid</a:t>
            </a:r>
            <a:r>
              <a:rPr lang="zh-CN" altLang="en-US" dirty="0"/>
              <a:t>等图元展示一连串事件构成的序列，又要通过</a:t>
            </a:r>
            <a:r>
              <a:rPr lang="en-US" altLang="zh-CN" dirty="0"/>
              <a:t>dot</a:t>
            </a:r>
            <a:r>
              <a:rPr lang="zh-CN" altLang="en-US" dirty="0"/>
              <a:t>图元展示具体的事件，所以是一种嵌套类型的数据。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2B43759-7C9F-B1F3-6730-F7A578BC02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186" y="2287960"/>
            <a:ext cx="10111189" cy="405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39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88418-0505-9D05-B408-219ACC39C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E81C7AF-BE9A-C2B6-D72E-188651BC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link </a:t>
            </a:r>
            <a:r>
              <a:rPr lang="zh-CN" altLang="en-US" dirty="0"/>
              <a:t>系列数据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165F29FC-9B49-20A3-655D-5E28F7C4A7CB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D80207A-214D-EAFC-5DBD-ADE75A862F5B}"/>
              </a:ext>
            </a:extLst>
          </p:cNvPr>
          <p:cNvSpPr txBox="1"/>
          <p:nvPr/>
        </p:nvSpPr>
        <p:spPr>
          <a:xfrm>
            <a:off x="766186" y="1494986"/>
            <a:ext cx="99152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 </a:t>
            </a:r>
            <a:r>
              <a:rPr lang="en-US" altLang="zh-CN" dirty="0"/>
              <a:t>link </a:t>
            </a:r>
            <a:r>
              <a:rPr lang="zh-CN" altLang="en-US" dirty="0"/>
              <a:t>系列而言，需要通过两个字段分别指定 </a:t>
            </a:r>
            <a:r>
              <a:rPr lang="en-US" altLang="zh-CN" dirty="0"/>
              <a:t>link </a:t>
            </a:r>
            <a:r>
              <a:rPr lang="zh-CN" altLang="en-US" dirty="0"/>
              <a:t>的起点和终点。 注意：起点字段和终点字段的数据必须与 </a:t>
            </a:r>
            <a:r>
              <a:rPr lang="en-US" altLang="zh-CN" dirty="0"/>
              <a:t>dot </a:t>
            </a:r>
            <a:r>
              <a:rPr lang="zh-CN" altLang="en-US" dirty="0"/>
              <a:t>系列数据中的</a:t>
            </a:r>
            <a:r>
              <a:rPr lang="en-US" altLang="zh-CN" dirty="0" err="1"/>
              <a:t>node_name</a:t>
            </a:r>
            <a:r>
              <a:rPr lang="zh-CN" altLang="en-US" dirty="0"/>
              <a:t>数据一一对应，这样 </a:t>
            </a:r>
            <a:r>
              <a:rPr lang="en-US" altLang="zh-CN" dirty="0"/>
              <a:t>link </a:t>
            </a:r>
            <a:r>
              <a:rPr lang="zh-CN" altLang="en-US" dirty="0"/>
              <a:t>图元在绘制时才能找到对应的起点和终点位置。</a:t>
            </a:r>
          </a:p>
          <a:p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A8D59D9-D911-5E2D-4519-B82A829EF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961" y="2218037"/>
            <a:ext cx="4909334" cy="4463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29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F72CA-3331-844B-A117-9AB752A6EA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FF7DC7-9039-97F3-BF5F-8F046167E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提示 </a:t>
            </a:r>
            <a:r>
              <a:rPr lang="en-US" altLang="zh-CN" dirty="0"/>
              <a:t>info </a:t>
            </a:r>
            <a:r>
              <a:rPr lang="zh-CN" altLang="en-US" dirty="0"/>
              <a:t>配置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5C79358-551B-439F-E638-D070DD836325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C4F564-3300-4745-FDB3-57C49FECF22B}"/>
              </a:ext>
            </a:extLst>
          </p:cNvPr>
          <p:cNvSpPr txBox="1"/>
          <p:nvPr/>
        </p:nvSpPr>
        <p:spPr>
          <a:xfrm>
            <a:off x="756138" y="1223680"/>
            <a:ext cx="109263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上文提到在事件或事件关系会附带一些额外 </a:t>
            </a:r>
            <a:r>
              <a:rPr lang="en-US" altLang="zh-CN" dirty="0"/>
              <a:t>info</a:t>
            </a:r>
            <a:r>
              <a:rPr lang="zh-CN" altLang="en-US" dirty="0"/>
              <a:t>，该 </a:t>
            </a:r>
            <a:r>
              <a:rPr lang="en-US" altLang="zh-CN" dirty="0"/>
              <a:t>info </a:t>
            </a:r>
            <a:r>
              <a:rPr lang="zh-CN" altLang="en-US" dirty="0"/>
              <a:t>通常以</a:t>
            </a:r>
            <a:r>
              <a:rPr lang="en-US" altLang="zh-CN" dirty="0"/>
              <a:t>Object</a:t>
            </a:r>
            <a:r>
              <a:rPr lang="zh-CN" altLang="en-US" dirty="0"/>
              <a:t>的形式出现，为了将层级结构正确展示在 </a:t>
            </a:r>
            <a:r>
              <a:rPr lang="en-US" altLang="zh-CN" dirty="0"/>
              <a:t>tooltip </a:t>
            </a:r>
            <a:r>
              <a:rPr lang="zh-CN" altLang="en-US" dirty="0"/>
              <a:t>中，</a:t>
            </a:r>
            <a:r>
              <a:rPr lang="en-US" altLang="zh-CN" dirty="0"/>
              <a:t>dot </a:t>
            </a:r>
            <a:r>
              <a:rPr lang="zh-CN" altLang="en-US" dirty="0"/>
              <a:t>和 </a:t>
            </a:r>
            <a:r>
              <a:rPr lang="en-US" altLang="zh-CN" dirty="0"/>
              <a:t>link </a:t>
            </a:r>
            <a:r>
              <a:rPr lang="zh-CN" altLang="en-US" dirty="0"/>
              <a:t>系列内置解析</a:t>
            </a:r>
            <a:r>
              <a:rPr lang="en-US" altLang="zh-CN" dirty="0"/>
              <a:t>Object</a:t>
            </a:r>
            <a:r>
              <a:rPr lang="zh-CN" altLang="en-US" dirty="0"/>
              <a:t>的方法，用户只需要在</a:t>
            </a:r>
            <a:r>
              <a:rPr lang="en-US" altLang="zh-CN" dirty="0" err="1"/>
              <a:t>tooltip.content</a:t>
            </a:r>
            <a:r>
              <a:rPr lang="zh-CN" altLang="en-US" dirty="0"/>
              <a:t>中进行如下配置即可。 注意：内置的方法仅解析</a:t>
            </a:r>
            <a:r>
              <a:rPr lang="en-US" altLang="zh-CN" dirty="0"/>
              <a:t>children</a:t>
            </a:r>
            <a:r>
              <a:rPr lang="zh-CN" altLang="en-US" dirty="0"/>
              <a:t>字段，所以无论是数据，还是此处的 </a:t>
            </a:r>
            <a:r>
              <a:rPr lang="en-US" altLang="zh-CN" dirty="0"/>
              <a:t>tooltip </a:t>
            </a:r>
            <a:r>
              <a:rPr lang="zh-CN" altLang="en-US" dirty="0"/>
              <a:t>配置，都应该保持</a:t>
            </a:r>
            <a:r>
              <a:rPr lang="en-US" altLang="zh-CN" dirty="0"/>
              <a:t>children </a:t>
            </a:r>
            <a:r>
              <a:rPr lang="zh-CN" altLang="en-US" dirty="0"/>
              <a:t>字段不变。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1D2705-4138-BA65-D6F4-3947DBAC31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6043" y="2768650"/>
            <a:ext cx="7127742" cy="3069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6704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D6757-A831-A5B6-5D50-2966D4F6E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5D58F01-B82C-74CD-763A-C60F17410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总结</a:t>
            </a: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0E1640E9-D85B-72BC-DEFC-8F9AB2CBE0AE}"/>
              </a:ext>
            </a:extLst>
          </p:cNvPr>
          <p:cNvSpPr txBox="1">
            <a:spLocks/>
          </p:cNvSpPr>
          <p:nvPr/>
        </p:nvSpPr>
        <p:spPr>
          <a:xfrm>
            <a:off x="669923" y="1373341"/>
            <a:ext cx="10926331" cy="462844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7746DF7-AC38-E429-F822-9343AB72CED5}"/>
              </a:ext>
            </a:extLst>
          </p:cNvPr>
          <p:cNvSpPr txBox="1"/>
          <p:nvPr/>
        </p:nvSpPr>
        <p:spPr>
          <a:xfrm>
            <a:off x="595746" y="1519579"/>
            <a:ext cx="609432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时间轴推荐用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type: 'time'</a:t>
            </a:r>
            <a:endParaRPr lang="en-US" altLang="zh-CN" b="0" i="0" dirty="0">
              <a:solidFill>
                <a:srgbClr val="0F1115"/>
              </a:solidFill>
              <a:effectLst/>
              <a:latin typeface="quote-cjk-patch"/>
            </a:endParaRP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var(--ds-font-family-code)"/>
              </a:rPr>
              <a:t>dot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var(--ds-font-family-code)"/>
              </a:rPr>
              <a:t>系列数据</a:t>
            </a:r>
            <a:endParaRPr lang="en-US" altLang="zh-CN" b="0" i="0" dirty="0">
              <a:solidFill>
                <a:srgbClr val="0F1115"/>
              </a:solidFill>
              <a:effectLst/>
              <a:latin typeface="var(--ds-font-family-code)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✅ </a:t>
            </a:r>
            <a:r>
              <a:rPr lang="en-US" altLang="zh-CN" dirty="0">
                <a:solidFill>
                  <a:srgbClr val="0F1115"/>
                </a:solidFill>
                <a:latin typeface="var(--ds-font-family-code)"/>
              </a:rPr>
              <a:t>link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系列数据</a:t>
            </a:r>
            <a:endParaRPr lang="en-US" altLang="zh-CN" dirty="0">
              <a:solidFill>
                <a:srgbClr val="0F1115"/>
              </a:solidFill>
              <a:latin typeface="var(--ds-font-family-code)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✅ 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柱系列数据</a:t>
            </a:r>
            <a:endParaRPr lang="en-US" altLang="zh-CN" dirty="0">
              <a:solidFill>
                <a:srgbClr val="0F1115"/>
              </a:solidFill>
              <a:latin typeface="var(--ds-font-family-code)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rgbClr val="0F1115"/>
                </a:solidFill>
                <a:latin typeface="quote-cjk-patch"/>
              </a:rPr>
              <a:t>✅ </a:t>
            </a:r>
            <a:r>
              <a:rPr lang="zh-CN" altLang="en-US" dirty="0">
                <a:solidFill>
                  <a:srgbClr val="0F1115"/>
                </a:solidFill>
                <a:latin typeface="var(--ds-font-family-code)"/>
              </a:rPr>
              <a:t>时序图关键配置</a:t>
            </a:r>
            <a:endParaRPr lang="en-US" altLang="zh-CN" dirty="0">
              <a:solidFill>
                <a:srgbClr val="0F1115"/>
              </a:solidFill>
              <a:latin typeface="var(--ds-font-family-code)"/>
            </a:endParaRPr>
          </a:p>
          <a:p>
            <a:pPr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 </a:t>
            </a:r>
            <a:r>
              <a:rPr lang="en-US" altLang="zh-CN" b="0" i="0" dirty="0" err="1">
                <a:solidFill>
                  <a:srgbClr val="0F1115"/>
                </a:solidFill>
                <a:effectLst/>
                <a:latin typeface="var(--ds-font-family-code)"/>
              </a:rPr>
              <a:t>appendPadding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 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要给足</a:t>
            </a:r>
          </a:p>
          <a:p>
            <a:pPr algn="l">
              <a:spcBef>
                <a:spcPts val="450"/>
              </a:spcBef>
              <a:buFont typeface="Arial" panose="020B0604020202020204" pitchFamily="34" charset="0"/>
              <a:buChar char="•"/>
            </a:pP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✅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dot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系列要在 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link 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系列之前定义（索引从</a:t>
            </a:r>
            <a:r>
              <a:rPr lang="en-US" altLang="zh-CN" b="0" i="0" dirty="0">
                <a:solidFill>
                  <a:srgbClr val="0F1115"/>
                </a:solidFill>
                <a:effectLst/>
                <a:latin typeface="quote-cjk-patch"/>
              </a:rPr>
              <a:t>0</a:t>
            </a:r>
            <a:r>
              <a:rPr lang="zh-CN" altLang="en-US" b="0" i="0" dirty="0">
                <a:solidFill>
                  <a:srgbClr val="0F1115"/>
                </a:solidFill>
                <a:effectLst/>
                <a:latin typeface="quote-cjk-patch"/>
              </a:rPr>
              <a:t>开始）</a:t>
            </a:r>
          </a:p>
        </p:txBody>
      </p:sp>
    </p:spTree>
    <p:extLst>
      <p:ext uri="{BB962C8B-B14F-4D97-AF65-F5344CB8AC3E}">
        <p14:creationId xmlns:p14="http://schemas.microsoft.com/office/powerpoint/2010/main" val="19106098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1806</TotalTime>
  <Words>743</Words>
  <Application>Microsoft Office PowerPoint</Application>
  <PresentationFormat>宽屏</PresentationFormat>
  <Paragraphs>60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-apple-system</vt:lpstr>
      <vt:lpstr>Nunito for Arco</vt:lpstr>
      <vt:lpstr>quote-cjk-patch</vt:lpstr>
      <vt:lpstr>ui-monospace</vt:lpstr>
      <vt:lpstr>var(--ds-font-family-code)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时序图介绍</vt:lpstr>
      <vt:lpstr>整体结构</vt:lpstr>
      <vt:lpstr>全局配置和时间轴配置</vt:lpstr>
      <vt:lpstr>dot 系列配置:</vt:lpstr>
      <vt:lpstr>link 系列配置</vt:lpstr>
      <vt:lpstr>柱系列数据</vt:lpstr>
      <vt:lpstr>dot 系列数据</vt:lpstr>
      <vt:lpstr>link 系列数据</vt:lpstr>
      <vt:lpstr>提示 info 配置</vt:lpstr>
      <vt:lpstr>总结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666</cp:revision>
  <dcterms:created xsi:type="dcterms:W3CDTF">2025-10-28T10:07:16Z</dcterms:created>
  <dcterms:modified xsi:type="dcterms:W3CDTF">2026-04-19T06:45:24Z</dcterms:modified>
</cp:coreProperties>
</file>