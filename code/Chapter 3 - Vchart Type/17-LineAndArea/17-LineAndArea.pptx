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7"/>
  </p:notesMasterIdLst>
  <p:sldIdLst>
    <p:sldId id="262" r:id="rId3"/>
    <p:sldId id="284" r:id="rId4"/>
    <p:sldId id="286" r:id="rId5"/>
    <p:sldId id="296" r:id="rId6"/>
    <p:sldId id="293" r:id="rId7"/>
    <p:sldId id="294" r:id="rId8"/>
    <p:sldId id="297" r:id="rId9"/>
    <p:sldId id="295" r:id="rId10"/>
    <p:sldId id="292" r:id="rId11"/>
    <p:sldId id="298" r:id="rId12"/>
    <p:sldId id="299" r:id="rId13"/>
    <p:sldId id="300" r:id="rId14"/>
    <p:sldId id="301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71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F666-2BAE-FFA5-93A5-9FF6EEFA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BC6F21-3D7D-9CA7-F795-AFA9E6734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22DFE-0AA0-A1F9-B860-0FD41DC63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2467DF-4268-83D0-F907-02F45C73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CF908-1C26-48E2-87DA-1AF51B1E77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5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17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基础折线图与面积图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理解折线图与面积图的基本概念与应用场景</a:t>
            </a:r>
          </a:p>
          <a:p>
            <a:r>
              <a:rPr lang="zh-CN" altLang="en-US" dirty="0"/>
              <a:t>掌握两种图表的最简配置方法</a:t>
            </a:r>
          </a:p>
          <a:p>
            <a:r>
              <a:rPr lang="zh-CN" altLang="en-US" dirty="0"/>
              <a:t>了解图表的基本构成要素</a:t>
            </a:r>
          </a:p>
          <a:p>
            <a:r>
              <a:rPr lang="zh-CN" altLang="en-US" dirty="0"/>
              <a:t>能够创建基础的折线图和面积图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什么是折线图？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4A718D-C0C9-614B-FF8B-616F938C7C04}"/>
              </a:ext>
            </a:extLst>
          </p:cNvPr>
          <p:cNvSpPr txBox="1"/>
          <p:nvPr/>
        </p:nvSpPr>
        <p:spPr>
          <a:xfrm>
            <a:off x="669924" y="1193404"/>
            <a:ext cx="485804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定义：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通过连接数据点展示趋势变化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分析数据随时间或有序列的变化趋势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折线方向表示正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负变化，斜率表示变化程度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E3A8BB-D7F9-AA8C-C73B-F65418B4CADA}"/>
              </a:ext>
            </a:extLst>
          </p:cNvPr>
          <p:cNvSpPr txBox="1"/>
          <p:nvPr/>
        </p:nvSpPr>
        <p:spPr>
          <a:xfrm>
            <a:off x="669924" y="3720475"/>
            <a:ext cx="2813109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核心价值：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时间序列数据分析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多组数据对比趋势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变化趋势可视化</a:t>
            </a:r>
          </a:p>
        </p:txBody>
      </p:sp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890F7041-D4AF-40F4-9F0A-035C2DA73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533" y="2030047"/>
            <a:ext cx="5936022" cy="316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E808E-BE2A-D38A-0A07-84B9F8DA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9DE32-EF03-E2AD-9A46-0FD5CB786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什么是面积图？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8B4BDB-8D8B-302B-E7AF-0A56A94A6C1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252F33-50B3-CDB4-AE07-5D9CC3762A26}"/>
              </a:ext>
            </a:extLst>
          </p:cNvPr>
          <p:cNvSpPr txBox="1"/>
          <p:nvPr/>
        </p:nvSpPr>
        <p:spPr>
          <a:xfrm>
            <a:off x="669924" y="1259906"/>
            <a:ext cx="4001829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>
                <a:solidFill>
                  <a:srgbClr val="0F1115"/>
                </a:solidFill>
                <a:effectLst/>
                <a:latin typeface="quote-cjk-patch"/>
              </a:rPr>
              <a:t>定义：</a:t>
            </a:r>
            <a:endParaRPr lang="zh-CN" altLang="en-US" b="0" i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基于折线图，强调轴和线之间的区域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用颜色、纹理和阴影填充区域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>
                <a:solidFill>
                  <a:srgbClr val="0F1115"/>
                </a:solidFill>
                <a:effectLst/>
                <a:latin typeface="quote-cjk-patch"/>
              </a:rPr>
              <a:t>适合展示趋势变化及数据总量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363FA6-4E04-E3F3-6270-F795EFBD7821}"/>
              </a:ext>
            </a:extLst>
          </p:cNvPr>
          <p:cNvSpPr txBox="1"/>
          <p:nvPr/>
        </p:nvSpPr>
        <p:spPr>
          <a:xfrm>
            <a:off x="669924" y="3953230"/>
            <a:ext cx="3818949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核心价值：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展示连续自变量下数据的趋势变化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多组数据之间的对比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观察数据总量的变化趋势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34B6AA-4AE2-9693-1BBD-3D04D2FFD212}"/>
              </a:ext>
            </a:extLst>
          </p:cNvPr>
          <p:cNvSpPr txBox="1"/>
          <p:nvPr/>
        </p:nvSpPr>
        <p:spPr>
          <a:xfrm>
            <a:off x="7088330" y="1142135"/>
            <a:ext cx="25707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图示：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经典面积图示例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ABE624F8-60C3-6BBF-0EE7-CB48E4A92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77" y="1715323"/>
            <a:ext cx="7247619" cy="4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2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EEA16-C40C-8B47-568A-98621C07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BD3ED-676C-367F-29AE-88ECA16F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图表构成对比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E1CA0BB-9D89-E0E7-13EA-54EC796581F5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B797BA-25A8-DE8A-703B-CC6E8BEB5FB6}"/>
              </a:ext>
            </a:extLst>
          </p:cNvPr>
          <p:cNvSpPr txBox="1"/>
          <p:nvPr/>
        </p:nvSpPr>
        <p:spPr>
          <a:xfrm>
            <a:off x="669924" y="1373341"/>
            <a:ext cx="2836718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共同构成要素：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点图元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(point)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线图元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(line)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坐标轴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(axes)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提示信息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(tooltip)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755C599-7C6A-C1AB-25CC-50AA3DF05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59682"/>
              </p:ext>
            </p:extLst>
          </p:nvPr>
        </p:nvGraphicFramePr>
        <p:xfrm>
          <a:off x="4792879" y="1843970"/>
          <a:ext cx="5730240" cy="1968500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1772259421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252836572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5119395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配置项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折线图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面积图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557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图表类型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Menlo"/>
                        </a:rPr>
                        <a:t>type: 'line'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type: 'area'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40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数据源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data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data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8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X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轴字段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xField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xField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516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Y</a:t>
                      </a:r>
                      <a:r>
                        <a:rPr lang="zh-CN" altLang="en-US" b="0">
                          <a:effectLst/>
                          <a:latin typeface="quote-cjk-patch"/>
                        </a:rPr>
                        <a:t>轴字段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Menlo"/>
                        </a:rPr>
                        <a:t>yField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Menlo"/>
                        </a:rPr>
                        <a:t>yField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02710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2E501176-3C2A-A3BE-CAB6-4F49F16B4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2879" y="1197639"/>
            <a:ext cx="4691943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quote-cjk-patch"/>
              </a:rPr>
              <a:t>核心配置对比表：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D849D27-25B5-F813-9DA0-15864065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3" y="3106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7736-06AC-2ADB-FE58-72F336A9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4F1DE-C8F3-139A-0DE9-7805E8C5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快速上手折线图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0A4F189-1BFE-4EEA-86F8-29DFCDCA28A7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8C21B4-CA2D-37B1-622A-F19E9F0B8FAA}"/>
              </a:ext>
            </a:extLst>
          </p:cNvPr>
          <p:cNvSpPr txBox="1"/>
          <p:nvPr/>
        </p:nvSpPr>
        <p:spPr>
          <a:xfrm>
            <a:off x="669924" y="1535143"/>
            <a:ext cx="6097384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关键配置说明：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'line'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图表类型标识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data.values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图表数据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映射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轴（时间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类别）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映射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轴（数值）</a:t>
            </a:r>
          </a:p>
        </p:txBody>
      </p:sp>
    </p:spTree>
    <p:extLst>
      <p:ext uri="{BB962C8B-B14F-4D97-AF65-F5344CB8AC3E}">
        <p14:creationId xmlns:p14="http://schemas.microsoft.com/office/powerpoint/2010/main" val="296593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F8B-1555-109B-8083-E036CD81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67BA3-9253-30C3-41CA-2554A61E0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快速上手面积图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4E96983-151C-3BDC-C154-ECBBFE339BDA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1ECBF4-1391-E595-5D3E-52245B9AA872}"/>
              </a:ext>
            </a:extLst>
          </p:cNvPr>
          <p:cNvSpPr txBox="1"/>
          <p:nvPr/>
        </p:nvSpPr>
        <p:spPr>
          <a:xfrm>
            <a:off x="669924" y="1621384"/>
            <a:ext cx="6097384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关键配置说明：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'area'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图表类型标识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data.values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图表数据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映射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轴（时间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类别）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映射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轴（数值）</a:t>
            </a: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注意：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与折线图仅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字段不同</a:t>
            </a:r>
          </a:p>
        </p:txBody>
      </p:sp>
    </p:spTree>
    <p:extLst>
      <p:ext uri="{BB962C8B-B14F-4D97-AF65-F5344CB8AC3E}">
        <p14:creationId xmlns:p14="http://schemas.microsoft.com/office/powerpoint/2010/main" val="356043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C336-D3F7-4DF1-7E18-CC829D56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34340-8F55-7A2F-1DC1-9B2A2775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数据结构要求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BA90318-84A2-2BB2-B3B8-2BB62270E204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EEE9BA-B1CD-A690-1F4E-4D8EEE525DD2}"/>
              </a:ext>
            </a:extLst>
          </p:cNvPr>
          <p:cNvSpPr txBox="1"/>
          <p:nvPr/>
        </p:nvSpPr>
        <p:spPr>
          <a:xfrm>
            <a:off x="669924" y="1239413"/>
            <a:ext cx="6097384" cy="4312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通用数据格式：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data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[{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name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i="0" dirty="0" err="1">
                <a:solidFill>
                  <a:srgbClr val="50A14F"/>
                </a:solidFill>
                <a:effectLst/>
                <a:latin typeface="Menlo"/>
              </a:rPr>
              <a:t>chartData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values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month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'January'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temperature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8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month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'February'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temperature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9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month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50A14F"/>
                </a:solidFill>
                <a:effectLst/>
                <a:latin typeface="Menlo"/>
              </a:rPr>
              <a:t>'March'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E45649"/>
                </a:solidFill>
                <a:effectLst/>
                <a:latin typeface="Menlo"/>
              </a:rPr>
              <a:t>temperature</a:t>
            </a:r>
            <a:r>
              <a:rPr lang="en-US" altLang="zh-CN" b="0" i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B76B01"/>
                </a:solidFill>
                <a:effectLst/>
                <a:latin typeface="Menlo"/>
              </a:rPr>
              <a:t>11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spcBef>
                <a:spcPts val="1200"/>
              </a:spcBef>
              <a:spcAft>
                <a:spcPts val="857"/>
              </a:spcAft>
              <a:buNone/>
            </a:pPr>
            <a:r>
              <a:rPr lang="en-US" altLang="zh-CN" b="0" i="0" dirty="0">
                <a:solidFill>
                  <a:srgbClr val="383A42"/>
                </a:solidFill>
                <a:effectLst/>
                <a:latin typeface="Menlo"/>
              </a:rPr>
              <a:t>}]</a:t>
            </a:r>
            <a:endParaRPr lang="en-US" altLang="zh-CN" b="0" i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3F1CB3-CDCF-41F4-70FF-258107682B23}"/>
              </a:ext>
            </a:extLst>
          </p:cNvPr>
          <p:cNvSpPr txBox="1"/>
          <p:nvPr/>
        </p:nvSpPr>
        <p:spPr>
          <a:xfrm>
            <a:off x="7553239" y="1373341"/>
            <a:ext cx="3967248" cy="249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字段要求：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轴字段：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离散或时序数据</a:t>
            </a:r>
          </a:p>
          <a:p>
            <a:pPr marL="742950" lvl="1" indent="-285750" algn="l">
              <a:lnSpc>
                <a:spcPts val="165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时间戳需配置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axes.type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: 'time'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Y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轴字段：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数值数据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87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辅助组件配置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8C3B1A-36A6-9567-D1CE-409505E0865D}"/>
              </a:ext>
            </a:extLst>
          </p:cNvPr>
          <p:cNvSpPr txBox="1"/>
          <p:nvPr/>
        </p:nvSpPr>
        <p:spPr>
          <a:xfrm>
            <a:off x="669924" y="1351508"/>
            <a:ext cx="6097384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可选但重要的组件：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坐标轴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(Axes)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默认自动显示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可自定义类型和样式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提示信息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(Tooltip)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默认交互时显示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可自定义内容和样式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08AC6C-D73B-00C6-E681-CC0EBFAE5E82}"/>
              </a:ext>
            </a:extLst>
          </p:cNvPr>
          <p:cNvSpPr txBox="1"/>
          <p:nvPr/>
        </p:nvSpPr>
        <p:spPr>
          <a:xfrm>
            <a:off x="5658890" y="1351508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基础配置示例：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894628-DB9D-DA0B-185C-3FF4F3526497}"/>
              </a:ext>
            </a:extLst>
          </p:cNvPr>
          <p:cNvSpPr txBox="1"/>
          <p:nvPr/>
        </p:nvSpPr>
        <p:spPr>
          <a:xfrm>
            <a:off x="5658890" y="2043648"/>
            <a:ext cx="6097384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axes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[{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orient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'bottom'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'band'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}],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tooltip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visible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B76B01"/>
                </a:solidFill>
                <a:effectLst/>
                <a:latin typeface="Menlo"/>
              </a:rPr>
              <a:t>true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D0CB-4802-221E-5501-9B15CDDF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D6194-FCCB-CF78-5129-1B82C6FC1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基础样式配置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49A733-FB2E-1056-691A-408FF4CDF25C}"/>
              </a:ext>
            </a:extLst>
          </p:cNvPr>
          <p:cNvSpPr txBox="1"/>
          <p:nvPr/>
        </p:nvSpPr>
        <p:spPr>
          <a:xfrm>
            <a:off x="669924" y="1697757"/>
            <a:ext cx="6097384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折线图样式：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lineChart.line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线样式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lineChart.point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点样式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面积图样式：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areaChart.area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区域样式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areaChart.line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线样式（可选）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示例：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基础样式配置效果对比</a:t>
            </a:r>
          </a:p>
        </p:txBody>
      </p:sp>
    </p:spTree>
    <p:extLst>
      <p:ext uri="{BB962C8B-B14F-4D97-AF65-F5344CB8AC3E}">
        <p14:creationId xmlns:p14="http://schemas.microsoft.com/office/powerpoint/2010/main" val="284299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09C7-2986-D132-0C21-D9B7758D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386A6-2057-2A76-DA2F-B7637496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F45F72-6EF8-9670-7DE1-8DEADD55DAC1}"/>
              </a:ext>
            </a:extLst>
          </p:cNvPr>
          <p:cNvSpPr txBox="1"/>
          <p:nvPr/>
        </p:nvSpPr>
        <p:spPr>
          <a:xfrm>
            <a:off x="669924" y="1515724"/>
            <a:ext cx="6097384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任务：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创建一个基础面积图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 某城市一周温度变化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要求：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使用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Menlo"/>
              </a:rPr>
              <a:t>type: 'area'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配置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xField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Menlo"/>
              </a:rPr>
              <a:t>yField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添加基本坐标轴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69543F-8B6C-8D39-3457-429BC4B4928E}"/>
              </a:ext>
            </a:extLst>
          </p:cNvPr>
          <p:cNvSpPr txBox="1"/>
          <p:nvPr/>
        </p:nvSpPr>
        <p:spPr>
          <a:xfrm>
            <a:off x="5251566" y="114639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代码框架：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DC8E96-758B-704B-05BD-4869D1431A8B}"/>
              </a:ext>
            </a:extLst>
          </p:cNvPr>
          <p:cNvSpPr txBox="1"/>
          <p:nvPr/>
        </p:nvSpPr>
        <p:spPr>
          <a:xfrm>
            <a:off x="5251566" y="1804196"/>
            <a:ext cx="6097384" cy="1624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A626A4"/>
                </a:solidFill>
                <a:effectLst/>
                <a:latin typeface="Menlo"/>
              </a:rPr>
              <a:t>const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spec 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type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50A14F"/>
                </a:solidFill>
                <a:effectLst/>
                <a:latin typeface="Menlo"/>
              </a:rPr>
              <a:t>'area'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data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{</a:t>
            </a:r>
            <a:endParaRPr lang="en-US" altLang="zh-CN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   </a:t>
            </a:r>
            <a:r>
              <a:rPr lang="en-US" altLang="zh-CN" b="0" dirty="0">
                <a:solidFill>
                  <a:srgbClr val="E45649"/>
                </a:solidFill>
                <a:effectLst/>
                <a:latin typeface="Menlo"/>
              </a:rPr>
              <a:t>values</a:t>
            </a:r>
            <a:r>
              <a:rPr lang="en-US" altLang="zh-CN" b="0" dirty="0">
                <a:solidFill>
                  <a:srgbClr val="4078F2"/>
                </a:solidFill>
                <a:effectLst/>
                <a:latin typeface="Menlo"/>
              </a:rPr>
              <a:t>:</a:t>
            </a:r>
            <a:r>
              <a:rPr lang="en-US" altLang="zh-CN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[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/*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你的数据 *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]</a:t>
            </a: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},</a:t>
            </a: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zh-CN" altLang="en-US" b="0" dirty="0">
                <a:solidFill>
                  <a:srgbClr val="0F1115"/>
                </a:solidFill>
                <a:effectLst/>
                <a:latin typeface="Menlo"/>
              </a:rPr>
              <a:t>  </a:t>
            </a:r>
            <a:r>
              <a:rPr lang="en-US" altLang="zh-CN" b="0" i="1" dirty="0">
                <a:solidFill>
                  <a:srgbClr val="A0A1A7"/>
                </a:solidFill>
                <a:effectLst/>
                <a:latin typeface="Menlo"/>
              </a:rPr>
              <a:t>// </a:t>
            </a:r>
            <a:r>
              <a:rPr lang="zh-CN" altLang="en-US" b="0" i="1" dirty="0">
                <a:solidFill>
                  <a:srgbClr val="A0A1A7"/>
                </a:solidFill>
                <a:effectLst/>
                <a:latin typeface="Menlo"/>
              </a:rPr>
              <a:t>填写你的配置</a:t>
            </a: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altLang="zh-CN" b="0" dirty="0">
                <a:solidFill>
                  <a:srgbClr val="383A42"/>
                </a:solidFill>
                <a:effectLst/>
                <a:latin typeface="Menlo"/>
              </a:rPr>
              <a:t>};</a:t>
            </a:r>
            <a:endParaRPr lang="zh-CN" altLang="en-US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592458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25B9-DD51-18C3-2EB1-B4CAB544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F8968-5DB9-C104-43EC-969C3DD6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917509-7AFF-8294-46EE-3E4DF224D18A}"/>
              </a:ext>
            </a:extLst>
          </p:cNvPr>
          <p:cNvSpPr txBox="1"/>
          <p:nvPr/>
        </p:nvSpPr>
        <p:spPr>
          <a:xfrm>
            <a:off x="669924" y="1303349"/>
            <a:ext cx="6097384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核心要点回顾：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折线图与面积图的基本概念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两种图表的配置方法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数据结构要求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基础样式配置</a:t>
            </a:r>
          </a:p>
        </p:txBody>
      </p:sp>
    </p:spTree>
    <p:extLst>
      <p:ext uri="{BB962C8B-B14F-4D97-AF65-F5344CB8AC3E}">
        <p14:creationId xmlns:p14="http://schemas.microsoft.com/office/powerpoint/2010/main" val="783476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13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645</Words>
  <Application>Microsoft Office PowerPoint</Application>
  <PresentationFormat>宽屏</PresentationFormat>
  <Paragraphs>128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Menlo</vt:lpstr>
      <vt:lpstr>quote-cjk-patch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什么是折线图？</vt:lpstr>
      <vt:lpstr>什么是面积图？</vt:lpstr>
      <vt:lpstr>图表构成对比</vt:lpstr>
      <vt:lpstr>快速上手折线图</vt:lpstr>
      <vt:lpstr>快速上手面积图</vt:lpstr>
      <vt:lpstr>数据结构要求</vt:lpstr>
      <vt:lpstr>辅助组件配置</vt:lpstr>
      <vt:lpstr>基础样式配置</vt:lpstr>
      <vt:lpstr>课堂练习</vt:lpstr>
      <vt:lpstr>课堂总结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294</cp:revision>
  <dcterms:created xsi:type="dcterms:W3CDTF">2025-10-28T10:07:16Z</dcterms:created>
  <dcterms:modified xsi:type="dcterms:W3CDTF">2026-01-30T05:58:39Z</dcterms:modified>
</cp:coreProperties>
</file>