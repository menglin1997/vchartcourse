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4"/>
  </p:notesMasterIdLst>
  <p:sldIdLst>
    <p:sldId id="262" r:id="rId3"/>
    <p:sldId id="286" r:id="rId4"/>
    <p:sldId id="303" r:id="rId5"/>
    <p:sldId id="309" r:id="rId6"/>
    <p:sldId id="310" r:id="rId7"/>
    <p:sldId id="312" r:id="rId8"/>
    <p:sldId id="313" r:id="rId9"/>
    <p:sldId id="305" r:id="rId10"/>
    <p:sldId id="308" r:id="rId11"/>
    <p:sldId id="283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27</a:t>
            </a:r>
            <a:r>
              <a:rPr lang="zh-CN" altLang="en-US">
                <a:latin typeface="Arial" panose="020B0604020202020204" pitchFamily="34" charset="0"/>
                <a:ea typeface="微软雅黑" panose="020B0503020204020204" pitchFamily="34" charset="-122"/>
              </a:rPr>
              <a:t>课：箱形</a:t>
            </a:r>
            <a:r>
              <a:rPr lang="zh-CN" altLang="en-US"/>
              <a:t>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箱型图简介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79465F3-E011-EF36-7AA4-DD48DF1FB8C0}"/>
              </a:ext>
            </a:extLst>
          </p:cNvPr>
          <p:cNvSpPr txBox="1"/>
          <p:nvPr/>
        </p:nvSpPr>
        <p:spPr>
          <a:xfrm>
            <a:off x="595746" y="1373341"/>
            <a:ext cx="5389418" cy="2962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箱型图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=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盒须图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/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箱线图，用于展示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一组数据的分散情况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关键统计量：最小值、下四分位数（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Q1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）、中位数、上四分位数（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Q3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）、最大值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离群值（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Outlier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）：超出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Q1−1.5×IQR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或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Q3+1.5×IQR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的点（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IQR = Q3−Q1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）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典型应用：比较多个数据集（如不同班级成绩、多组实验数据）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E5A7472-959F-291C-A36E-C313FA717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06" y="1816331"/>
            <a:ext cx="5222625" cy="266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EE01-59EF-F05A-B83F-6E123B58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56A71-D185-7DA0-759B-E8C79F243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图表构成与基本配置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641CDE-D6D1-271A-099C-064A505C5FD5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BCA883-949C-29F2-4B5F-2FEFC03CB868}"/>
              </a:ext>
            </a:extLst>
          </p:cNvPr>
          <p:cNvSpPr txBox="1"/>
          <p:nvPr/>
        </p:nvSpPr>
        <p:spPr>
          <a:xfrm>
            <a:off x="669923" y="1373341"/>
            <a:ext cx="6097384" cy="4473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箱型图元（基于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Glyph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封装）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坐标轴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提示信息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必要配置项：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type: '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boxPlot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direction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'vertical'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（默认）或 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'horizontal'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minField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：最小值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q1Field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：下四分位数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medianField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：中位数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q3Field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：上四分位数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maxField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：最大值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（垂直方向）或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yField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（水平方向）：离散维度</a:t>
            </a:r>
          </a:p>
        </p:txBody>
      </p:sp>
    </p:spTree>
    <p:extLst>
      <p:ext uri="{BB962C8B-B14F-4D97-AF65-F5344CB8AC3E}">
        <p14:creationId xmlns:p14="http://schemas.microsoft.com/office/powerpoint/2010/main" val="2756737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8D4F-6257-078E-E13E-0EA384968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12299B-E80B-BEF3-62A3-2CD5D3CCA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关键配置详解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1BC4EE2-0EF2-5A88-D7D9-385343A03EF6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1F4ECAB-7988-4D7B-9318-86F3C3442B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071103"/>
              </p:ext>
            </p:extLst>
          </p:nvPr>
        </p:nvGraphicFramePr>
        <p:xfrm>
          <a:off x="803077" y="1775736"/>
          <a:ext cx="7825533" cy="2755900"/>
        </p:xfrm>
        <a:graphic>
          <a:graphicData uri="http://schemas.openxmlformats.org/drawingml/2006/table">
            <a:tbl>
              <a:tblPr/>
              <a:tblGrid>
                <a:gridCol w="2608511">
                  <a:extLst>
                    <a:ext uri="{9D8B030D-6E8A-4147-A177-3AD203B41FA5}">
                      <a16:colId xmlns:a16="http://schemas.microsoft.com/office/drawing/2014/main" val="202636959"/>
                    </a:ext>
                  </a:extLst>
                </a:gridCol>
                <a:gridCol w="2608511">
                  <a:extLst>
                    <a:ext uri="{9D8B030D-6E8A-4147-A177-3AD203B41FA5}">
                      <a16:colId xmlns:a16="http://schemas.microsoft.com/office/drawing/2014/main" val="2888630806"/>
                    </a:ext>
                  </a:extLst>
                </a:gridCol>
                <a:gridCol w="2608511">
                  <a:extLst>
                    <a:ext uri="{9D8B030D-6E8A-4147-A177-3AD203B41FA5}">
                      <a16:colId xmlns:a16="http://schemas.microsoft.com/office/drawing/2014/main" val="20091209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配置项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说明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映射到箱型图部分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423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minField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最小值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下须（最下边界）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30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q1Field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下四分位数（</a:t>
                      </a:r>
                      <a:r>
                        <a:rPr lang="en-US" altLang="zh-CN" b="0">
                          <a:effectLst/>
                          <a:latin typeface="quote-cjk-patch"/>
                        </a:rPr>
                        <a:t>25%</a:t>
                      </a:r>
                      <a:r>
                        <a:rPr lang="zh-CN" altLang="en-US" b="0">
                          <a:effectLst/>
                          <a:latin typeface="quote-cjk-patch"/>
                        </a:rPr>
                        <a:t>）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箱体下边界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456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 err="1">
                          <a:effectLst/>
                          <a:latin typeface="Menlo"/>
                        </a:rPr>
                        <a:t>medianField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中位数（</a:t>
                      </a:r>
                      <a:r>
                        <a:rPr lang="en-US" altLang="zh-CN" b="0">
                          <a:effectLst/>
                          <a:latin typeface="quote-cjk-patch"/>
                        </a:rPr>
                        <a:t>50%</a:t>
                      </a:r>
                      <a:r>
                        <a:rPr lang="zh-CN" altLang="en-US" b="0">
                          <a:effectLst/>
                          <a:latin typeface="quote-cjk-patch"/>
                        </a:rPr>
                        <a:t>）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箱体内中间线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70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q3Field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上四分位数（</a:t>
                      </a:r>
                      <a:r>
                        <a:rPr lang="en-US" altLang="zh-CN" b="0">
                          <a:effectLst/>
                          <a:latin typeface="quote-cjk-patch"/>
                        </a:rPr>
                        <a:t>75%</a:t>
                      </a:r>
                      <a:r>
                        <a:rPr lang="zh-CN" altLang="en-US" b="0">
                          <a:effectLst/>
                          <a:latin typeface="quote-cjk-patch"/>
                        </a:rPr>
                        <a:t>）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箱体上边界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54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maxField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最大值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上须（最上边界）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994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>
                          <a:effectLst/>
                          <a:latin typeface="Menlo"/>
                        </a:rPr>
                        <a:t>xField</a:t>
                      </a:r>
                      <a:r>
                        <a:rPr lang="en-US" b="0">
                          <a:effectLst/>
                          <a:latin typeface="quote-cjk-patch"/>
                        </a:rPr>
                        <a:t> / </a:t>
                      </a:r>
                      <a:r>
                        <a:rPr lang="en-US" b="0">
                          <a:effectLst/>
                          <a:latin typeface="Menlo"/>
                        </a:rPr>
                        <a:t>yField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类别维度（离散）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每个箱型图的位置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185850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76BB7AA4-C956-A758-F5DE-0D6194CD7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746" y="1209778"/>
            <a:ext cx="714110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🎙️ 提示：这五个字段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必须全部提供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，VChart 不会自动计算。</a:t>
            </a:r>
          </a:p>
        </p:txBody>
      </p:sp>
    </p:spTree>
    <p:extLst>
      <p:ext uri="{BB962C8B-B14F-4D97-AF65-F5344CB8AC3E}">
        <p14:creationId xmlns:p14="http://schemas.microsoft.com/office/powerpoint/2010/main" val="182714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0879-F2C3-AB38-5BB3-E7AF9572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04CE9-B567-093F-80C9-BD25B5E01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数据格式详解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921F6C-6CFE-7B3F-912A-4B3ACD66DCEC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F89139-A179-748B-F425-68961F00D1C3}"/>
              </a:ext>
            </a:extLst>
          </p:cNvPr>
          <p:cNvSpPr txBox="1"/>
          <p:nvPr/>
        </p:nvSpPr>
        <p:spPr>
          <a:xfrm>
            <a:off x="803564" y="1373341"/>
            <a:ext cx="9720349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"x"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"Class1"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"min"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45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"q1"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62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"median"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75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"q3"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88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"max"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98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"x"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"Class2"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"min"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38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"q1"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58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"median"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70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"q3"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85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"max"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95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字段含义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x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：类别（如不同班级、不同产品线）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五个数值字段已经预先计算好的统计量</a:t>
            </a:r>
          </a:p>
          <a:p>
            <a:pPr algn="l">
              <a:spcBef>
                <a:spcPts val="1200"/>
              </a:spcBef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🎙️ 提示：如果需要从原始数据自动计算箱型图统计量，需要在前端或后端预处理，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VChart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目前不内置自动计算</a:t>
            </a:r>
          </a:p>
        </p:txBody>
      </p:sp>
    </p:spTree>
    <p:extLst>
      <p:ext uri="{BB962C8B-B14F-4D97-AF65-F5344CB8AC3E}">
        <p14:creationId xmlns:p14="http://schemas.microsoft.com/office/powerpoint/2010/main" val="404108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01F2D-105A-DACF-3CDB-AA0C5AB5E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4FC60C-4C9C-5403-0CFF-EB8A06A6E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分组箱型图（多系列并排）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DF27EF6-7BE1-95E4-1AA4-AAB076DB2E8C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0A2391-D044-90E0-FD30-2141B4F775A8}"/>
              </a:ext>
            </a:extLst>
          </p:cNvPr>
          <p:cNvSpPr txBox="1"/>
          <p:nvPr/>
        </p:nvSpPr>
        <p:spPr>
          <a:xfrm>
            <a:off x="595745" y="1311776"/>
            <a:ext cx="8631381" cy="75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将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设为数组 ，比如：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['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mainCategory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', '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subCategory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']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配置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区分颜色</a:t>
            </a:r>
          </a:p>
        </p:txBody>
      </p:sp>
    </p:spTree>
    <p:extLst>
      <p:ext uri="{BB962C8B-B14F-4D97-AF65-F5344CB8AC3E}">
        <p14:creationId xmlns:p14="http://schemas.microsoft.com/office/powerpoint/2010/main" val="3184380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309D3-8838-12AD-CEEE-EE6E3E589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5F6DDD-CFF6-63BB-1141-54ACF6B59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图元及样式定制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397C272D-F242-F420-6F2B-501F1E3F40D3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E0BB7CC-DCB7-4894-0328-9EB6B8E29773}"/>
              </a:ext>
            </a:extLst>
          </p:cNvPr>
          <p:cNvSpPr txBox="1"/>
          <p:nvPr/>
        </p:nvSpPr>
        <p:spPr>
          <a:xfrm>
            <a:off x="669922" y="1373341"/>
            <a:ext cx="7700993" cy="2977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可配置样式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boxWidth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：箱体宽度（默认自适应，可固定数值）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shaftShape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：图元形状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'line'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（默认）：只有描边（胡须和箱体边框）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'bar'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：填充模式（箱体内填色）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shaftWidth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：最小值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最大值线的粗细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lineWidth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：整体描边宽度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104139-D168-9E19-63E5-50BDAD2A2CD8}"/>
              </a:ext>
            </a:extLst>
          </p:cNvPr>
          <p:cNvSpPr txBox="1"/>
          <p:nvPr/>
        </p:nvSpPr>
        <p:spPr>
          <a:xfrm>
            <a:off x="6845915" y="1940804"/>
            <a:ext cx="3966018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boxPlot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style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boxWidth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30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shaftShape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'bar'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shaftWidth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lineWidth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624642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05DEF-6006-4D8D-FF9B-26798257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912E89-F309-8CC1-73AD-CB27D611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快速上手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C3DB275-48BE-2040-5C04-F5C1DAED379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0E7F69-FD11-B251-8D43-2389E8CE411A}"/>
              </a:ext>
            </a:extLst>
          </p:cNvPr>
          <p:cNvSpPr txBox="1"/>
          <p:nvPr/>
        </p:nvSpPr>
        <p:spPr>
          <a:xfrm>
            <a:off x="669923" y="1373341"/>
            <a:ext cx="60973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const spec = {</a:t>
            </a:r>
          </a:p>
          <a:p>
            <a:r>
              <a:rPr lang="zh-CN" altLang="en-US" dirty="0"/>
              <a:t>  type: 'boxPlot',</a:t>
            </a:r>
          </a:p>
          <a:p>
            <a:r>
              <a:rPr lang="zh-CN" altLang="en-US" dirty="0"/>
              <a:t>  data: [{</a:t>
            </a:r>
          </a:p>
          <a:p>
            <a:r>
              <a:rPr lang="zh-CN" altLang="en-US" dirty="0"/>
              <a:t>    values: [</a:t>
            </a:r>
          </a:p>
          <a:p>
            <a:r>
              <a:rPr lang="zh-CN" altLang="en-US" dirty="0"/>
              <a:t>      { x: 'A', min: 5, q1: 8, median: 10, q3: 12, max: 20 },</a:t>
            </a:r>
          </a:p>
          <a:p>
            <a:r>
              <a:rPr lang="zh-CN" altLang="en-US" dirty="0"/>
              <a:t>      { x: 'B', min: 5, q1: 8, median: 10, q3: 12, max: 20 },</a:t>
            </a:r>
          </a:p>
          <a:p>
            <a:r>
              <a:rPr lang="zh-CN" altLang="en-US" dirty="0"/>
              <a:t>      { x: 'C', min: 5, q1: 8, median: 10, q3: 12, max: 20 }</a:t>
            </a:r>
          </a:p>
          <a:p>
            <a:r>
              <a:rPr lang="zh-CN" altLang="en-US" dirty="0"/>
              <a:t>    ]</a:t>
            </a:r>
          </a:p>
          <a:p>
            <a:r>
              <a:rPr lang="zh-CN" altLang="en-US" dirty="0"/>
              <a:t>  }],</a:t>
            </a:r>
          </a:p>
          <a:p>
            <a:r>
              <a:rPr lang="zh-CN" altLang="en-US" dirty="0"/>
              <a:t>  xField: 'x',</a:t>
            </a:r>
          </a:p>
          <a:p>
            <a:r>
              <a:rPr lang="zh-CN" altLang="en-US" dirty="0"/>
              <a:t>  minField: 'min',</a:t>
            </a:r>
          </a:p>
          <a:p>
            <a:r>
              <a:rPr lang="zh-CN" altLang="en-US" dirty="0"/>
              <a:t>  q1Field: 'q1',</a:t>
            </a:r>
          </a:p>
          <a:p>
            <a:r>
              <a:rPr lang="zh-CN" altLang="en-US" dirty="0"/>
              <a:t>  medianField: 'median',</a:t>
            </a:r>
          </a:p>
          <a:p>
            <a:r>
              <a:rPr lang="zh-CN" altLang="en-US" dirty="0"/>
              <a:t>  q3Field: 'q3',</a:t>
            </a:r>
          </a:p>
          <a:p>
            <a:r>
              <a:rPr lang="zh-CN" altLang="en-US" dirty="0"/>
              <a:t>  maxField: 'max'</a:t>
            </a:r>
          </a:p>
          <a:p>
            <a:r>
              <a:rPr lang="zh-CN" altLang="en-US" dirty="0"/>
              <a:t>};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F061ED3-427F-3600-770D-3B37CA4E1D15}"/>
              </a:ext>
            </a:extLst>
          </p:cNvPr>
          <p:cNvSpPr txBox="1"/>
          <p:nvPr/>
        </p:nvSpPr>
        <p:spPr>
          <a:xfrm>
            <a:off x="669923" y="5977098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三个垂直箱型图，分别显示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A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B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C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三组数据的分布。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1193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250F-C1FA-64FC-DFEF-3EAE125A2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BB2DA4-D2CC-91A2-A9D9-BD1A90634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923" y="0"/>
            <a:ext cx="10850563" cy="1028699"/>
          </a:xfrm>
        </p:spPr>
        <p:txBody>
          <a:bodyPr>
            <a:normAutofit/>
          </a:bodyPr>
          <a:lstStyle/>
          <a:p>
            <a:r>
              <a:rPr lang="zh-CN" altLang="en-US" dirty="0"/>
              <a:t>要点回顾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C3D4952-BC95-209D-E319-6885A94270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5BE976E-6F3A-AEDB-FD63-D219B6C8E868}"/>
              </a:ext>
            </a:extLst>
          </p:cNvPr>
          <p:cNvSpPr txBox="1"/>
          <p:nvPr/>
        </p:nvSpPr>
        <p:spPr>
          <a:xfrm>
            <a:off x="669923" y="1453343"/>
            <a:ext cx="6097384" cy="1682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箱型图用于展示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五数概括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和比较多组数据分布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必须提供 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min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q1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median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q3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、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max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五个字段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使用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数组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实现分组箱型图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通过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shaftShape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切换描边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/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填充样式</a:t>
            </a:r>
          </a:p>
        </p:txBody>
      </p:sp>
    </p:spTree>
    <p:extLst>
      <p:ext uri="{BB962C8B-B14F-4D97-AF65-F5344CB8AC3E}">
        <p14:creationId xmlns:p14="http://schemas.microsoft.com/office/powerpoint/2010/main" val="1080654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1676</TotalTime>
  <Words>800</Words>
  <Application>Microsoft Office PowerPoint</Application>
  <PresentationFormat>宽屏</PresentationFormat>
  <Paragraphs>103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Menlo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箱型图简介</vt:lpstr>
      <vt:lpstr>图表构成与基本配置</vt:lpstr>
      <vt:lpstr>关键配置详解</vt:lpstr>
      <vt:lpstr>数据格式详解</vt:lpstr>
      <vt:lpstr>分组箱型图（多系列并排）</vt:lpstr>
      <vt:lpstr>图元及样式定制</vt:lpstr>
      <vt:lpstr>快速上手</vt:lpstr>
      <vt:lpstr>要点回顾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569</cp:revision>
  <dcterms:created xsi:type="dcterms:W3CDTF">2025-10-28T10:07:16Z</dcterms:created>
  <dcterms:modified xsi:type="dcterms:W3CDTF">2026-04-06T14:41:13Z</dcterms:modified>
</cp:coreProperties>
</file>