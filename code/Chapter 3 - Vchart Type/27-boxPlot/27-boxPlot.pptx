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6" r:id="rId2"/>
  </p:sldMasterIdLst>
  <p:notesMasterIdLst>
    <p:notesMasterId r:id="rId14"/>
  </p:notesMasterIdLst>
  <p:sldIdLst>
    <p:sldId id="262" r:id="rId3"/>
    <p:sldId id="286" r:id="rId4"/>
    <p:sldId id="303" r:id="rId5"/>
    <p:sldId id="309" r:id="rId6"/>
    <p:sldId id="310" r:id="rId7"/>
    <p:sldId id="312" r:id="rId8"/>
    <p:sldId id="313" r:id="rId9"/>
    <p:sldId id="305" r:id="rId10"/>
    <p:sldId id="308" r:id="rId11"/>
    <p:sldId id="283" r:id="rId12"/>
    <p:sldId id="265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11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56D83-8A9A-44A3-8DF8-A2089DA75AD7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CF908-1C26-48E2-87DA-1AF51B1E7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9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A074C-FC59-1687-EF38-E58D64A9D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5E2F59-0152-88EF-849C-6DDEE08A8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55B4D-E731-6FF6-ECA5-56801375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A09C3-C7EA-BFC5-8E9D-A7FEDA45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C8C91-7EA7-3405-4F3E-6BB0C70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F9D3-E97E-9A97-724B-7617CC6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959AE-85FC-18D0-1C99-4B434B51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87162-02C5-AA26-372F-F080D16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6A089-BFC7-961B-7A6F-F4579EFF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83054-F8C1-9D22-FEB6-A7D56CE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0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C26E5-68DD-199A-C9DB-0DCB330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31F37-860D-F188-71DD-C910534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F94C4-CAAB-641B-EDEF-E610923E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86C9A-35CA-A3AA-D38A-BE842C29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063D8-7146-85BC-2C4F-4D1AC930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0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9DD69-D641-5506-6EAD-7547482F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5C0F0-9F27-F36B-C76C-D035B59C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DD2C5-C67F-899A-67FE-60393AA27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680EE8-C0A8-DF63-4E4F-AAEF5ED7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AE1E17-08B5-BA85-37A7-4D73A7A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ABAEA-8CDE-4BBA-7953-E0EAB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4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C3F3-35FB-3EFD-E50F-E91969C7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08565-CE8C-25C2-F502-577BD6A45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03FA-D079-05A3-77E3-1F7A7C9F2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6AE57E-0D55-EF96-BE76-FAAFD586D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C70729-A9D1-7B9C-2A67-540A15606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106C07-AE7B-BB2B-B1A4-318A9E26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70B1EC-6E58-4DBC-4E4D-824C46C8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67DDE0-E5BC-E402-1D39-BA434C70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DC668-B104-9549-9F37-7C0BE684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7C1EC8-D095-CFCC-06D0-AB93F871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DA2B43-0F9A-3A1F-AFD7-E88DD978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3D36DA-BC6A-0193-9084-B4977B6A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5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D5AA3B-61EA-3739-09D8-F75C5938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5B13EC-F704-2CB9-6407-601C12F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5C8CF-BB62-33BF-D0D6-FFBEDF7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6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C1573-3232-2085-CEC9-4D0F158D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ECDB6-16D7-B8FA-82F2-190EC99F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C45E2-6F54-277E-B223-080369AB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B1A6A-BD86-1AC6-FF55-671E4B21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59237D-544C-30D0-6399-57F3293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58955-F589-0F92-6FB1-3874BB7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6253-757C-5E12-8FC5-69C37414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BC2C7D-0F28-AB90-4C67-0A3476E91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BD7C4B-B874-23C3-EEEE-D40ADF1E0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494BB-803A-5732-6664-782BE09F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6B5F3-3770-1FF2-3A43-532EA58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2D97D-7D1E-92A7-B62E-17598B7C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3661F-EA66-E168-CB21-1B982A7C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3E507-4B83-A7CA-8415-9B8510D27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7E8E0-DD64-9A4B-F7BA-C5E42299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26AC7-F6B9-1DDF-92A0-C2F39036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527A7-E0D4-0F85-1FEB-81288C01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4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EA09A4-C5E1-B719-9BFB-DF36BCA0C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93829-DAF3-DD7D-646F-3B8C5FA4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8ADFE-4FAE-898B-E5D9-8E73B5EE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CA8BC-06D0-4B00-5097-AA534037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A6F4D4-EF63-B01B-0F7A-27957C45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3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9947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9332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4283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158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9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680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FE64D-B6B2-6026-B03E-E67CC1C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56D8-6EEA-79A0-9669-32265A9AA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E655F-F951-7C5A-E5CB-8672F1445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2DC5-7D61-7E45-6BE1-DA4A417B1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2E88D-CF29-00CB-8057-C4D310A7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0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1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sActor/VChart" TargetMode="External"/><Relationship Id="rId2" Type="http://schemas.openxmlformats.org/officeDocument/2006/relationships/hyperlink" Target="https://www.visactor.com/vchart" TargetMode="Externa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8CDDE5B-5E10-4B9F-F28E-F8449760D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184" y="4673072"/>
            <a:ext cx="5579403" cy="55879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讲师：小林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167893B9-016C-7B66-C92D-EAC30C277D2F}"/>
              </a:ext>
            </a:extLst>
          </p:cNvPr>
          <p:cNvSpPr txBox="1">
            <a:spLocks/>
          </p:cNvSpPr>
          <p:nvPr/>
        </p:nvSpPr>
        <p:spPr>
          <a:xfrm>
            <a:off x="162334" y="3032261"/>
            <a:ext cx="8332349" cy="11899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27</a:t>
            </a:r>
            <a:r>
              <a:rPr lang="zh-CN" altLang="en-US">
                <a:latin typeface="Arial" panose="020B0604020202020204" pitchFamily="34" charset="0"/>
                <a:ea typeface="微软雅黑" panose="020B0503020204020204" pitchFamily="34" charset="-122"/>
              </a:rPr>
              <a:t>课：箱形</a:t>
            </a:r>
            <a:r>
              <a:rPr lang="zh-CN" altLang="en-US"/>
              <a:t>图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810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574F7-F2A6-465B-6477-11D587DE4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42DE8E-7BB9-BFB4-F3B8-9EFF709BA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箱型图简介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BE714B4-E229-EB53-E11D-00980E5A517E}"/>
              </a:ext>
            </a:extLst>
          </p:cNvPr>
          <p:cNvSpPr txBox="1">
            <a:spLocks/>
          </p:cNvSpPr>
          <p:nvPr/>
        </p:nvSpPr>
        <p:spPr>
          <a:xfrm>
            <a:off x="669923" y="1373341"/>
            <a:ext cx="10926331" cy="462844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79465F3-E011-EF36-7AA4-DD48DF1FB8C0}"/>
              </a:ext>
            </a:extLst>
          </p:cNvPr>
          <p:cNvSpPr txBox="1"/>
          <p:nvPr/>
        </p:nvSpPr>
        <p:spPr>
          <a:xfrm>
            <a:off x="595746" y="1373341"/>
            <a:ext cx="5389418" cy="2962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箱型图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=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盒须图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/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箱线图，用于展示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一组数据的分散情况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关键统计量：最小值、下四分位数（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Q1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）、中位数、上四分位数（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Q3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）、最大值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离群值（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Outlier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）：超出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Q1−1.5×IQR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或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Q3+1.5×IQR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的点（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IQR = Q3−Q1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）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典型应用：比较多个数据集（如不同班级成绩、多组实验数据）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E5A7472-959F-291C-A36E-C313FA717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7806" y="1816331"/>
            <a:ext cx="5222625" cy="2661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275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8EE01-59EF-F05A-B83F-6E123B580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F56A71-D185-7DA0-759B-E8C79F243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图表构成与基本配置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F641CDE-D6D1-271A-099C-064A505C5FD5}"/>
              </a:ext>
            </a:extLst>
          </p:cNvPr>
          <p:cNvSpPr txBox="1">
            <a:spLocks/>
          </p:cNvSpPr>
          <p:nvPr/>
        </p:nvSpPr>
        <p:spPr>
          <a:xfrm>
            <a:off x="669923" y="1373341"/>
            <a:ext cx="10926331" cy="462844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9BCA883-949C-29F2-4B5F-2FEFC03CB868}"/>
              </a:ext>
            </a:extLst>
          </p:cNvPr>
          <p:cNvSpPr txBox="1"/>
          <p:nvPr/>
        </p:nvSpPr>
        <p:spPr>
          <a:xfrm>
            <a:off x="669923" y="1373341"/>
            <a:ext cx="6097384" cy="44730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箱型图元（基于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Glyph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封装）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+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坐标轴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+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提示信息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必要配置项：</a:t>
            </a:r>
          </a:p>
          <a:p>
            <a:pPr marL="742950" lvl="1" indent="-285750" algn="l">
              <a:lnSpc>
                <a:spcPts val="165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type: '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boxPlot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'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direction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'vertical'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（默认）或 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'horizontal'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minField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：最小值</a:t>
            </a:r>
          </a:p>
          <a:p>
            <a:pPr marL="742950" lvl="1" indent="-285750"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q1Field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：下四分位数</a:t>
            </a:r>
          </a:p>
          <a:p>
            <a:pPr marL="742950" lvl="1" indent="-285750"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medianField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：中位数</a:t>
            </a:r>
          </a:p>
          <a:p>
            <a:pPr marL="742950" lvl="1" indent="-285750"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q3Field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：上四分位数</a:t>
            </a:r>
          </a:p>
          <a:p>
            <a:pPr marL="742950" lvl="1" indent="-285750"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maxField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：最大值</a:t>
            </a:r>
          </a:p>
          <a:p>
            <a:pPr marL="742950" lvl="1" indent="-285750"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xField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（垂直方向）或 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yField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（水平方向）：离散维度</a:t>
            </a:r>
          </a:p>
        </p:txBody>
      </p:sp>
    </p:spTree>
    <p:extLst>
      <p:ext uri="{BB962C8B-B14F-4D97-AF65-F5344CB8AC3E}">
        <p14:creationId xmlns:p14="http://schemas.microsoft.com/office/powerpoint/2010/main" val="2756737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F8D4F-6257-078E-E13E-0EA384968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12299B-E80B-BEF3-62A3-2CD5D3CCA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关键配置详解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91BC4EE2-0EF2-5A88-D7D9-385343A03EF6}"/>
              </a:ext>
            </a:extLst>
          </p:cNvPr>
          <p:cNvSpPr txBox="1">
            <a:spLocks/>
          </p:cNvSpPr>
          <p:nvPr/>
        </p:nvSpPr>
        <p:spPr>
          <a:xfrm>
            <a:off x="669923" y="1373341"/>
            <a:ext cx="10926331" cy="462844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11F4ECAB-7988-4D7B-9318-86F3C3442B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3071103"/>
              </p:ext>
            </p:extLst>
          </p:nvPr>
        </p:nvGraphicFramePr>
        <p:xfrm>
          <a:off x="803077" y="1775736"/>
          <a:ext cx="7825533" cy="2755900"/>
        </p:xfrm>
        <a:graphic>
          <a:graphicData uri="http://schemas.openxmlformats.org/drawingml/2006/table">
            <a:tbl>
              <a:tblPr/>
              <a:tblGrid>
                <a:gridCol w="2608511">
                  <a:extLst>
                    <a:ext uri="{9D8B030D-6E8A-4147-A177-3AD203B41FA5}">
                      <a16:colId xmlns:a16="http://schemas.microsoft.com/office/drawing/2014/main" val="202636959"/>
                    </a:ext>
                  </a:extLst>
                </a:gridCol>
                <a:gridCol w="2608511">
                  <a:extLst>
                    <a:ext uri="{9D8B030D-6E8A-4147-A177-3AD203B41FA5}">
                      <a16:colId xmlns:a16="http://schemas.microsoft.com/office/drawing/2014/main" val="2888630806"/>
                    </a:ext>
                  </a:extLst>
                </a:gridCol>
                <a:gridCol w="2608511">
                  <a:extLst>
                    <a:ext uri="{9D8B030D-6E8A-4147-A177-3AD203B41FA5}">
                      <a16:colId xmlns:a16="http://schemas.microsoft.com/office/drawing/2014/main" val="20091209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quote-cjk-patch"/>
                        </a:rPr>
                        <a:t>配置项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quote-cjk-patch"/>
                        </a:rPr>
                        <a:t>说明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quote-cjk-patch"/>
                        </a:rPr>
                        <a:t>映射到箱型图部分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4230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Menlo"/>
                        </a:rPr>
                        <a:t>minField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 dirty="0">
                          <a:effectLst/>
                          <a:latin typeface="quote-cjk-patch"/>
                        </a:rPr>
                        <a:t>最小值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quote-cjk-patch"/>
                        </a:rPr>
                        <a:t>下须（最下边界）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30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Menlo"/>
                        </a:rPr>
                        <a:t>q1Field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quote-cjk-patch"/>
                        </a:rPr>
                        <a:t>下四分位数（</a:t>
                      </a:r>
                      <a:r>
                        <a:rPr lang="en-US" altLang="zh-CN" b="0">
                          <a:effectLst/>
                          <a:latin typeface="quote-cjk-patch"/>
                        </a:rPr>
                        <a:t>25%</a:t>
                      </a:r>
                      <a:r>
                        <a:rPr lang="zh-CN" altLang="en-US" b="0">
                          <a:effectLst/>
                          <a:latin typeface="quote-cjk-patch"/>
                        </a:rPr>
                        <a:t>）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quote-cjk-patch"/>
                        </a:rPr>
                        <a:t>箱体下边界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2456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 dirty="0" err="1">
                          <a:effectLst/>
                          <a:latin typeface="Menlo"/>
                        </a:rPr>
                        <a:t>medianField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quote-cjk-patch"/>
                        </a:rPr>
                        <a:t>中位数（</a:t>
                      </a:r>
                      <a:r>
                        <a:rPr lang="en-US" altLang="zh-CN" b="0">
                          <a:effectLst/>
                          <a:latin typeface="quote-cjk-patch"/>
                        </a:rPr>
                        <a:t>50%</a:t>
                      </a:r>
                      <a:r>
                        <a:rPr lang="zh-CN" altLang="en-US" b="0">
                          <a:effectLst/>
                          <a:latin typeface="quote-cjk-patch"/>
                        </a:rPr>
                        <a:t>）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quote-cjk-patch"/>
                        </a:rPr>
                        <a:t>箱体内中间线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1705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Menlo"/>
                        </a:rPr>
                        <a:t>q3Field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quote-cjk-patch"/>
                        </a:rPr>
                        <a:t>上四分位数（</a:t>
                      </a:r>
                      <a:r>
                        <a:rPr lang="en-US" altLang="zh-CN" b="0">
                          <a:effectLst/>
                          <a:latin typeface="quote-cjk-patch"/>
                        </a:rPr>
                        <a:t>75%</a:t>
                      </a:r>
                      <a:r>
                        <a:rPr lang="zh-CN" altLang="en-US" b="0">
                          <a:effectLst/>
                          <a:latin typeface="quote-cjk-patch"/>
                        </a:rPr>
                        <a:t>）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quote-cjk-patch"/>
                        </a:rPr>
                        <a:t>箱体上边界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054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Menlo"/>
                        </a:rPr>
                        <a:t>maxField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quote-cjk-patch"/>
                        </a:rPr>
                        <a:t>最大值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quote-cjk-patch"/>
                        </a:rPr>
                        <a:t>上须（最上边界）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8994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Menlo"/>
                        </a:rPr>
                        <a:t>xField</a:t>
                      </a:r>
                      <a:r>
                        <a:rPr lang="en-US" b="0">
                          <a:effectLst/>
                          <a:latin typeface="quote-cjk-patch"/>
                        </a:rPr>
                        <a:t> / </a:t>
                      </a:r>
                      <a:r>
                        <a:rPr lang="en-US" b="0">
                          <a:effectLst/>
                          <a:latin typeface="Menlo"/>
                        </a:rPr>
                        <a:t>yField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quote-cjk-patch"/>
                        </a:rPr>
                        <a:t>类别维度（离散）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 dirty="0">
                          <a:effectLst/>
                          <a:latin typeface="quote-cjk-patch"/>
                        </a:rPr>
                        <a:t>每个箱型图的位置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6185850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76BB7AA4-C956-A758-F5DE-0D6194CD72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746" y="1209778"/>
            <a:ext cx="714110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🎙️ 提示：这五个字段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必须全部提供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，VChart 不会自动计算。</a:t>
            </a:r>
          </a:p>
        </p:txBody>
      </p:sp>
    </p:spTree>
    <p:extLst>
      <p:ext uri="{BB962C8B-B14F-4D97-AF65-F5344CB8AC3E}">
        <p14:creationId xmlns:p14="http://schemas.microsoft.com/office/powerpoint/2010/main" val="1827147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10879-F2C3-AB38-5BB3-E7AF95720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904CE9-B567-093F-80C9-BD25B5E01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数据格式详解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F921F6C-6CFE-7B3F-912A-4B3ACD66DCEC}"/>
              </a:ext>
            </a:extLst>
          </p:cNvPr>
          <p:cNvSpPr txBox="1">
            <a:spLocks/>
          </p:cNvSpPr>
          <p:nvPr/>
        </p:nvSpPr>
        <p:spPr>
          <a:xfrm>
            <a:off x="669923" y="1373341"/>
            <a:ext cx="10926331" cy="462844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DF89139-A179-748B-F425-68961F00D1C3}"/>
              </a:ext>
            </a:extLst>
          </p:cNvPr>
          <p:cNvSpPr txBox="1"/>
          <p:nvPr/>
        </p:nvSpPr>
        <p:spPr>
          <a:xfrm>
            <a:off x="803564" y="1373341"/>
            <a:ext cx="9720349" cy="4201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endParaRPr lang="zh-CN" alt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"x"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Menlo"/>
              </a:rPr>
              <a:t>"Class1"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"min"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Menlo"/>
              </a:rPr>
              <a:t>45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"q1"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Menlo"/>
              </a:rPr>
              <a:t>62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"median"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Menlo"/>
              </a:rPr>
              <a:t>75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"q3"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Menlo"/>
              </a:rPr>
              <a:t>88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"max"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Menlo"/>
              </a:rPr>
              <a:t>98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},</a:t>
            </a:r>
            <a:endParaRPr lang="zh-CN" alt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"x"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Menlo"/>
              </a:rPr>
              <a:t>"Class2"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"min"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Menlo"/>
              </a:rPr>
              <a:t>38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"q1"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Menlo"/>
              </a:rPr>
              <a:t>58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"median"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Menlo"/>
              </a:rPr>
              <a:t>70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"q3"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Menlo"/>
              </a:rPr>
              <a:t>85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"max"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Menlo"/>
              </a:rPr>
              <a:t>95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zh-CN" alt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endParaRPr lang="zh-CN" altLang="en-US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字段含义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x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：类别（如不同班级、不同产品线）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五个数值字段已经预先计算好的统计量</a:t>
            </a:r>
          </a:p>
          <a:p>
            <a:pPr algn="l">
              <a:spcBef>
                <a:spcPts val="1200"/>
              </a:spcBef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🎙️ 提示：如果需要从原始数据自动计算箱型图统计量，需要在前端或后端预处理，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quote-cjk-patch"/>
              </a:rPr>
              <a:t>VChart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目前不内置自动计算</a:t>
            </a:r>
          </a:p>
        </p:txBody>
      </p:sp>
    </p:spTree>
    <p:extLst>
      <p:ext uri="{BB962C8B-B14F-4D97-AF65-F5344CB8AC3E}">
        <p14:creationId xmlns:p14="http://schemas.microsoft.com/office/powerpoint/2010/main" val="404108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01F2D-105A-DACF-3CDB-AA0C5AB5E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4FC60C-4C9C-5403-0CFF-EB8A06A6E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分组箱型图（多系列并排）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DF27EF6-7BE1-95E4-1AA4-AAB076DB2E8C}"/>
              </a:ext>
            </a:extLst>
          </p:cNvPr>
          <p:cNvSpPr txBox="1">
            <a:spLocks/>
          </p:cNvSpPr>
          <p:nvPr/>
        </p:nvSpPr>
        <p:spPr>
          <a:xfrm>
            <a:off x="669923" y="1373341"/>
            <a:ext cx="10926331" cy="462844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D0A2391-D044-90E0-FD30-2141B4F775A8}"/>
              </a:ext>
            </a:extLst>
          </p:cNvPr>
          <p:cNvSpPr txBox="1"/>
          <p:nvPr/>
        </p:nvSpPr>
        <p:spPr>
          <a:xfrm>
            <a:off x="595745" y="1311776"/>
            <a:ext cx="8631381" cy="751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将 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xField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设为数组 ，比如：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['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mainCategory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', '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subCategory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']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配置 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seriesField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区分颜色</a:t>
            </a:r>
          </a:p>
        </p:txBody>
      </p:sp>
    </p:spTree>
    <p:extLst>
      <p:ext uri="{BB962C8B-B14F-4D97-AF65-F5344CB8AC3E}">
        <p14:creationId xmlns:p14="http://schemas.microsoft.com/office/powerpoint/2010/main" val="3184380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309D3-8838-12AD-CEEE-EE6E3E589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5F6DDD-CFF6-63BB-1141-54ACF6B59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图元及样式定制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397C272D-F242-F420-6F2B-501F1E3F40D3}"/>
              </a:ext>
            </a:extLst>
          </p:cNvPr>
          <p:cNvSpPr txBox="1">
            <a:spLocks/>
          </p:cNvSpPr>
          <p:nvPr/>
        </p:nvSpPr>
        <p:spPr>
          <a:xfrm>
            <a:off x="669923" y="1373341"/>
            <a:ext cx="10926331" cy="462844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E0BB7CC-DCB7-4894-0328-9EB6B8E29773}"/>
              </a:ext>
            </a:extLst>
          </p:cNvPr>
          <p:cNvSpPr txBox="1"/>
          <p:nvPr/>
        </p:nvSpPr>
        <p:spPr>
          <a:xfrm>
            <a:off x="669922" y="1373341"/>
            <a:ext cx="7700993" cy="2977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可配置样式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boxWidth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：箱体宽度（默认自适应，可固定数值）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shaftShape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：图元形状</a:t>
            </a:r>
          </a:p>
          <a:p>
            <a:pPr marL="742950" lvl="1" indent="-285750" algn="l">
              <a:lnSpc>
                <a:spcPts val="165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'line'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（默认）：只有描边（胡须和箱体边框）</a:t>
            </a:r>
          </a:p>
          <a:p>
            <a:pPr marL="742950" lvl="1" indent="-285750"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'bar'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：填充模式（箱体内填色）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shaftWidth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：最小值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/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最大值线的粗细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lineWidth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：整体描边宽度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C104139-D168-9E19-63E5-50BDAD2A2CD8}"/>
              </a:ext>
            </a:extLst>
          </p:cNvPr>
          <p:cNvSpPr txBox="1"/>
          <p:nvPr/>
        </p:nvSpPr>
        <p:spPr>
          <a:xfrm>
            <a:off x="6845915" y="1940804"/>
            <a:ext cx="3966018" cy="1842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altLang="zh-CN" b="0" dirty="0" err="1">
                <a:solidFill>
                  <a:srgbClr val="E45649"/>
                </a:solidFill>
                <a:effectLst/>
                <a:latin typeface="Menlo"/>
              </a:rPr>
              <a:t>boxPlot</a:t>
            </a:r>
            <a:r>
              <a:rPr lang="en-US" altLang="zh-CN" b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altLang="zh-CN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altLang="zh-CN" b="0" dirty="0">
                <a:solidFill>
                  <a:srgbClr val="E45649"/>
                </a:solidFill>
                <a:effectLst/>
                <a:latin typeface="Menlo"/>
              </a:rPr>
              <a:t>style</a:t>
            </a:r>
            <a:r>
              <a:rPr lang="en-US" altLang="zh-CN" b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altLang="zh-CN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altLang="zh-CN" b="0" dirty="0" err="1">
                <a:solidFill>
                  <a:srgbClr val="E45649"/>
                </a:solidFill>
                <a:effectLst/>
                <a:latin typeface="Menlo"/>
              </a:rPr>
              <a:t>boxWidth</a:t>
            </a:r>
            <a:r>
              <a:rPr lang="en-US" altLang="zh-CN" b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B76B01"/>
                </a:solidFill>
                <a:effectLst/>
                <a:latin typeface="Menlo"/>
              </a:rPr>
              <a:t>30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altLang="zh-CN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altLang="zh-CN" b="0" dirty="0" err="1">
                <a:solidFill>
                  <a:srgbClr val="E45649"/>
                </a:solidFill>
                <a:effectLst/>
                <a:latin typeface="Menlo"/>
              </a:rPr>
              <a:t>shaftShape</a:t>
            </a:r>
            <a:r>
              <a:rPr lang="en-US" altLang="zh-CN" b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50A14F"/>
                </a:solidFill>
                <a:effectLst/>
                <a:latin typeface="Menlo"/>
              </a:rPr>
              <a:t>'bar'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altLang="zh-CN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altLang="zh-CN" b="0" dirty="0" err="1">
                <a:solidFill>
                  <a:srgbClr val="E45649"/>
                </a:solidFill>
                <a:effectLst/>
                <a:latin typeface="Menlo"/>
              </a:rPr>
              <a:t>shaftWidth</a:t>
            </a:r>
            <a:r>
              <a:rPr lang="en-US" altLang="zh-CN" b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altLang="zh-CN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altLang="zh-CN" b="0" dirty="0" err="1">
                <a:solidFill>
                  <a:srgbClr val="E45649"/>
                </a:solidFill>
                <a:effectLst/>
                <a:latin typeface="Menlo"/>
              </a:rPr>
              <a:t>lineWidth</a:t>
            </a:r>
            <a:r>
              <a:rPr lang="en-US" altLang="zh-CN" b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B76B01"/>
                </a:solidFill>
                <a:effectLst/>
                <a:latin typeface="Menlo"/>
              </a:rPr>
              <a:t>1</a:t>
            </a:r>
            <a:endParaRPr lang="en-US" altLang="zh-CN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altLang="zh-CN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altLang="zh-CN" b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624642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05DEF-6006-4D8D-FF9B-267982570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912E89-F309-8CC1-73AD-CB27D611D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快速上手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C3DB275-48BE-2040-5C04-F5C1DAED379E}"/>
              </a:ext>
            </a:extLst>
          </p:cNvPr>
          <p:cNvSpPr txBox="1">
            <a:spLocks/>
          </p:cNvSpPr>
          <p:nvPr/>
        </p:nvSpPr>
        <p:spPr>
          <a:xfrm>
            <a:off x="669923" y="1373341"/>
            <a:ext cx="10926331" cy="462844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A0E7F69-FD11-B251-8D43-2389E8CE411A}"/>
              </a:ext>
            </a:extLst>
          </p:cNvPr>
          <p:cNvSpPr txBox="1"/>
          <p:nvPr/>
        </p:nvSpPr>
        <p:spPr>
          <a:xfrm>
            <a:off x="669923" y="1373341"/>
            <a:ext cx="609738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const spec = {</a:t>
            </a:r>
          </a:p>
          <a:p>
            <a:r>
              <a:rPr lang="zh-CN" altLang="en-US" dirty="0"/>
              <a:t>  type: 'boxPlot',</a:t>
            </a:r>
          </a:p>
          <a:p>
            <a:r>
              <a:rPr lang="zh-CN" altLang="en-US" dirty="0"/>
              <a:t>  data: [{</a:t>
            </a:r>
          </a:p>
          <a:p>
            <a:r>
              <a:rPr lang="zh-CN" altLang="en-US" dirty="0"/>
              <a:t>    values: [</a:t>
            </a:r>
          </a:p>
          <a:p>
            <a:r>
              <a:rPr lang="zh-CN" altLang="en-US" dirty="0"/>
              <a:t>      { x: 'A', min: 5, q1: 8, median: 10, q3: 12, max: 20 },</a:t>
            </a:r>
          </a:p>
          <a:p>
            <a:r>
              <a:rPr lang="zh-CN" altLang="en-US" dirty="0"/>
              <a:t>      { x: 'B', min: 5, q1: 8, median: 10, q3: 12, max: 20 },</a:t>
            </a:r>
          </a:p>
          <a:p>
            <a:r>
              <a:rPr lang="zh-CN" altLang="en-US" dirty="0"/>
              <a:t>      { x: 'C', min: 5, q1: 8, median: 10, q3: 12, max: 20 }</a:t>
            </a:r>
          </a:p>
          <a:p>
            <a:r>
              <a:rPr lang="zh-CN" altLang="en-US" dirty="0"/>
              <a:t>    ]</a:t>
            </a:r>
          </a:p>
          <a:p>
            <a:r>
              <a:rPr lang="zh-CN" altLang="en-US" dirty="0"/>
              <a:t>  }],</a:t>
            </a:r>
          </a:p>
          <a:p>
            <a:r>
              <a:rPr lang="zh-CN" altLang="en-US" dirty="0"/>
              <a:t>  xField: 'x',</a:t>
            </a:r>
          </a:p>
          <a:p>
            <a:r>
              <a:rPr lang="zh-CN" altLang="en-US" dirty="0"/>
              <a:t>  minField: 'min',</a:t>
            </a:r>
          </a:p>
          <a:p>
            <a:r>
              <a:rPr lang="zh-CN" altLang="en-US" dirty="0"/>
              <a:t>  q1Field: 'q1',</a:t>
            </a:r>
          </a:p>
          <a:p>
            <a:r>
              <a:rPr lang="zh-CN" altLang="en-US" dirty="0"/>
              <a:t>  medianField: 'median',</a:t>
            </a:r>
          </a:p>
          <a:p>
            <a:r>
              <a:rPr lang="zh-CN" altLang="en-US" dirty="0"/>
              <a:t>  q3Field: 'q3',</a:t>
            </a:r>
          </a:p>
          <a:p>
            <a:r>
              <a:rPr lang="zh-CN" altLang="en-US" dirty="0"/>
              <a:t>  maxField: 'max'</a:t>
            </a:r>
          </a:p>
          <a:p>
            <a:r>
              <a:rPr lang="zh-CN" altLang="en-US" dirty="0"/>
              <a:t>};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F061ED3-427F-3600-770D-3B37CA4E1D15}"/>
              </a:ext>
            </a:extLst>
          </p:cNvPr>
          <p:cNvSpPr txBox="1"/>
          <p:nvPr/>
        </p:nvSpPr>
        <p:spPr>
          <a:xfrm>
            <a:off x="669923" y="5977098"/>
            <a:ext cx="6097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三个垂直箱型图，分别显示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A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、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B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、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C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三组数据的分布。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81193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8250F-C1FA-64FC-DFEF-3EAE125A2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BB2DA4-D2CC-91A2-A9D9-BD1A90634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3" y="0"/>
            <a:ext cx="10850563" cy="1028699"/>
          </a:xfrm>
        </p:spPr>
        <p:txBody>
          <a:bodyPr>
            <a:normAutofit/>
          </a:bodyPr>
          <a:lstStyle/>
          <a:p>
            <a:r>
              <a:rPr lang="zh-CN" altLang="en-US" dirty="0"/>
              <a:t>要点回顾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8C3D4952-BC95-209D-E319-6885A942707E}"/>
              </a:ext>
            </a:extLst>
          </p:cNvPr>
          <p:cNvSpPr txBox="1">
            <a:spLocks/>
          </p:cNvSpPr>
          <p:nvPr/>
        </p:nvSpPr>
        <p:spPr>
          <a:xfrm>
            <a:off x="669923" y="1373341"/>
            <a:ext cx="10926331" cy="462844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5BE976E-6F3A-AEDB-FD63-D219B6C8E868}"/>
              </a:ext>
            </a:extLst>
          </p:cNvPr>
          <p:cNvSpPr txBox="1"/>
          <p:nvPr/>
        </p:nvSpPr>
        <p:spPr>
          <a:xfrm>
            <a:off x="669923" y="1453343"/>
            <a:ext cx="6097384" cy="2172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箱型图用于展示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五数概括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和比较多组数据分布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必须提供 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min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、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q1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、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median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、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q3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、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max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五个字段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使用 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xField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数组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+ 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seriesField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实现分组箱型图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通过 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shaftShape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切换描边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/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填充样式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离群值需要用户自己预处理并叠加图层</a:t>
            </a:r>
          </a:p>
        </p:txBody>
      </p:sp>
    </p:spTree>
    <p:extLst>
      <p:ext uri="{BB962C8B-B14F-4D97-AF65-F5344CB8AC3E}">
        <p14:creationId xmlns:p14="http://schemas.microsoft.com/office/powerpoint/2010/main" val="1080654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7DDB-C79F-2A00-2EE5-BE19B00C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+mn-ea"/>
              </a:rPr>
              <a:t>案例仓库</a:t>
            </a:r>
            <a:r>
              <a:rPr lang="zh-CN" altLang="en-US">
                <a:latin typeface="+mn-ea"/>
              </a:rPr>
              <a:t>和资料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4650117-5BB5-04D0-9704-7B0DB6F47F6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buNone/>
            </a:pPr>
            <a:r>
              <a:rPr lang="en-US" altLang="zh-CN" sz="1800" b="1" dirty="0" err="1">
                <a:latin typeface="+mn-ea"/>
              </a:rPr>
              <a:t>配套实践案例仓库</a:t>
            </a:r>
            <a:r>
              <a:rPr lang="en-US" altLang="zh-CN" sz="1800" b="1" dirty="0">
                <a:latin typeface="+mn-ea"/>
              </a:rPr>
              <a:t>：</a:t>
            </a:r>
            <a:endParaRPr lang="en-US" altLang="zh-CN" sz="1800" b="1" u="sng" dirty="0">
              <a:latin typeface="+mn-ea"/>
            </a:endParaRPr>
          </a:p>
          <a:p>
            <a:pPr lvl="1"/>
            <a:r>
              <a:rPr lang="zh-CN" altLang="en-US" u="sng" dirty="0">
                <a:latin typeface="+mn-ea"/>
              </a:rPr>
              <a:t>码云：   </a:t>
            </a:r>
            <a:r>
              <a:rPr lang="en-US" altLang="zh-CN" u="sng" dirty="0">
                <a:latin typeface="+mn-ea"/>
              </a:rPr>
              <a:t>https://gitee.com/menglin1997/vchart.git</a:t>
            </a:r>
          </a:p>
          <a:p>
            <a:pPr lvl="1"/>
            <a:r>
              <a:rPr lang="en-US" altLang="zh-CN" u="sng" dirty="0" err="1">
                <a:latin typeface="+mn-ea"/>
              </a:rPr>
              <a:t>Github</a:t>
            </a:r>
            <a:r>
              <a:rPr lang="en-US" altLang="zh-CN" u="sng" dirty="0">
                <a:latin typeface="+mn-ea"/>
              </a:rPr>
              <a:t>:   https://github.com/menglin1997/vchartCourse.git</a:t>
            </a:r>
            <a:endParaRPr lang="zh-CN" altLang="zh-CN" dirty="0">
              <a:latin typeface="+mn-ea"/>
            </a:endParaRPr>
          </a:p>
          <a:p>
            <a:endParaRPr lang="zh-CN" altLang="en-US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A78CED-5845-B8E5-5A5D-4FAD539FBBB9}"/>
              </a:ext>
            </a:extLst>
          </p:cNvPr>
          <p:cNvSpPr txBox="1"/>
          <p:nvPr/>
        </p:nvSpPr>
        <p:spPr>
          <a:xfrm>
            <a:off x="838200" y="3008452"/>
            <a:ext cx="6098720" cy="150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b="1" dirty="0">
                <a:latin typeface="+mn-ea"/>
              </a:rPr>
              <a:t>官方资料：</a:t>
            </a:r>
            <a:endParaRPr lang="en-US" altLang="zh-CN" b="1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官网：</a:t>
            </a:r>
            <a:r>
              <a:rPr lang="en-US" altLang="zh-CN" sz="1600" u="sng" dirty="0" err="1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://www.visactor.com/vchart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GitHub：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://github.com/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VisActor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微信</a:t>
            </a:r>
            <a:r>
              <a:rPr lang="zh-CN" altLang="en-US" sz="1600" u="sng" dirty="0">
                <a:latin typeface="+mn-ea"/>
              </a:rPr>
              <a:t>公众号</a:t>
            </a:r>
            <a:r>
              <a:rPr lang="en-US" altLang="zh-CN" sz="1600" u="sng" dirty="0">
                <a:latin typeface="+mn-ea"/>
              </a:rPr>
              <a:t>：</a:t>
            </a:r>
            <a:r>
              <a:rPr lang="en-US" altLang="zh-CN" sz="1600" u="sng" dirty="0" err="1">
                <a:latin typeface="+mn-ea"/>
              </a:rPr>
              <a:t>VisActor</a:t>
            </a:r>
            <a:r>
              <a:rPr lang="en-US" altLang="zh-CN" sz="1600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508B13-EE38-8F23-87BB-843600E85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3019" y="2290947"/>
            <a:ext cx="1897468" cy="194844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6BC153-0BFB-D61A-CC38-273E49A4520C}"/>
              </a:ext>
            </a:extLst>
          </p:cNvPr>
          <p:cNvSpPr txBox="1"/>
          <p:nvPr/>
        </p:nvSpPr>
        <p:spPr>
          <a:xfrm>
            <a:off x="8880028" y="4419529"/>
            <a:ext cx="2855421" cy="61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公众号</a:t>
            </a:r>
            <a:r>
              <a:rPr lang="en-US" altLang="zh-CN" u="sng" dirty="0">
                <a:latin typeface="+mn-ea"/>
              </a:rPr>
              <a:t>：</a:t>
            </a:r>
            <a:r>
              <a:rPr lang="en-US" altLang="zh-CN" u="sng" dirty="0" err="1">
                <a:latin typeface="+mn-ea"/>
              </a:rPr>
              <a:t>VisActor</a:t>
            </a:r>
            <a:r>
              <a:rPr lang="en-US" altLang="zh-CN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8" name="图片 7" descr="QR 代码&#10;&#10;AI 生成的内容可能不正确。">
            <a:extLst>
              <a:ext uri="{FF2B5EF4-FFF2-40B4-BE49-F238E27FC236}">
                <a16:creationId xmlns:a16="http://schemas.microsoft.com/office/drawing/2014/main" id="{4BC5A303-5DB3-5205-5B22-BB506EC589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5877" y="1675605"/>
            <a:ext cx="1947142" cy="275255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A10B264-B5D3-ED22-0CAB-A678DD03360B}"/>
              </a:ext>
            </a:extLst>
          </p:cNvPr>
          <p:cNvSpPr txBox="1"/>
          <p:nvPr/>
        </p:nvSpPr>
        <p:spPr>
          <a:xfrm>
            <a:off x="7211240" y="4461194"/>
            <a:ext cx="285542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讲师微信</a:t>
            </a:r>
            <a:endParaRPr lang="zh-CN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3551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7E049-6D0C-3CB1-30FB-E6D1C3375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感谢观看，我们下节课再见！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312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1660</TotalTime>
  <Words>808</Words>
  <Application>Microsoft Office PowerPoint</Application>
  <PresentationFormat>宽屏</PresentationFormat>
  <Paragraphs>104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Menlo</vt:lpstr>
      <vt:lpstr>quote-cjk-patch</vt:lpstr>
      <vt:lpstr>等线</vt:lpstr>
      <vt:lpstr>Arial</vt:lpstr>
      <vt:lpstr>Impact</vt:lpstr>
      <vt:lpstr>1_Office 主题​​</vt:lpstr>
      <vt:lpstr>OfficePLUS-V2-ee79b56c-44bf-4999-8350-9727f0739207</vt:lpstr>
      <vt:lpstr>PowerPoint 演示文稿</vt:lpstr>
      <vt:lpstr>箱型图简介</vt:lpstr>
      <vt:lpstr>图表构成与基本配置</vt:lpstr>
      <vt:lpstr>关键配置详解</vt:lpstr>
      <vt:lpstr>数据格式详解</vt:lpstr>
      <vt:lpstr>分组箱型图（多系列并排）</vt:lpstr>
      <vt:lpstr>图元及样式定制</vt:lpstr>
      <vt:lpstr>快速上手</vt:lpstr>
      <vt:lpstr>要点回顾</vt:lpstr>
      <vt:lpstr>案例仓库和资料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ml</dc:creator>
  <cp:lastModifiedBy>z ml</cp:lastModifiedBy>
  <cp:revision>568</cp:revision>
  <dcterms:created xsi:type="dcterms:W3CDTF">2025-10-28T10:07:16Z</dcterms:created>
  <dcterms:modified xsi:type="dcterms:W3CDTF">2026-04-06T08:36:11Z</dcterms:modified>
</cp:coreProperties>
</file>