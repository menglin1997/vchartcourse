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17"/>
  </p:notesMasterIdLst>
  <p:sldIdLst>
    <p:sldId id="262" r:id="rId3"/>
    <p:sldId id="284" r:id="rId4"/>
    <p:sldId id="286" r:id="rId5"/>
    <p:sldId id="296" r:id="rId6"/>
    <p:sldId id="293" r:id="rId7"/>
    <p:sldId id="294" r:id="rId8"/>
    <p:sldId id="297" r:id="rId9"/>
    <p:sldId id="295" r:id="rId10"/>
    <p:sldId id="292" r:id="rId11"/>
    <p:sldId id="299" r:id="rId12"/>
    <p:sldId id="300" r:id="rId13"/>
    <p:sldId id="302" r:id="rId14"/>
    <p:sldId id="283" r:id="rId15"/>
    <p:sldId id="265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8" d="100"/>
          <a:sy n="158" d="100"/>
        </p:scale>
        <p:origin x="174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CF908-1C26-48E2-87DA-1AF51B1E776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471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0F666-2BAE-FFA5-93A5-9FF6EEFAB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BC6F21-3D7D-9CA7-F795-AFA9E67342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AF22DFE-0AA0-A1F9-B860-0FD41DC635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2467DF-4268-83D0-F907-02F45C7321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CF908-1C26-48E2-87DA-1AF51B1E776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1552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19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</a:t>
            </a:r>
            <a:r>
              <a:rPr lang="zh-CN" altLang="en-US" b="0" dirty="0"/>
              <a:t>柱状图</a:t>
            </a:r>
            <a:r>
              <a:rPr lang="en-US" altLang="zh-CN" b="0" dirty="0"/>
              <a:t>/</a:t>
            </a:r>
            <a:r>
              <a:rPr lang="zh-CN" altLang="en-US" b="0"/>
              <a:t>条形图基础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B2085-6C1E-0D15-1DC2-CA199408F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277A5-6950-9361-2308-058A1A234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课程目标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D18CE36-D0B6-BE5D-D94C-E68C10F8B31B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/>
            <a:r>
              <a:rPr lang="zh-CN" altLang="en-US" dirty="0"/>
              <a:t>✅ 理解柱状图</a:t>
            </a:r>
            <a:r>
              <a:rPr lang="en-US" altLang="zh-CN" dirty="0"/>
              <a:t>/</a:t>
            </a:r>
            <a:r>
              <a:rPr lang="zh-CN" altLang="en-US" dirty="0"/>
              <a:t>条形图的基本概念</a:t>
            </a:r>
          </a:p>
          <a:p>
            <a:pPr latinLnBrk="1"/>
            <a:r>
              <a:rPr lang="zh-CN" altLang="en-US" dirty="0"/>
              <a:t>✅ 掌握</a:t>
            </a:r>
            <a:r>
              <a:rPr lang="en-US" altLang="zh-CN" dirty="0" err="1"/>
              <a:t>VChart</a:t>
            </a:r>
            <a:r>
              <a:rPr lang="zh-CN" altLang="en-US" dirty="0"/>
              <a:t>四大核心配置</a:t>
            </a:r>
          </a:p>
          <a:p>
            <a:pPr latinLnBrk="1"/>
            <a:r>
              <a:rPr lang="zh-CN" altLang="en-US" dirty="0"/>
              <a:t>✅ 创建基础柱状图和条形图</a:t>
            </a:r>
          </a:p>
          <a:p>
            <a:pPr latinLnBrk="1"/>
            <a:r>
              <a:rPr lang="zh-CN" altLang="en-US" dirty="0"/>
              <a:t>✅ 进行简单的样式美化</a:t>
            </a:r>
          </a:p>
          <a:p>
            <a:pPr latinLnBrk="1"/>
            <a:r>
              <a:rPr lang="zh-CN" altLang="en-US" dirty="0"/>
              <a:t>✅ 应用于实际业务场景</a:t>
            </a:r>
          </a:p>
        </p:txBody>
      </p:sp>
    </p:spTree>
    <p:extLst>
      <p:ext uri="{BB962C8B-B14F-4D97-AF65-F5344CB8AC3E}">
        <p14:creationId xmlns:p14="http://schemas.microsoft.com/office/powerpoint/2010/main" val="2765752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574F7-F2A6-465B-6477-11D587DE4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2DE8E-7BB9-BFB4-F3B8-9EFF709BA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什么是柱状图？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BE714B4-E229-EB53-E11D-00980E5A517E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F6166D3-046E-05E9-9815-31A40FA4B6D1}"/>
              </a:ext>
            </a:extLst>
          </p:cNvPr>
          <p:cNvSpPr txBox="1"/>
          <p:nvPr/>
        </p:nvSpPr>
        <p:spPr>
          <a:xfrm>
            <a:off x="669923" y="1208440"/>
            <a:ext cx="609499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定义：用柱子的高度表示数值大小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None/>
            </a:pP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871CFFD-307A-117F-2DC8-9459F2671272}"/>
              </a:ext>
            </a:extLst>
          </p:cNvPr>
          <p:cNvSpPr txBox="1"/>
          <p:nvPr/>
        </p:nvSpPr>
        <p:spPr>
          <a:xfrm>
            <a:off x="669923" y="1737624"/>
            <a:ext cx="4780143" cy="2058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zh-CN" altLang="en-US" b="0" dirty="0">
                <a:solidFill>
                  <a:srgbClr val="0F1115"/>
                </a:solidFill>
                <a:effectLst/>
                <a:latin typeface="Menlo"/>
              </a:rPr>
              <a:t>核心特征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zh-CN" alt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b="0" dirty="0">
                <a:solidFill>
                  <a:srgbClr val="0F1115"/>
                </a:solidFill>
                <a:effectLst/>
                <a:latin typeface="Menlo"/>
              </a:rPr>
              <a:t>📈 用于数据对比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zh-CN" alt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b="0" dirty="0">
                <a:solidFill>
                  <a:srgbClr val="0F1115"/>
                </a:solidFill>
                <a:effectLst/>
                <a:latin typeface="Menlo"/>
              </a:rPr>
              <a:t>🕒 适合时间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/</a:t>
            </a:r>
            <a:r>
              <a:rPr lang="zh-CN" altLang="en-US" b="0" dirty="0">
                <a:solidFill>
                  <a:srgbClr val="0F1115"/>
                </a:solidFill>
                <a:effectLst/>
                <a:latin typeface="Menlo"/>
              </a:rPr>
              <a:t>类别比较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zh-CN" alt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b="0" dirty="0">
                <a:solidFill>
                  <a:srgbClr val="0F1115"/>
                </a:solidFill>
                <a:effectLst/>
                <a:latin typeface="Menlo"/>
              </a:rPr>
              <a:t>📊 直观易懂 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b="0" dirty="0">
                <a:solidFill>
                  <a:srgbClr val="0F1115"/>
                </a:solidFill>
                <a:effectLst/>
                <a:latin typeface="Menlo"/>
              </a:rPr>
              <a:t>              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b="0" dirty="0">
                <a:solidFill>
                  <a:srgbClr val="0F1115"/>
                </a:solidFill>
                <a:effectLst/>
                <a:latin typeface="Menlo"/>
              </a:rPr>
              <a:t>🔢 处理离散数据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D0670D-F4B6-C631-B793-6E20B72DFA29}"/>
              </a:ext>
            </a:extLst>
          </p:cNvPr>
          <p:cNvSpPr txBox="1"/>
          <p:nvPr/>
        </p:nvSpPr>
        <p:spPr>
          <a:xfrm>
            <a:off x="5893641" y="1373341"/>
            <a:ext cx="5626846" cy="2495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br>
              <a:rPr lang="zh-CN" altLang="en-US" b="0" dirty="0">
                <a:solidFill>
                  <a:srgbClr val="0F1115"/>
                </a:solidFill>
                <a:effectLst/>
                <a:latin typeface="Menlo"/>
              </a:rPr>
            </a:br>
            <a:endParaRPr lang="zh-CN" alt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b="0" dirty="0">
                <a:solidFill>
                  <a:srgbClr val="0F1115"/>
                </a:solidFill>
                <a:effectLst/>
                <a:latin typeface="Menlo"/>
              </a:rPr>
              <a:t>▌ 应用场景：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zh-CN" alt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• </a:t>
            </a:r>
            <a:r>
              <a:rPr lang="zh-CN" altLang="en-US" b="0" dirty="0">
                <a:solidFill>
                  <a:srgbClr val="0F1115"/>
                </a:solidFill>
                <a:effectLst/>
                <a:latin typeface="Menlo"/>
              </a:rPr>
              <a:t>月度销售额对比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zh-CN" alt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• </a:t>
            </a:r>
            <a:r>
              <a:rPr lang="zh-CN" altLang="en-US" b="0" dirty="0">
                <a:solidFill>
                  <a:srgbClr val="0F1115"/>
                </a:solidFill>
                <a:effectLst/>
                <a:latin typeface="Menlo"/>
              </a:rPr>
              <a:t>产品销量排名 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• </a:t>
            </a:r>
            <a:r>
              <a:rPr lang="zh-CN" altLang="en-US" b="0" dirty="0">
                <a:solidFill>
                  <a:srgbClr val="0F1115"/>
                </a:solidFill>
                <a:effectLst/>
                <a:latin typeface="Menlo"/>
              </a:rPr>
              <a:t>用户行为统计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zh-CN" alt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• A/B</a:t>
            </a:r>
            <a:r>
              <a:rPr lang="zh-CN" altLang="en-US" b="0" dirty="0">
                <a:solidFill>
                  <a:srgbClr val="0F1115"/>
                </a:solidFill>
                <a:effectLst/>
                <a:latin typeface="Menlo"/>
              </a:rPr>
              <a:t>测试结果</a:t>
            </a:r>
          </a:p>
        </p:txBody>
      </p:sp>
    </p:spTree>
    <p:extLst>
      <p:ext uri="{BB962C8B-B14F-4D97-AF65-F5344CB8AC3E}">
        <p14:creationId xmlns:p14="http://schemas.microsoft.com/office/powerpoint/2010/main" val="1518275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E808E-BE2A-D38A-0A07-84B9F8DAA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29DE32-EF03-E2AD-9A46-0FD5CB786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图表结构解剖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D8B4BDB-8D8B-302B-E7AF-0A56A94A6C15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0504076-6CDC-BE3F-A56F-B4139427E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720" y="1271745"/>
            <a:ext cx="7862903" cy="3300255"/>
          </a:xfrm>
          <a:prstGeom prst="rect">
            <a:avLst/>
          </a:prstGeom>
        </p:spPr>
      </p:pic>
      <p:pic>
        <p:nvPicPr>
          <p:cNvPr id="12" name="图片 11" descr="图示&#10;&#10;AI 生成的内容可能不正确。">
            <a:extLst>
              <a:ext uri="{FF2B5EF4-FFF2-40B4-BE49-F238E27FC236}">
                <a16:creationId xmlns:a16="http://schemas.microsoft.com/office/drawing/2014/main" id="{48A4F325-931E-431C-0748-B40754C38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135" y="1451237"/>
            <a:ext cx="3489690" cy="298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324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EEA16-C40C-8B47-568A-98621C07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BBD3ED-676C-367F-29AE-88ECA16FC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VChart</a:t>
            </a:r>
            <a:r>
              <a:rPr lang="zh-CN" altLang="en-US" dirty="0"/>
              <a:t>四要素（关键！）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E1CA0BB-9D89-E0E7-13EA-54EC796581F5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D849D27-25B5-F813-9DA0-15864065E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0563" y="31067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D1F1B2F-E0CF-A7B0-0DD7-832B3DC3EC70}"/>
              </a:ext>
            </a:extLst>
          </p:cNvPr>
          <p:cNvSpPr txBox="1"/>
          <p:nvPr/>
        </p:nvSpPr>
        <p:spPr>
          <a:xfrm>
            <a:off x="669924" y="1309613"/>
            <a:ext cx="4998145" cy="2932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altLang="zh-CN" b="0" i="1" dirty="0">
                <a:solidFill>
                  <a:srgbClr val="A0A1A7"/>
                </a:solidFill>
                <a:effectLst/>
                <a:latin typeface="Menlo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Menlo"/>
              </a:rPr>
              <a:t>创建柱状图的四要素</a:t>
            </a:r>
            <a:endParaRPr lang="en-US" altLang="zh-CN" b="0" i="1" dirty="0">
              <a:solidFill>
                <a:srgbClr val="A0A1A7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zh-CN" alt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A626A4"/>
                </a:solidFill>
                <a:effectLst/>
                <a:latin typeface="Menlo"/>
              </a:rPr>
              <a:t>const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spec 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{</a:t>
            </a:r>
          </a:p>
          <a:p>
            <a:pPr algn="l" latinLnBrk="1">
              <a:lnSpc>
                <a:spcPts val="1650"/>
              </a:lnSpc>
              <a:buNone/>
            </a:pP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type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Menlo"/>
              </a:rPr>
              <a:t>'bar'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        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Menlo"/>
              </a:rPr>
              <a:t>// 1.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Menlo"/>
              </a:rPr>
              <a:t>告诉</a:t>
            </a:r>
            <a:r>
              <a:rPr lang="en-US" altLang="zh-CN" b="0" i="1" dirty="0" err="1">
                <a:solidFill>
                  <a:srgbClr val="A0A1A7"/>
                </a:solidFill>
                <a:effectLst/>
                <a:latin typeface="Menlo"/>
              </a:rPr>
              <a:t>VChart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Menlo"/>
              </a:rPr>
              <a:t>画什么</a:t>
            </a:r>
            <a:endParaRPr lang="en-US" altLang="zh-CN" b="0" i="1" dirty="0">
              <a:solidFill>
                <a:srgbClr val="A0A1A7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zh-CN" alt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data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[{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...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}],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Menlo"/>
              </a:rPr>
              <a:t>// 2.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Menlo"/>
              </a:rPr>
              <a:t>提供数据源</a:t>
            </a:r>
            <a:endParaRPr lang="en-US" altLang="zh-CN" b="0" i="1" dirty="0">
              <a:solidFill>
                <a:srgbClr val="A0A1A7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zh-CN" alt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dirty="0" err="1">
                <a:solidFill>
                  <a:srgbClr val="E45649"/>
                </a:solidFill>
                <a:effectLst/>
                <a:latin typeface="Menlo"/>
              </a:rPr>
              <a:t>xField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Menlo"/>
              </a:rPr>
              <a:t>'category'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 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Menlo"/>
              </a:rPr>
              <a:t>// 3. X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Menlo"/>
              </a:rPr>
              <a:t>轴显示什么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Menlo"/>
              </a:rPr>
              <a:t>(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Menlo"/>
              </a:rPr>
              <a:t>分类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Menlo"/>
              </a:rPr>
              <a:t>)</a:t>
            </a:r>
          </a:p>
          <a:p>
            <a:pPr algn="l" latinLnBrk="1">
              <a:lnSpc>
                <a:spcPts val="1650"/>
              </a:lnSpc>
              <a:buNone/>
            </a:pPr>
            <a:endParaRPr lang="zh-CN" alt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dirty="0" err="1">
                <a:solidFill>
                  <a:srgbClr val="E45649"/>
                </a:solidFill>
                <a:effectLst/>
                <a:latin typeface="Menlo"/>
              </a:rPr>
              <a:t>yField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Menlo"/>
              </a:rPr>
              <a:t>'value'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     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Menlo"/>
              </a:rPr>
              <a:t>// 4. Y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Menlo"/>
              </a:rPr>
              <a:t>轴显示什么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Menlo"/>
              </a:rPr>
              <a:t>(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Menlo"/>
              </a:rPr>
              <a:t>数值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Menlo"/>
              </a:rPr>
              <a:t>)</a:t>
            </a:r>
          </a:p>
          <a:p>
            <a:pPr algn="l" latinLnBrk="1">
              <a:lnSpc>
                <a:spcPts val="1650"/>
              </a:lnSpc>
              <a:buNone/>
            </a:pPr>
            <a:endParaRPr lang="zh-CN" alt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};</a:t>
            </a:r>
            <a:endParaRPr lang="zh-CN" alt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A6709E3-02BD-F954-32B4-2C436B49F5D0}"/>
              </a:ext>
            </a:extLst>
          </p:cNvPr>
          <p:cNvSpPr txBox="1"/>
          <p:nvPr/>
        </p:nvSpPr>
        <p:spPr>
          <a:xfrm>
            <a:off x="734245" y="4407441"/>
            <a:ext cx="609499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记忆口诀：类型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-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数据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-X-Y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None/>
            </a:pP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14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07736-06AC-2ADB-FE58-72F336A99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54F1DE-C8F3-139A-0DE9-7805E8C5B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代码示例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B5AB40-F5EA-EFF7-253A-8B27AC6417C9}"/>
              </a:ext>
            </a:extLst>
          </p:cNvPr>
          <p:cNvSpPr txBox="1"/>
          <p:nvPr/>
        </p:nvSpPr>
        <p:spPr>
          <a:xfrm>
            <a:off x="669924" y="1720840"/>
            <a:ext cx="609499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const spec = {</a:t>
            </a:r>
          </a:p>
          <a:p>
            <a:r>
              <a:rPr lang="zh-CN" altLang="en-US" dirty="0"/>
              <a:t>  type: 'bar',</a:t>
            </a:r>
          </a:p>
          <a:p>
            <a:r>
              <a:rPr lang="zh-CN" altLang="en-US" dirty="0"/>
              <a:t>  data: [{</a:t>
            </a:r>
          </a:p>
          <a:p>
            <a:r>
              <a:rPr lang="zh-CN" altLang="en-US" dirty="0"/>
              <a:t>    values: [</a:t>
            </a:r>
          </a:p>
          <a:p>
            <a:r>
              <a:rPr lang="zh-CN" altLang="en-US" dirty="0"/>
              <a:t>      { product: '手机', sales: 1560 },</a:t>
            </a:r>
          </a:p>
          <a:p>
            <a:r>
              <a:rPr lang="zh-CN" altLang="en-US" dirty="0"/>
              <a:t>      { product: '电脑', sales: 2340 },</a:t>
            </a:r>
          </a:p>
          <a:p>
            <a:r>
              <a:rPr lang="zh-CN" altLang="en-US" dirty="0"/>
              <a:t>      { product: '平板', sales: 1890 }</a:t>
            </a:r>
          </a:p>
          <a:p>
            <a:r>
              <a:rPr lang="zh-CN" altLang="en-US" dirty="0"/>
              <a:t>    ]</a:t>
            </a:r>
          </a:p>
          <a:p>
            <a:r>
              <a:rPr lang="zh-CN" altLang="en-US" dirty="0"/>
              <a:t>  }],</a:t>
            </a:r>
          </a:p>
          <a:p>
            <a:r>
              <a:rPr lang="zh-CN" altLang="en-US" dirty="0"/>
              <a:t>  xField: 'product',  // X轴：产品名称</a:t>
            </a:r>
          </a:p>
          <a:p>
            <a:r>
              <a:rPr lang="zh-CN" altLang="en-US" dirty="0"/>
              <a:t>  yField: 'sales'     // Y轴：销售额</a:t>
            </a:r>
          </a:p>
          <a:p>
            <a:r>
              <a:rPr lang="zh-CN" altLang="en-US" dirty="0"/>
              <a:t>};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4EF543F-0B62-8461-A2CF-A591007BB862}"/>
              </a:ext>
            </a:extLst>
          </p:cNvPr>
          <p:cNvSpPr txBox="1"/>
          <p:nvPr/>
        </p:nvSpPr>
        <p:spPr>
          <a:xfrm>
            <a:off x="609368" y="1278640"/>
            <a:ext cx="6094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👉 实现一个简单的柱状图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65933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00F8B-1555-109B-8083-E036CD81F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067BA3-9253-30C3-41CA-2554A61E0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数据格式要求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4E96983-151C-3BDC-C154-ECBBFE339BDA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CE79EDC-DF1A-F871-B8BE-B8DA9EE192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849102"/>
              </p:ext>
            </p:extLst>
          </p:nvPr>
        </p:nvGraphicFramePr>
        <p:xfrm>
          <a:off x="669447" y="1592872"/>
          <a:ext cx="5730240" cy="1574800"/>
        </p:xfrm>
        <a:graphic>
          <a:graphicData uri="http://schemas.openxmlformats.org/drawingml/2006/table">
            <a:tbl>
              <a:tblPr/>
              <a:tblGrid>
                <a:gridCol w="2865120">
                  <a:extLst>
                    <a:ext uri="{9D8B030D-6E8A-4147-A177-3AD203B41FA5}">
                      <a16:colId xmlns:a16="http://schemas.microsoft.com/office/drawing/2014/main" val="1277923996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812877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product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sales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600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  <a:latin typeface="quote-cjk-patch"/>
                        </a:rPr>
                        <a:t>手机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  <a:latin typeface="quote-cjk-patch"/>
                        </a:rPr>
                        <a:t>1560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509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电脑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  <a:latin typeface="quote-cjk-patch"/>
                        </a:rPr>
                        <a:t>2340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9166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平板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quote-cjk-patch"/>
                        </a:rPr>
                        <a:t>1890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4340573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6F4C815E-4909-523A-DCDE-F697FBA81B17}"/>
              </a:ext>
            </a:extLst>
          </p:cNvPr>
          <p:cNvSpPr txBox="1"/>
          <p:nvPr/>
        </p:nvSpPr>
        <p:spPr>
          <a:xfrm>
            <a:off x="625243" y="1229985"/>
            <a:ext cx="609499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正确格式（表格形式）：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None/>
            </a:pP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430FC-01D9-2311-7B8B-90BC7BDA5B01}"/>
              </a:ext>
            </a:extLst>
          </p:cNvPr>
          <p:cNvSpPr txBox="1"/>
          <p:nvPr/>
        </p:nvSpPr>
        <p:spPr>
          <a:xfrm>
            <a:off x="625243" y="3578737"/>
            <a:ext cx="6094990" cy="1944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❌ 常见错误：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缺少数值字段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数据格式不一致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分类字段为空</a:t>
            </a:r>
          </a:p>
        </p:txBody>
      </p:sp>
    </p:spTree>
    <p:extLst>
      <p:ext uri="{BB962C8B-B14F-4D97-AF65-F5344CB8AC3E}">
        <p14:creationId xmlns:p14="http://schemas.microsoft.com/office/powerpoint/2010/main" val="3560434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AC336-D3F7-4DF1-7E18-CC829D56F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334340-8F55-7A2F-1DC1-9B2A2775F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条形图：水平显示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FD75B3C-849F-BFDA-5819-F67361F2CB3D}"/>
              </a:ext>
            </a:extLst>
          </p:cNvPr>
          <p:cNvSpPr txBox="1"/>
          <p:nvPr/>
        </p:nvSpPr>
        <p:spPr>
          <a:xfrm>
            <a:off x="669924" y="1747952"/>
            <a:ext cx="609499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{</a:t>
            </a:r>
          </a:p>
          <a:p>
            <a:r>
              <a:rPr lang="zh-CN" altLang="en-US" dirty="0"/>
              <a:t>  type: 'bar',</a:t>
            </a:r>
          </a:p>
          <a:p>
            <a:r>
              <a:rPr lang="zh-CN" altLang="en-US" dirty="0"/>
              <a:t>  direction: 'horizontal',  // 关键：改变方向</a:t>
            </a:r>
          </a:p>
          <a:p>
            <a:r>
              <a:rPr lang="zh-CN" altLang="en-US" dirty="0"/>
              <a:t>  xField: 'sales',          // 注意：x/y字段互换</a:t>
            </a:r>
          </a:p>
          <a:p>
            <a:r>
              <a:rPr lang="zh-CN" altLang="en-US" dirty="0"/>
              <a:t>  yField: 'product'</a:t>
            </a:r>
          </a:p>
          <a:p>
            <a:r>
              <a:rPr lang="zh-CN" altLang="en-US" dirty="0"/>
              <a:t>}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B06A1BC-55D8-8209-0365-8CC71EE71EB5}"/>
              </a:ext>
            </a:extLst>
          </p:cNvPr>
          <p:cNvSpPr txBox="1"/>
          <p:nvPr/>
        </p:nvSpPr>
        <p:spPr>
          <a:xfrm>
            <a:off x="669924" y="1281108"/>
            <a:ext cx="609499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只需修改两处：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None/>
            </a:pP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C5E628B-C631-1569-E430-C1D90FEE3610}"/>
              </a:ext>
            </a:extLst>
          </p:cNvPr>
          <p:cNvSpPr txBox="1"/>
          <p:nvPr/>
        </p:nvSpPr>
        <p:spPr>
          <a:xfrm>
            <a:off x="669924" y="3869415"/>
            <a:ext cx="6094990" cy="1944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📱 适用场景：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类别名称较长时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需要排名展示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移动端显示</a:t>
            </a:r>
          </a:p>
        </p:txBody>
      </p:sp>
    </p:spTree>
    <p:extLst>
      <p:ext uri="{BB962C8B-B14F-4D97-AF65-F5344CB8AC3E}">
        <p14:creationId xmlns:p14="http://schemas.microsoft.com/office/powerpoint/2010/main" val="1479874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E0140-3436-1DBB-A433-3271041C5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CDBEF2-709C-597C-DAB2-51C9270CD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样式美化基础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2529EF1-B979-666A-821A-E316871ACB9C}"/>
              </a:ext>
            </a:extLst>
          </p:cNvPr>
          <p:cNvSpPr txBox="1"/>
          <p:nvPr/>
        </p:nvSpPr>
        <p:spPr>
          <a:xfrm>
            <a:off x="669924" y="1208440"/>
            <a:ext cx="609499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三步美化法：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None/>
            </a:pP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DCCEFB3-73E9-8C22-3D38-10C067F49D00}"/>
              </a:ext>
            </a:extLst>
          </p:cNvPr>
          <p:cNvSpPr txBox="1"/>
          <p:nvPr/>
        </p:nvSpPr>
        <p:spPr>
          <a:xfrm>
            <a:off x="669924" y="1743679"/>
            <a:ext cx="609499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bar: {</a:t>
            </a:r>
          </a:p>
          <a:p>
            <a:r>
              <a:rPr lang="zh-CN" altLang="en-US" dirty="0"/>
              <a:t>  style: {</a:t>
            </a:r>
          </a:p>
          <a:p>
            <a:r>
              <a:rPr lang="zh-CN" altLang="en-US" dirty="0"/>
              <a:t>    fill: '#1890ff',      // 1. 统一主题色</a:t>
            </a:r>
          </a:p>
          <a:p>
            <a:r>
              <a:rPr lang="zh-CN" altLang="en-US" dirty="0"/>
              <a:t>    stroke: '#ffffff',    // 2. 添加白色边框</a:t>
            </a:r>
          </a:p>
          <a:p>
            <a:r>
              <a:rPr lang="zh-CN" altLang="en-US" dirty="0"/>
              <a:t>    lineWidth: 2,</a:t>
            </a:r>
          </a:p>
          <a:p>
            <a:r>
              <a:rPr lang="zh-CN" altLang="en-US" dirty="0"/>
              <a:t>    cornerRadius: 4       // 3. 圆角设计</a:t>
            </a:r>
          </a:p>
          <a:p>
            <a:r>
              <a:rPr lang="zh-CN" altLang="en-US" dirty="0"/>
              <a:t>  }</a:t>
            </a:r>
          </a:p>
          <a:p>
            <a:r>
              <a:rPr lang="zh-CN" alt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22630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E09C7-2986-D132-0C21-D9B7758DC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6386A6-2057-2A76-DA2F-B7637496F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实际案例：销售看板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4A0C8E0-0BB9-A343-3199-01B710516BD9}"/>
              </a:ext>
            </a:extLst>
          </p:cNvPr>
          <p:cNvSpPr txBox="1"/>
          <p:nvPr/>
        </p:nvSpPr>
        <p:spPr>
          <a:xfrm>
            <a:off x="669924" y="1321784"/>
            <a:ext cx="6097384" cy="2095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案例：</a:t>
            </a:r>
            <a:r>
              <a:rPr lang="zh-CN" altLang="en-US" b="1" dirty="0"/>
              <a:t>销售数据可视化</a:t>
            </a:r>
            <a:endParaRPr lang="zh-CN" altLang="en-US" dirty="0"/>
          </a:p>
          <a:p>
            <a:br>
              <a:rPr lang="zh-CN" altLang="en-US" dirty="0"/>
            </a:br>
            <a:r>
              <a:rPr lang="zh-CN" altLang="en-US" b="1" dirty="0"/>
              <a:t>设计要点：</a:t>
            </a:r>
            <a:endParaRPr lang="zh-CN" altLang="en-US" dirty="0"/>
          </a:p>
          <a:p>
            <a:r>
              <a:rPr lang="zh-CN" altLang="en-US" dirty="0"/>
              <a:t>使用公司品牌色</a:t>
            </a:r>
          </a:p>
          <a:p>
            <a:r>
              <a:rPr lang="zh-CN" altLang="en-US" dirty="0"/>
              <a:t>添加数据标签</a:t>
            </a:r>
          </a:p>
          <a:p>
            <a:r>
              <a:rPr lang="zh-CN" altLang="en-US" dirty="0"/>
              <a:t>优化坐标轴显示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4" name="图片 3" descr="表格&#10;&#10;AI 生成的内容可能不正确。">
            <a:extLst>
              <a:ext uri="{FF2B5EF4-FFF2-40B4-BE49-F238E27FC236}">
                <a16:creationId xmlns:a16="http://schemas.microsoft.com/office/drawing/2014/main" id="{C71621A9-A55E-CE83-F130-5C059CB6E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399" y="1321784"/>
            <a:ext cx="4323809" cy="47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458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225B9-DD51-18C3-2EB1-B4CAB5445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9F8968-5DB9-C104-43EC-969C3DD69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本节课重点回顾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076D97C-020C-6E04-276A-EB899602646B}"/>
              </a:ext>
            </a:extLst>
          </p:cNvPr>
          <p:cNvSpPr txBox="1"/>
          <p:nvPr/>
        </p:nvSpPr>
        <p:spPr>
          <a:xfrm>
            <a:off x="669924" y="1340849"/>
            <a:ext cx="609499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🎯 掌握核心四要素：</a:t>
            </a:r>
          </a:p>
          <a:p>
            <a:r>
              <a:rPr lang="zh-CN" altLang="en-US" dirty="0"/>
              <a:t>  1. type: 'bar'</a:t>
            </a:r>
          </a:p>
          <a:p>
            <a:r>
              <a:rPr lang="zh-CN" altLang="en-US" dirty="0"/>
              <a:t>  2. data: [...]</a:t>
            </a:r>
          </a:p>
          <a:p>
            <a:r>
              <a:rPr lang="zh-CN" altLang="en-US" dirty="0"/>
              <a:t>  3. xField: '分类字段'</a:t>
            </a:r>
          </a:p>
          <a:p>
            <a:r>
              <a:rPr lang="zh-CN" altLang="en-US" dirty="0"/>
              <a:t>  4. yField: '数值字段'</a:t>
            </a:r>
          </a:p>
          <a:p>
            <a:endParaRPr lang="zh-CN" altLang="en-US" dirty="0"/>
          </a:p>
          <a:p>
            <a:r>
              <a:rPr lang="zh-CN" altLang="en-US" dirty="0"/>
              <a:t>🎯 条形图转换：</a:t>
            </a:r>
          </a:p>
          <a:p>
            <a:r>
              <a:rPr lang="zh-CN" altLang="en-US" dirty="0"/>
              <a:t>  direction: 'horizontal'</a:t>
            </a:r>
          </a:p>
          <a:p>
            <a:r>
              <a:rPr lang="zh-CN" altLang="en-US" dirty="0"/>
              <a:t>  互换xField和yField</a:t>
            </a:r>
          </a:p>
          <a:p>
            <a:endParaRPr lang="zh-CN" altLang="en-US" dirty="0"/>
          </a:p>
          <a:p>
            <a:r>
              <a:rPr lang="zh-CN" altLang="en-US" dirty="0"/>
              <a:t>🎯 基础样式：</a:t>
            </a:r>
          </a:p>
          <a:p>
            <a:r>
              <a:rPr lang="zh-CN" altLang="en-US" dirty="0"/>
              <a:t>  颜色、边框、圆角</a:t>
            </a:r>
          </a:p>
        </p:txBody>
      </p:sp>
    </p:spTree>
    <p:extLst>
      <p:ext uri="{BB962C8B-B14F-4D97-AF65-F5344CB8AC3E}">
        <p14:creationId xmlns:p14="http://schemas.microsoft.com/office/powerpoint/2010/main" val="783476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A420A-B3C7-9E37-34B6-B6C92B34A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B19F7F-78D2-0F7F-ACC5-5A5C9D35B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课后练习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A90858-9C71-074D-F2A0-5CF58456809E}"/>
              </a:ext>
            </a:extLst>
          </p:cNvPr>
          <p:cNvSpPr txBox="1"/>
          <p:nvPr/>
        </p:nvSpPr>
        <p:spPr>
          <a:xfrm>
            <a:off x="669924" y="1265658"/>
            <a:ext cx="6094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任务：创建产品销量图表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623CCF7-806E-8331-7C77-886EEE9D84C8}"/>
              </a:ext>
            </a:extLst>
          </p:cNvPr>
          <p:cNvSpPr txBox="1"/>
          <p:nvPr/>
        </p:nvSpPr>
        <p:spPr>
          <a:xfrm>
            <a:off x="669924" y="1871948"/>
            <a:ext cx="461058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要求：</a:t>
            </a:r>
          </a:p>
          <a:p>
            <a:r>
              <a:rPr lang="zh-CN" altLang="en-US" dirty="0"/>
              <a:t>1. 准备3-5个产品的销售数据</a:t>
            </a:r>
          </a:p>
          <a:p>
            <a:r>
              <a:rPr lang="zh-CN" altLang="en-US" dirty="0"/>
              <a:t>2. 创建基础柱状图</a:t>
            </a:r>
          </a:p>
          <a:p>
            <a:r>
              <a:rPr lang="zh-CN" altLang="en-US" dirty="0"/>
              <a:t>3. 转换为条形图</a:t>
            </a:r>
          </a:p>
          <a:p>
            <a:r>
              <a:rPr lang="zh-CN" altLang="en-US" dirty="0"/>
              <a:t>4. 应用样式美化</a:t>
            </a:r>
          </a:p>
          <a:p>
            <a:endParaRPr lang="zh-CN" altLang="en-US" dirty="0"/>
          </a:p>
          <a:p>
            <a:r>
              <a:rPr lang="zh-CN" altLang="en-US" dirty="0"/>
              <a:t>挑战任务：</a:t>
            </a:r>
          </a:p>
          <a:p>
            <a:r>
              <a:rPr lang="zh-CN" altLang="en-US" dirty="0"/>
              <a:t>尝试添加负值数据，观察效果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85FDD6-D5BA-CF7A-E7AF-A6174193269C}"/>
              </a:ext>
            </a:extLst>
          </p:cNvPr>
          <p:cNvSpPr txBox="1"/>
          <p:nvPr/>
        </p:nvSpPr>
        <p:spPr>
          <a:xfrm>
            <a:off x="5687748" y="1871948"/>
            <a:ext cx="4540209" cy="1406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product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zh-CN" altLang="en-US" b="0" dirty="0">
                <a:solidFill>
                  <a:srgbClr val="50A14F"/>
                </a:solidFill>
                <a:effectLst/>
                <a:latin typeface="Menlo"/>
              </a:rPr>
              <a:t>手机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zh-CN" alt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year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Menlo"/>
              </a:rPr>
              <a:t>'2022'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sales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B76B01"/>
                </a:solidFill>
                <a:effectLst/>
                <a:latin typeface="Menlo"/>
              </a:rPr>
              <a:t>1500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},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product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zh-CN" altLang="en-US" b="0" dirty="0">
                <a:solidFill>
                  <a:srgbClr val="50A14F"/>
                </a:solidFill>
                <a:effectLst/>
                <a:latin typeface="Menlo"/>
              </a:rPr>
              <a:t>手机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zh-CN" alt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year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Menlo"/>
              </a:rPr>
              <a:t>'2023'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sales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B76B01"/>
                </a:solidFill>
                <a:effectLst/>
                <a:latin typeface="Menlo"/>
              </a:rPr>
              <a:t>1800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},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product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zh-CN" altLang="en-US" b="0" dirty="0">
                <a:solidFill>
                  <a:srgbClr val="50A14F"/>
                </a:solidFill>
                <a:effectLst/>
                <a:latin typeface="Menlo"/>
              </a:rPr>
              <a:t>电脑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zh-CN" alt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year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Menlo"/>
              </a:rPr>
              <a:t>'2022'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sales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B76B01"/>
                </a:solidFill>
                <a:effectLst/>
                <a:latin typeface="Menlo"/>
              </a:rPr>
              <a:t>1200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},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product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zh-CN" altLang="en-US" b="0" dirty="0">
                <a:solidFill>
                  <a:srgbClr val="50A14F"/>
                </a:solidFill>
                <a:effectLst/>
                <a:latin typeface="Menlo"/>
              </a:rPr>
              <a:t>电脑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zh-CN" alt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year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Menlo"/>
              </a:rPr>
              <a:t>'2023'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sales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B76B01"/>
                </a:solidFill>
                <a:effectLst/>
                <a:latin typeface="Menlo"/>
              </a:rPr>
              <a:t>2000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6341138-572B-FFF7-BD5E-0A7C7399625B}"/>
              </a:ext>
            </a:extLst>
          </p:cNvPr>
          <p:cNvSpPr txBox="1"/>
          <p:nvPr/>
        </p:nvSpPr>
        <p:spPr>
          <a:xfrm>
            <a:off x="5596915" y="1265658"/>
            <a:ext cx="6094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销售数据：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9164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909</TotalTime>
  <Words>725</Words>
  <Application>Microsoft Office PowerPoint</Application>
  <PresentationFormat>宽屏</PresentationFormat>
  <Paragraphs>150</Paragraphs>
  <Slides>14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Menlo</vt:lpstr>
      <vt:lpstr>quote-cjk-patch</vt:lpstr>
      <vt:lpstr>等线</vt:lpstr>
      <vt:lpstr>Arial</vt:lpstr>
      <vt:lpstr>Impact</vt:lpstr>
      <vt:lpstr>1_Office 主题​​</vt:lpstr>
      <vt:lpstr>OfficePLUS-V2-ee79b56c-44bf-4999-8350-9727f0739207</vt:lpstr>
      <vt:lpstr>PowerPoint 演示文稿</vt:lpstr>
      <vt:lpstr>课程目标</vt:lpstr>
      <vt:lpstr>什么是柱状图？</vt:lpstr>
      <vt:lpstr>图表结构解剖</vt:lpstr>
      <vt:lpstr>VChart四要素（关键！）</vt:lpstr>
      <vt:lpstr>代码示例</vt:lpstr>
      <vt:lpstr>数据格式要求</vt:lpstr>
      <vt:lpstr>条形图：水平显示</vt:lpstr>
      <vt:lpstr>样式美化基础</vt:lpstr>
      <vt:lpstr>实际案例：销售看板</vt:lpstr>
      <vt:lpstr>本节课重点回顾</vt:lpstr>
      <vt:lpstr>课后练习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z ml</cp:lastModifiedBy>
  <cp:revision>344</cp:revision>
  <dcterms:created xsi:type="dcterms:W3CDTF">2025-10-28T10:07:16Z</dcterms:created>
  <dcterms:modified xsi:type="dcterms:W3CDTF">2026-02-05T07:43:07Z</dcterms:modified>
</cp:coreProperties>
</file>