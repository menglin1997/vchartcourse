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9"/>
  </p:notesMasterIdLst>
  <p:sldIdLst>
    <p:sldId id="262" r:id="rId3"/>
    <p:sldId id="284" r:id="rId4"/>
    <p:sldId id="286" r:id="rId5"/>
    <p:sldId id="296" r:id="rId6"/>
    <p:sldId id="293" r:id="rId7"/>
    <p:sldId id="294" r:id="rId8"/>
    <p:sldId id="297" r:id="rId9"/>
    <p:sldId id="295" r:id="rId10"/>
    <p:sldId id="292" r:id="rId11"/>
    <p:sldId id="299" r:id="rId12"/>
    <p:sldId id="300" r:id="rId13"/>
    <p:sldId id="302" r:id="rId14"/>
    <p:sldId id="303" r:id="rId15"/>
    <p:sldId id="301" r:id="rId16"/>
    <p:sldId id="283" r:id="rId17"/>
    <p:sldId id="26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666-2BAE-FFA5-93A5-9FF6EEFA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C6F21-3D7D-9CA7-F795-AFA9E673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22DFE-0AA0-A1F9-B860-0FD41DC6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467DF-4268-83D0-F907-02F45C73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折线图与面积图高级功能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掌握数据不连续场景的处理方法</a:t>
            </a:r>
          </a:p>
          <a:p>
            <a:r>
              <a:rPr lang="zh-CN" altLang="en-US" dirty="0"/>
              <a:t>学会创建堆叠与百分比堆叠面积图</a:t>
            </a:r>
          </a:p>
          <a:p>
            <a:r>
              <a:rPr lang="zh-CN" altLang="en-US" dirty="0"/>
              <a:t>了解个性化样式配置技巧</a:t>
            </a:r>
          </a:p>
          <a:p>
            <a:r>
              <a:rPr lang="zh-CN" altLang="en-US" dirty="0"/>
              <a:t>能够应用渐变、平滑等高级效果</a:t>
            </a:r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处理数据不连续场景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74213B-91D2-E0B4-4E69-6419210C063E}"/>
              </a:ext>
            </a:extLst>
          </p:cNvPr>
          <p:cNvSpPr txBox="1"/>
          <p:nvPr/>
        </p:nvSpPr>
        <p:spPr>
          <a:xfrm>
            <a:off x="669924" y="1502166"/>
            <a:ext cx="53099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问题场景：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数据中存在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null/undefined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等非合规数据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511F1C-1928-E709-A518-2CA65A79CF37}"/>
              </a:ext>
            </a:extLst>
          </p:cNvPr>
          <p:cNvSpPr txBox="1"/>
          <p:nvPr/>
        </p:nvSpPr>
        <p:spPr>
          <a:xfrm>
            <a:off x="669924" y="2291875"/>
            <a:ext cx="5007669" cy="28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配置选项：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折线图配置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lineChart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invalidType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'break'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或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'link', 'zero', 'ignore'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面积图类似配置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D426614-0D01-F211-8804-30FCBFE8F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919099"/>
              </p:ext>
            </p:extLst>
          </p:nvPr>
        </p:nvGraphicFramePr>
        <p:xfrm>
          <a:off x="6128503" y="1927414"/>
          <a:ext cx="5730240" cy="220980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777120974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240668657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595676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配置值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描述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适用场景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816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'break'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在数据点处断开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数据缺失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50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'link'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忽略该点保持连续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数据异常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67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'zero'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该点默认为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零值处理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2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'ignore'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不处理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保持原状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09701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09F3C81E-0A39-9E8F-8B0F-2822AED4812D}"/>
              </a:ext>
            </a:extLst>
          </p:cNvPr>
          <p:cNvSpPr txBox="1"/>
          <p:nvPr/>
        </p:nvSpPr>
        <p:spPr>
          <a:xfrm>
            <a:off x="6096000" y="1373341"/>
            <a:ext cx="56251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效果对比：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面积图高级布局 </a:t>
            </a:r>
            <a:r>
              <a:rPr lang="en-US" altLang="zh-CN" dirty="0"/>
              <a:t>- </a:t>
            </a:r>
            <a:r>
              <a:rPr lang="zh-CN" altLang="en-US" dirty="0"/>
              <a:t>堆叠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8FD186-B70B-94E7-730F-C77FDE6A0094}"/>
              </a:ext>
            </a:extLst>
          </p:cNvPr>
          <p:cNvSpPr txBox="1"/>
          <p:nvPr/>
        </p:nvSpPr>
        <p:spPr>
          <a:xfrm>
            <a:off x="669924" y="1224778"/>
            <a:ext cx="6097384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堆叠面积图：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展示同一维度下不同类别的数据差异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同时展现各类别的总和差异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E77AF0-B770-4E33-DF0B-1EE66C7E58F6}"/>
              </a:ext>
            </a:extLst>
          </p:cNvPr>
          <p:cNvSpPr txBox="1"/>
          <p:nvPr/>
        </p:nvSpPr>
        <p:spPr>
          <a:xfrm>
            <a:off x="6448599" y="1224778"/>
            <a:ext cx="3809307" cy="476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配置方法：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javascript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Menlo"/>
              </a:rPr>
              <a:t>const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spec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'area'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/*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数据 *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xField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'type'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yField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'value'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seriesField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'country'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分类字段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stack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开启堆叠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A085B0-1241-7D0B-0BA3-633312DEE800}"/>
              </a:ext>
            </a:extLst>
          </p:cNvPr>
          <p:cNvSpPr txBox="1"/>
          <p:nvPr/>
        </p:nvSpPr>
        <p:spPr>
          <a:xfrm>
            <a:off x="669924" y="3729289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多地区多产品销售趋势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面积图高级布局 </a:t>
            </a:r>
            <a:r>
              <a:rPr lang="en-US" altLang="zh-CN" dirty="0"/>
              <a:t>- </a:t>
            </a:r>
            <a:r>
              <a:rPr lang="zh-CN" altLang="en-US" dirty="0"/>
              <a:t>百分比堆叠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1CA0BB-9D89-E0E7-13EA-54EC796581F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849D27-25B5-F813-9DA0-1586406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106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F13F66-A2A2-4427-04BD-5080922F9ADE}"/>
              </a:ext>
            </a:extLst>
          </p:cNvPr>
          <p:cNvSpPr txBox="1"/>
          <p:nvPr/>
        </p:nvSpPr>
        <p:spPr>
          <a:xfrm>
            <a:off x="669924" y="1343161"/>
            <a:ext cx="6097384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百分比堆叠面积图：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每个堆叠部分仅表示占总高度的比例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便于比较相对权重和变化趋势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A904B6-E2EC-FA26-20CB-340FB8EE344F}"/>
              </a:ext>
            </a:extLst>
          </p:cNvPr>
          <p:cNvSpPr txBox="1"/>
          <p:nvPr/>
        </p:nvSpPr>
        <p:spPr>
          <a:xfrm>
            <a:off x="6095205" y="1343161"/>
            <a:ext cx="3867439" cy="480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配置方法：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Menlo"/>
              </a:rPr>
              <a:t>const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spec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'area'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/*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数据 *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xField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'type'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yField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'value'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seriesField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'country'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stack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percent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开启百分比堆叠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115CC9-F46E-E921-F46E-0FF2F4A6D1B3}"/>
              </a:ext>
            </a:extLst>
          </p:cNvPr>
          <p:cNvSpPr txBox="1"/>
          <p:nvPr/>
        </p:nvSpPr>
        <p:spPr>
          <a:xfrm>
            <a:off x="669924" y="3612146"/>
            <a:ext cx="3867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市场份额变化分析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F1DE-C8F3-139A-0DE9-7805E8C5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折线图高级样式 </a:t>
            </a:r>
            <a:r>
              <a:rPr lang="en-US" altLang="zh-CN" dirty="0"/>
              <a:t>- </a:t>
            </a:r>
            <a:r>
              <a:rPr lang="zh-CN" altLang="en-US" dirty="0"/>
              <a:t>标记点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0A4F189-1BFE-4EEA-86F8-29DFCDCA28A7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78CC80-52AE-B2BC-8539-EAE07A24A16D}"/>
              </a:ext>
            </a:extLst>
          </p:cNvPr>
          <p:cNvSpPr txBox="1"/>
          <p:nvPr/>
        </p:nvSpPr>
        <p:spPr>
          <a:xfrm>
            <a:off x="669924" y="1373341"/>
            <a:ext cx="4558781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形状选项：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'circle'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圆形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'square'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方形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'triangle'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三角形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'diamond'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菱形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F9333F-37C1-01DE-5643-C959BBE18959}"/>
              </a:ext>
            </a:extLst>
          </p:cNvPr>
          <p:cNvSpPr txBox="1"/>
          <p:nvPr/>
        </p:nvSpPr>
        <p:spPr>
          <a:xfrm>
            <a:off x="5423103" y="1373341"/>
            <a:ext cx="6097384" cy="382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自定义标记点样式：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point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shape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'triangle'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形状：圆、方、三角等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size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7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大小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fill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'#FF6B6B'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颜色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F8B-1555-109B-8083-E036CD8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7BA3-9253-30C3-41CA-2554A61E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折线图高级样式 </a:t>
            </a:r>
            <a:r>
              <a:rPr lang="en-US" altLang="zh-CN" dirty="0"/>
              <a:t>- </a:t>
            </a:r>
            <a:r>
              <a:rPr lang="zh-CN" altLang="en-US" dirty="0"/>
              <a:t>渐变效果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4E96983-151C-3BDC-C154-ECBBFE339BDA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5DBC6B-EA9A-D97B-3C48-600E15FF79B2}"/>
              </a:ext>
            </a:extLst>
          </p:cNvPr>
          <p:cNvSpPr txBox="1"/>
          <p:nvPr/>
        </p:nvSpPr>
        <p:spPr>
          <a:xfrm>
            <a:off x="669924" y="1469275"/>
            <a:ext cx="5602778" cy="509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线性渐变折线：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line Chart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point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隐藏标记点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line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stroke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gradient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'linear'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线性渐变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stops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offset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'#FF6B6B'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offset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'#4ECDC4'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60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F76187-BD35-93DD-9EF8-E196B77701F6}"/>
              </a:ext>
            </a:extLst>
          </p:cNvPr>
          <p:cNvSpPr txBox="1"/>
          <p:nvPr/>
        </p:nvSpPr>
        <p:spPr>
          <a:xfrm>
            <a:off x="5423103" y="1373341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数据强度变化可视化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43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折线图高级样式 </a:t>
            </a:r>
            <a:r>
              <a:rPr lang="en-US" altLang="zh-CN" dirty="0"/>
              <a:t>- </a:t>
            </a:r>
            <a:r>
              <a:rPr lang="zh-CN" altLang="en-US" dirty="0"/>
              <a:t>渐变色划分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BA90318-84A2-2BB2-B3B8-2BB62270E204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565B8A-95DD-BADD-B253-18B860E6EB75}"/>
              </a:ext>
            </a:extLst>
          </p:cNvPr>
          <p:cNvSpPr txBox="1"/>
          <p:nvPr/>
        </p:nvSpPr>
        <p:spPr>
          <a:xfrm>
            <a:off x="669924" y="1133321"/>
            <a:ext cx="6097384" cy="480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分色警戒线效果：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stroke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gradient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'linear'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stops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offset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'green'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offset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0.7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'green'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offset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0.7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'red'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offset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'red'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6C1014-FECC-F2B8-79BE-BCC9505D76B5}"/>
              </a:ext>
            </a:extLst>
          </p:cNvPr>
          <p:cNvSpPr txBox="1"/>
          <p:nvPr/>
        </p:nvSpPr>
        <p:spPr>
          <a:xfrm>
            <a:off x="6249093" y="1133321"/>
            <a:ext cx="4341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上下限警戒线、安全阈值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曲线类型配置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308C98-0EC9-993D-3734-8F2F019EE657}"/>
              </a:ext>
            </a:extLst>
          </p:cNvPr>
          <p:cNvSpPr txBox="1"/>
          <p:nvPr/>
        </p:nvSpPr>
        <p:spPr>
          <a:xfrm>
            <a:off x="669924" y="1247175"/>
            <a:ext cx="5099109" cy="285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平滑曲线：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line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curveType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'monotone'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平滑曲线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1101D5-A8E6-3842-F24E-32B592560AFE}"/>
              </a:ext>
            </a:extLst>
          </p:cNvPr>
          <p:cNvSpPr txBox="1"/>
          <p:nvPr/>
        </p:nvSpPr>
        <p:spPr>
          <a:xfrm>
            <a:off x="6095205" y="1247175"/>
            <a:ext cx="5425282" cy="285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阶梯曲线：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line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curveType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'step'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或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'</a:t>
            </a:r>
            <a:r>
              <a:rPr lang="en-US" altLang="zh-CN" b="0" i="1" dirty="0" err="1">
                <a:solidFill>
                  <a:srgbClr val="A0A1A7"/>
                </a:solidFill>
                <a:effectLst/>
                <a:latin typeface="Menlo"/>
              </a:rPr>
              <a:t>stepAfter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'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、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'</a:t>
            </a:r>
            <a:r>
              <a:rPr lang="en-US" altLang="zh-CN" b="0" i="1" dirty="0" err="1">
                <a:solidFill>
                  <a:srgbClr val="A0A1A7"/>
                </a:solidFill>
                <a:effectLst/>
                <a:latin typeface="Menlo"/>
              </a:rPr>
              <a:t>stepBefore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'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076340-8A2D-1E31-37EF-BCEAA6C8E230}"/>
              </a:ext>
            </a:extLst>
          </p:cNvPr>
          <p:cNvSpPr txBox="1"/>
          <p:nvPr/>
        </p:nvSpPr>
        <p:spPr>
          <a:xfrm>
            <a:off x="669924" y="4743442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注意：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面积图的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area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图元会自动同步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line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curveType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配置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09C7-2986-D132-0C21-D9B7758D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386A6-2057-2A76-DA2F-B7637496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综合案例演示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A0C8E0-0BB9-A343-3199-01B710516BD9}"/>
              </a:ext>
            </a:extLst>
          </p:cNvPr>
          <p:cNvSpPr txBox="1"/>
          <p:nvPr/>
        </p:nvSpPr>
        <p:spPr>
          <a:xfrm>
            <a:off x="669924" y="1321784"/>
            <a:ext cx="6097384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案例：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销售数据分析仪表板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包含：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折线图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销售额趋势（带渐变效果）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面积图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各产品销量占比（百分比堆叠）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折线图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客户增长率（阶梯图）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技术要点：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多图表组合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统一配色方案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交互联动配置</a:t>
            </a:r>
          </a:p>
        </p:txBody>
      </p:sp>
    </p:spTree>
    <p:extLst>
      <p:ext uri="{BB962C8B-B14F-4D97-AF65-F5344CB8AC3E}">
        <p14:creationId xmlns:p14="http://schemas.microsoft.com/office/powerpoint/2010/main" val="59245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25B9-DD51-18C3-2EB1-B4CAB544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F8968-5DB9-C104-43EC-969C3DD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性能优化建议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26880E-577F-33F8-5BCC-7145408F3C65}"/>
              </a:ext>
            </a:extLst>
          </p:cNvPr>
          <p:cNvSpPr txBox="1"/>
          <p:nvPr/>
        </p:nvSpPr>
        <p:spPr>
          <a:xfrm>
            <a:off x="669924" y="1297580"/>
            <a:ext cx="6097384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数据量优化：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大数据集使用采样显示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合理设置数据更新频率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渲染优化：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减少不必要的动画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合理使用渐变和阴影效果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交互优化：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按需加载提示信息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优化坐标轴标签显示</a:t>
            </a:r>
          </a:p>
        </p:txBody>
      </p:sp>
    </p:spTree>
    <p:extLst>
      <p:ext uri="{BB962C8B-B14F-4D97-AF65-F5344CB8AC3E}">
        <p14:creationId xmlns:p14="http://schemas.microsoft.com/office/powerpoint/2010/main" val="783476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常见问题解答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7DDEAE-752D-CD30-1CBA-CF4456BEDA5C}"/>
              </a:ext>
            </a:extLst>
          </p:cNvPr>
          <p:cNvSpPr txBox="1"/>
          <p:nvPr/>
        </p:nvSpPr>
        <p:spPr>
          <a:xfrm>
            <a:off x="669924" y="1330462"/>
            <a:ext cx="6097384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Q1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时间数据如何正确显示？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A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配置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axes: [{ type: 'time' }]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Q2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如何让多图表保持配色一致？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A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使用统一的调色板配置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Q3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数据更新时如何平滑过渡？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A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配置适当的动画效果</a:t>
            </a:r>
          </a:p>
        </p:txBody>
      </p:sp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0CD3-417A-8628-5C7A-0B5F6BF1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E0D79-51CD-EEFA-F1D5-BBE0DBB7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D5546D-1B51-48F3-1C94-2988598370EC}"/>
              </a:ext>
            </a:extLst>
          </p:cNvPr>
          <p:cNvSpPr txBox="1"/>
          <p:nvPr/>
        </p:nvSpPr>
        <p:spPr>
          <a:xfrm>
            <a:off x="669924" y="1383981"/>
            <a:ext cx="6097384" cy="3790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任务：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创建一个堆叠面积图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三大产品线年度销售额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要求：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堆叠显示各产品线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平滑曲线效果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自定义区域颜色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挑战：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添加销售额趋势折线图进行对比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1229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0F07-9107-EFBB-319A-46210844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D8585-234D-40CC-187B-68DE1923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8474B8-4A23-3BEF-F73F-716AE06A86D7}"/>
              </a:ext>
            </a:extLst>
          </p:cNvPr>
          <p:cNvSpPr txBox="1"/>
          <p:nvPr/>
        </p:nvSpPr>
        <p:spPr>
          <a:xfrm>
            <a:off x="669924" y="1254344"/>
            <a:ext cx="6097384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核心技能掌握：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数据不连续处理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堆叠与百分比堆叠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高级样式配置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曲线类型控制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31DF3E-237F-84B2-41DC-4AD667EC6198}"/>
              </a:ext>
            </a:extLst>
          </p:cNvPr>
          <p:cNvSpPr txBox="1"/>
          <p:nvPr/>
        </p:nvSpPr>
        <p:spPr>
          <a:xfrm>
            <a:off x="5692140" y="1254344"/>
            <a:ext cx="6097384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实际应用：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业务趋势分析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数据对比展示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监控预警系统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062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909</Words>
  <Application>Microsoft Office PowerPoint</Application>
  <PresentationFormat>宽屏</PresentationFormat>
  <Paragraphs>176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Menlo</vt:lpstr>
      <vt:lpstr>quote-cjk-patch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处理数据不连续场景</vt:lpstr>
      <vt:lpstr>面积图高级布局 - 堆叠</vt:lpstr>
      <vt:lpstr>面积图高级布局 - 百分比堆叠</vt:lpstr>
      <vt:lpstr>折线图高级样式 - 标记点</vt:lpstr>
      <vt:lpstr>折线图高级样式 - 渐变效果</vt:lpstr>
      <vt:lpstr>折线图高级样式 - 渐变色划分</vt:lpstr>
      <vt:lpstr>曲线类型配置</vt:lpstr>
      <vt:lpstr>综合案例演示</vt:lpstr>
      <vt:lpstr>性能优化建议</vt:lpstr>
      <vt:lpstr>常见问题解答</vt:lpstr>
      <vt:lpstr>课堂练习</vt:lpstr>
      <vt:lpstr>课堂总结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320</cp:revision>
  <dcterms:created xsi:type="dcterms:W3CDTF">2025-10-28T10:07:16Z</dcterms:created>
  <dcterms:modified xsi:type="dcterms:W3CDTF">2026-01-30T07:04:18Z</dcterms:modified>
</cp:coreProperties>
</file>