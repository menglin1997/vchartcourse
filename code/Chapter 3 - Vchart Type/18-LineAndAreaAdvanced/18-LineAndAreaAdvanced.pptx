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7"/>
  </p:notesMasterIdLst>
  <p:sldIdLst>
    <p:sldId id="262" r:id="rId3"/>
    <p:sldId id="284" r:id="rId4"/>
    <p:sldId id="286" r:id="rId5"/>
    <p:sldId id="296" r:id="rId6"/>
    <p:sldId id="293" r:id="rId7"/>
    <p:sldId id="294" r:id="rId8"/>
    <p:sldId id="297" r:id="rId9"/>
    <p:sldId id="295" r:id="rId10"/>
    <p:sldId id="292" r:id="rId11"/>
    <p:sldId id="300" r:id="rId12"/>
    <p:sldId id="303" r:id="rId13"/>
    <p:sldId id="301" r:id="rId14"/>
    <p:sldId id="283" r:id="rId15"/>
    <p:sldId id="265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2026/2/8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18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折线图与面积图高级功能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大纲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掌握数据不连续场景的处理方法</a:t>
            </a:r>
          </a:p>
          <a:p>
            <a:r>
              <a:rPr lang="zh-CN" altLang="en-US" dirty="0"/>
              <a:t>学会创建堆叠与百分比堆叠面积图</a:t>
            </a:r>
          </a:p>
          <a:p>
            <a:r>
              <a:rPr lang="zh-CN" altLang="en-US" dirty="0"/>
              <a:t>了解个性化样式配置技巧</a:t>
            </a:r>
          </a:p>
          <a:p>
            <a:r>
              <a:rPr lang="zh-CN" altLang="en-US" dirty="0"/>
              <a:t>能够应用渐变、平滑等高级效果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处理数据不连续场景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974213B-91D2-E0B4-4E69-6419210C063E}"/>
              </a:ext>
            </a:extLst>
          </p:cNvPr>
          <p:cNvSpPr txBox="1"/>
          <p:nvPr/>
        </p:nvSpPr>
        <p:spPr>
          <a:xfrm>
            <a:off x="669924" y="1502166"/>
            <a:ext cx="530993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问题场景：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数据中存在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null/undefined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等非合规数据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511F1C-1928-E709-A518-2CA65A79CF37}"/>
              </a:ext>
            </a:extLst>
          </p:cNvPr>
          <p:cNvSpPr txBox="1"/>
          <p:nvPr/>
        </p:nvSpPr>
        <p:spPr>
          <a:xfrm>
            <a:off x="669924" y="2291875"/>
            <a:ext cx="5007669" cy="284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配置选项：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折线图配置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lineChart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invalidType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'break'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或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'link', 'zero', 'ignore'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面积图类似配置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D426614-0D01-F211-8804-30FCBFE8FA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919099"/>
              </p:ext>
            </p:extLst>
          </p:nvPr>
        </p:nvGraphicFramePr>
        <p:xfrm>
          <a:off x="6128503" y="1927414"/>
          <a:ext cx="5730240" cy="2209800"/>
        </p:xfrm>
        <a:graphic>
          <a:graphicData uri="http://schemas.openxmlformats.org/drawingml/2006/table">
            <a:tbl>
              <a:tblPr/>
              <a:tblGrid>
                <a:gridCol w="1910080">
                  <a:extLst>
                    <a:ext uri="{9D8B030D-6E8A-4147-A177-3AD203B41FA5}">
                      <a16:colId xmlns:a16="http://schemas.microsoft.com/office/drawing/2014/main" val="777120974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3240668657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15956768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配置值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描述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适用场景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816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'break'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在数据点处断开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数据缺失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350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'link'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忽略该点保持连续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数据异常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67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'zero'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该点默认为</a:t>
                      </a:r>
                      <a:r>
                        <a:rPr lang="en-US" altLang="zh-CN" b="0">
                          <a:effectLst/>
                          <a:latin typeface="quote-cjk-patch"/>
                        </a:rPr>
                        <a:t>0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零值处理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6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'ignore'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不处理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保持原状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097012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09F3C81E-0A39-9E8F-8B0F-2822AED4812D}"/>
              </a:ext>
            </a:extLst>
          </p:cNvPr>
          <p:cNvSpPr txBox="1"/>
          <p:nvPr/>
        </p:nvSpPr>
        <p:spPr>
          <a:xfrm>
            <a:off x="6096000" y="1373341"/>
            <a:ext cx="56251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效果对比：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面积图高级布局 </a:t>
            </a:r>
            <a:r>
              <a:rPr lang="en-US" altLang="zh-CN" dirty="0"/>
              <a:t>- </a:t>
            </a:r>
            <a:r>
              <a:rPr lang="zh-CN" altLang="en-US" dirty="0"/>
              <a:t>堆叠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8FD186-B70B-94E7-730F-C77FDE6A0094}"/>
              </a:ext>
            </a:extLst>
          </p:cNvPr>
          <p:cNvSpPr txBox="1"/>
          <p:nvPr/>
        </p:nvSpPr>
        <p:spPr>
          <a:xfrm>
            <a:off x="669924" y="1224778"/>
            <a:ext cx="6097384" cy="1449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堆叠面积图：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展示同一维度下不同类别的数据差异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同时展现各类别的总和差异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E77AF0-B770-4E33-DF0B-1EE66C7E58F6}"/>
              </a:ext>
            </a:extLst>
          </p:cNvPr>
          <p:cNvSpPr txBox="1"/>
          <p:nvPr/>
        </p:nvSpPr>
        <p:spPr>
          <a:xfrm>
            <a:off x="6448599" y="1224778"/>
            <a:ext cx="3809307" cy="4312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配置方法：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Menlo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spec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'area'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/*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数据 *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xField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'type'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'value'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seriesField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'country'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分类字段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stack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开启堆叠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7A085B0-1241-7D0B-0BA3-633312DEE800}"/>
              </a:ext>
            </a:extLst>
          </p:cNvPr>
          <p:cNvSpPr txBox="1"/>
          <p:nvPr/>
        </p:nvSpPr>
        <p:spPr>
          <a:xfrm>
            <a:off x="669924" y="3729289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多地区多产品销售趋势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面积图高级布局 </a:t>
            </a:r>
            <a:r>
              <a:rPr lang="en-US" altLang="zh-CN" dirty="0"/>
              <a:t>- </a:t>
            </a:r>
            <a:r>
              <a:rPr lang="zh-CN" altLang="en-US" dirty="0"/>
              <a:t>百分比堆叠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E1CA0BB-9D89-E0E7-13EA-54EC796581F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BF13F66-A2A2-4427-04BD-5080922F9ADE}"/>
              </a:ext>
            </a:extLst>
          </p:cNvPr>
          <p:cNvSpPr txBox="1"/>
          <p:nvPr/>
        </p:nvSpPr>
        <p:spPr>
          <a:xfrm>
            <a:off x="669924" y="1343161"/>
            <a:ext cx="6097384" cy="1449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百分比堆叠面积图：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每个堆叠部分仅表示占总高度的比例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便于比较相对权重和变化趋势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A904B6-E2EC-FA26-20CB-340FB8EE344F}"/>
              </a:ext>
            </a:extLst>
          </p:cNvPr>
          <p:cNvSpPr txBox="1"/>
          <p:nvPr/>
        </p:nvSpPr>
        <p:spPr>
          <a:xfrm>
            <a:off x="6095205" y="1343161"/>
            <a:ext cx="3867439" cy="4800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配置方法：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Menlo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spec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'area'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/*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数据 *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xField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'type'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'value'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seriesField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'country'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stack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percent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开启百分比堆叠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6115CC9-F46E-E921-F46E-0FF2F4A6D1B3}"/>
              </a:ext>
            </a:extLst>
          </p:cNvPr>
          <p:cNvSpPr txBox="1"/>
          <p:nvPr/>
        </p:nvSpPr>
        <p:spPr>
          <a:xfrm>
            <a:off x="669924" y="3612146"/>
            <a:ext cx="3867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市场份额变化分析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54F1DE-C8F3-139A-0DE9-7805E8C5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折线图高级样式 </a:t>
            </a:r>
            <a:r>
              <a:rPr lang="en-US" altLang="zh-CN" dirty="0"/>
              <a:t>- </a:t>
            </a:r>
            <a:r>
              <a:rPr lang="zh-CN" altLang="en-US" dirty="0"/>
              <a:t>标记点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0A4F189-1BFE-4EEA-86F8-29DFCDCA28A7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78CC80-52AE-B2BC-8539-EAE07A24A16D}"/>
              </a:ext>
            </a:extLst>
          </p:cNvPr>
          <p:cNvSpPr txBox="1"/>
          <p:nvPr/>
        </p:nvSpPr>
        <p:spPr>
          <a:xfrm>
            <a:off x="669924" y="1373341"/>
            <a:ext cx="4558781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形状选项：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'circle'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圆形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'square'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方形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'triangle'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三角形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'diamond'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-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菱形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6F9333F-37C1-01DE-5643-C959BBE18959}"/>
              </a:ext>
            </a:extLst>
          </p:cNvPr>
          <p:cNvSpPr txBox="1"/>
          <p:nvPr/>
        </p:nvSpPr>
        <p:spPr>
          <a:xfrm>
            <a:off x="5423103" y="1373341"/>
            <a:ext cx="6097384" cy="3825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自定义标记点样式：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point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shape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'triangle'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形状：圆、方、三角等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size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7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大小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fill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'#FF6B6B'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颜色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pic>
        <p:nvPicPr>
          <p:cNvPr id="5" name="图片 4" descr="图表, 折线图&#10;&#10;AI 生成的内容可能不正确。">
            <a:extLst>
              <a:ext uri="{FF2B5EF4-FFF2-40B4-BE49-F238E27FC236}">
                <a16:creationId xmlns:a16="http://schemas.microsoft.com/office/drawing/2014/main" id="{170A17D9-13AD-4A4A-240A-9A1EA465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30" y="3672590"/>
            <a:ext cx="2995174" cy="265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折线图高级样式 </a:t>
            </a:r>
            <a:r>
              <a:rPr lang="en-US" altLang="zh-CN" dirty="0"/>
              <a:t>- </a:t>
            </a:r>
            <a:r>
              <a:rPr lang="zh-CN" altLang="en-US" dirty="0"/>
              <a:t>渐变效果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5DBC6B-EA9A-D97B-3C48-600E15FF79B2}"/>
              </a:ext>
            </a:extLst>
          </p:cNvPr>
          <p:cNvSpPr txBox="1"/>
          <p:nvPr/>
        </p:nvSpPr>
        <p:spPr>
          <a:xfrm>
            <a:off x="669924" y="1469275"/>
            <a:ext cx="5602778" cy="5096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线性渐变折线：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 Chart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point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隐藏标记点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stroke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gradient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'linear'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线性渐变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stops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'#FF6B6B'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'#4ECDC4'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60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4F76187-BD35-93DD-9EF8-E196B77701F6}"/>
              </a:ext>
            </a:extLst>
          </p:cNvPr>
          <p:cNvSpPr txBox="1"/>
          <p:nvPr/>
        </p:nvSpPr>
        <p:spPr>
          <a:xfrm>
            <a:off x="5423103" y="1373341"/>
            <a:ext cx="60973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en-US" altLang="zh-CN" dirty="0">
              <a:solidFill>
                <a:srgbClr val="0F1115"/>
              </a:solidFill>
              <a:latin typeface="quote-cjk-patch"/>
            </a:endParaRPr>
          </a:p>
          <a:p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数据强度变化可视化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折线图高级样式 </a:t>
            </a:r>
            <a:r>
              <a:rPr lang="en-US" altLang="zh-CN" dirty="0"/>
              <a:t>- </a:t>
            </a:r>
            <a:r>
              <a:rPr lang="zh-CN" altLang="en-US" dirty="0"/>
              <a:t>渐变色划分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BA90318-84A2-2BB2-B3B8-2BB62270E204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7565B8A-95DD-BADD-B253-18B860E6EB75}"/>
              </a:ext>
            </a:extLst>
          </p:cNvPr>
          <p:cNvSpPr txBox="1"/>
          <p:nvPr/>
        </p:nvSpPr>
        <p:spPr>
          <a:xfrm>
            <a:off x="669924" y="1133321"/>
            <a:ext cx="6097384" cy="4800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分色警戒线效果：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stroke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gradient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'linear'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stops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'green'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0.7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'green'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0.7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'red'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offset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color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'red'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76C1014-FECC-F2B8-79BE-BCC9505D76B5}"/>
              </a:ext>
            </a:extLst>
          </p:cNvPr>
          <p:cNvSpPr txBox="1"/>
          <p:nvPr/>
        </p:nvSpPr>
        <p:spPr>
          <a:xfrm>
            <a:off x="6249093" y="1133321"/>
            <a:ext cx="43413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应用场景：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上下限警戒线、安全阈值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0140-3436-1DBB-A433-3271041C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CDBEF2-709C-597C-DAB2-51C9270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曲线类型配置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308C98-0EC9-993D-3734-8F2F019EE657}"/>
              </a:ext>
            </a:extLst>
          </p:cNvPr>
          <p:cNvSpPr txBox="1"/>
          <p:nvPr/>
        </p:nvSpPr>
        <p:spPr>
          <a:xfrm>
            <a:off x="669924" y="1247175"/>
            <a:ext cx="5099109" cy="2850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平滑曲线：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curveType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'monotone'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平滑曲线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B1101D5-A8E6-3842-F24E-32B592560AFE}"/>
              </a:ext>
            </a:extLst>
          </p:cNvPr>
          <p:cNvSpPr txBox="1"/>
          <p:nvPr/>
        </p:nvSpPr>
        <p:spPr>
          <a:xfrm>
            <a:off x="6095205" y="1247175"/>
            <a:ext cx="5425282" cy="2850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阶梯曲线：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curveType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'step'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或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r>
              <a:rPr lang="en-US" altLang="zh-CN" b="0" i="1" dirty="0" err="1">
                <a:solidFill>
                  <a:srgbClr val="A0A1A7"/>
                </a:solidFill>
                <a:effectLst/>
                <a:latin typeface="Menlo"/>
              </a:rPr>
              <a:t>stepAfter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、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r>
              <a:rPr lang="en-US" altLang="zh-CN" b="0" i="1" dirty="0" err="1">
                <a:solidFill>
                  <a:srgbClr val="A0A1A7"/>
                </a:solidFill>
                <a:effectLst/>
                <a:latin typeface="Menlo"/>
              </a:rPr>
              <a:t>stepBefore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'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076340-8A2D-1E31-37EF-BCEAA6C8E230}"/>
              </a:ext>
            </a:extLst>
          </p:cNvPr>
          <p:cNvSpPr txBox="1"/>
          <p:nvPr/>
        </p:nvSpPr>
        <p:spPr>
          <a:xfrm>
            <a:off x="669924" y="4743442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注意：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面积图的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area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图元会自动同步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line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的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curveType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配置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2630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性能优化建议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26880E-577F-33F8-5BCC-7145408F3C65}"/>
              </a:ext>
            </a:extLst>
          </p:cNvPr>
          <p:cNvSpPr txBox="1"/>
          <p:nvPr/>
        </p:nvSpPr>
        <p:spPr>
          <a:xfrm>
            <a:off x="669924" y="1297580"/>
            <a:ext cx="6097384" cy="4778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数据量优化：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大数据集使用采样显示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合理设置数据更新频率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渲染优化：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减少不必要的动画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合理使用渐变和阴影效果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交互优化：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按需加载提示信息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优化坐标轴标签显示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90CD3-417A-8628-5C7A-0B5F6BF19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AE0D79-51CD-EEFA-F1D5-BBE0DBB7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课堂练习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D5546D-1B51-48F3-1C94-2988598370EC}"/>
              </a:ext>
            </a:extLst>
          </p:cNvPr>
          <p:cNvSpPr txBox="1"/>
          <p:nvPr/>
        </p:nvSpPr>
        <p:spPr>
          <a:xfrm>
            <a:off x="669924" y="1383981"/>
            <a:ext cx="6097384" cy="3790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任务：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创建一个堆叠面积图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三大</a:t>
            </a: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平台（淘宝、京东、拼多多）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年度销售额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要求：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堆叠显示各产品线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平滑曲线效果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自定义区域颜色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挑战：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添加销售额趋势折线图进行对比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F63C9-0DE5-EBEF-1049-D263F60635BA}"/>
              </a:ext>
            </a:extLst>
          </p:cNvPr>
          <p:cNvSpPr txBox="1"/>
          <p:nvPr/>
        </p:nvSpPr>
        <p:spPr>
          <a:xfrm>
            <a:off x="6597649" y="1232693"/>
            <a:ext cx="4285455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zh-CN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zh-CN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淘宝 </a:t>
            </a:r>
            <a:r>
              <a:rPr lang="en-US" altLang="zh-CN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2019-2023</a:t>
            </a:r>
            <a:endParaRPr lang="zh-CN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zh-CN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淘宝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"2019"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56230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淘宝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"2020"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68540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淘宝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"2021"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78920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淘宝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"2022"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84560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淘宝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"2023"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91280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b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zh-CN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zh-CN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京东 </a:t>
            </a:r>
            <a:r>
              <a:rPr lang="en-US" altLang="zh-CN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2019-2023</a:t>
            </a:r>
            <a:endParaRPr lang="zh-CN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zh-CN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京东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"2019"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32150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京东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"2020"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42580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京东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"2021"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52340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京东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"2022"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59870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京东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"2023"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65420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b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zh-CN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zh-CN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拼多多 </a:t>
            </a:r>
            <a:r>
              <a:rPr lang="en-US" altLang="zh-CN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2019-2023</a:t>
            </a:r>
            <a:endParaRPr lang="zh-CN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zh-CN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拼多多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"2019"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18740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拼多多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"2020"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28960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拼多多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"2021"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43210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拼多多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"2022"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36780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{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zh-CN" alt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拼多多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year: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"2023"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value: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68950</a:t>
            </a: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],</a:t>
            </a:r>
          </a:p>
        </p:txBody>
      </p:sp>
    </p:spTree>
    <p:extLst>
      <p:ext uri="{BB962C8B-B14F-4D97-AF65-F5344CB8AC3E}">
        <p14:creationId xmlns:p14="http://schemas.microsoft.com/office/powerpoint/2010/main" val="751229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A0F07-9107-EFBB-319A-46210844F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ED8585-234D-40CC-187B-68DE19232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课堂总结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8474B8-4A23-3BEF-F73F-716AE06A86D7}"/>
              </a:ext>
            </a:extLst>
          </p:cNvPr>
          <p:cNvSpPr txBox="1"/>
          <p:nvPr/>
        </p:nvSpPr>
        <p:spPr>
          <a:xfrm>
            <a:off x="669924" y="1254344"/>
            <a:ext cx="6097384" cy="3023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核心技能掌握：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数据不连续处理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堆叠与百分比堆叠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高级样式配置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曲线类型控制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31DF3E-237F-84B2-41DC-4AD667EC6198}"/>
              </a:ext>
            </a:extLst>
          </p:cNvPr>
          <p:cNvSpPr txBox="1"/>
          <p:nvPr/>
        </p:nvSpPr>
        <p:spPr>
          <a:xfrm>
            <a:off x="5692140" y="1254344"/>
            <a:ext cx="6097384" cy="194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实际应用：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业务趋势分析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数据对比展示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监控预警系统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2062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</TotalTime>
  <Words>1076</Words>
  <Application>Microsoft Office PowerPoint</Application>
  <PresentationFormat>宽屏</PresentationFormat>
  <Paragraphs>184</Paragraphs>
  <Slides>14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Menlo</vt:lpstr>
      <vt:lpstr>quote-cjk-patch</vt:lpstr>
      <vt:lpstr>等线</vt:lpstr>
      <vt:lpstr>Arial</vt:lpstr>
      <vt:lpstr>Consolas</vt:lpstr>
      <vt:lpstr>Impact</vt:lpstr>
      <vt:lpstr>1_Office 主题​​</vt:lpstr>
      <vt:lpstr>OfficePLUS-V2-ee79b56c-44bf-4999-8350-9727f0739207</vt:lpstr>
      <vt:lpstr>PowerPoint 演示文稿</vt:lpstr>
      <vt:lpstr>大纲</vt:lpstr>
      <vt:lpstr>处理数据不连续场景</vt:lpstr>
      <vt:lpstr>面积图高级布局 - 堆叠</vt:lpstr>
      <vt:lpstr>面积图高级布局 - 百分比堆叠</vt:lpstr>
      <vt:lpstr>折线图高级样式 - 标记点</vt:lpstr>
      <vt:lpstr>折线图高级样式 - 渐变效果</vt:lpstr>
      <vt:lpstr>折线图高级样式 - 渐变色划分</vt:lpstr>
      <vt:lpstr>曲线类型配置</vt:lpstr>
      <vt:lpstr>性能优化建议</vt:lpstr>
      <vt:lpstr>课堂练习</vt:lpstr>
      <vt:lpstr>课堂总结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330</cp:revision>
  <dcterms:created xsi:type="dcterms:W3CDTF">2025-10-28T10:07:16Z</dcterms:created>
  <dcterms:modified xsi:type="dcterms:W3CDTF">2026-02-08T13:20:28Z</dcterms:modified>
</cp:coreProperties>
</file>