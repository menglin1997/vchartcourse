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14"/>
  </p:notesMasterIdLst>
  <p:sldIdLst>
    <p:sldId id="262" r:id="rId4"/>
    <p:sldId id="263" r:id="rId5"/>
    <p:sldId id="266" r:id="rId6"/>
    <p:sldId id="264" r:id="rId7"/>
    <p:sldId id="265" r:id="rId8"/>
    <p:sldId id="267" r:id="rId9"/>
    <p:sldId id="268" r:id="rId10"/>
    <p:sldId id="269" r:id="rId11"/>
    <p:sldId id="270" r:id="rId12"/>
    <p:sldId id="271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/discussions" TargetMode="External"/><Relationship Id="rId2" Type="http://schemas.openxmlformats.org/officeDocument/2006/relationships/hyperlink" Target="https://github.com/VisActor/VChart/issues/new/choose" TargetMode="Externa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597" y="4662295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sz="1600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sz="1600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BF2E5EB-C231-D8D1-08E4-FE0506F88F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8235" y="3139642"/>
            <a:ext cx="6042212" cy="1522653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课程介绍与</a:t>
            </a:r>
            <a:r>
              <a:rPr lang="en-US" altLang="zh-CN" dirty="0" err="1"/>
              <a:t>VChart</a:t>
            </a:r>
            <a:r>
              <a:rPr lang="en-US" altLang="zh-CN" dirty="0"/>
              <a:t> </a:t>
            </a:r>
            <a:r>
              <a:rPr lang="zh-CN" altLang="en-US" dirty="0"/>
              <a:t>简介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课程简介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 err="1">
                <a:latin typeface="+mn-ea"/>
              </a:rPr>
              <a:t>VChart</a:t>
            </a:r>
            <a:r>
              <a:rPr lang="zh-CN" altLang="zh-CN" dirty="0">
                <a:latin typeface="+mn-ea"/>
              </a:rPr>
              <a:t>的使用方法和技巧</a:t>
            </a:r>
          </a:p>
          <a:p>
            <a:pPr lvl="1"/>
            <a:r>
              <a:rPr lang="zh-CN" altLang="zh-CN" dirty="0">
                <a:latin typeface="+mn-ea"/>
              </a:rPr>
              <a:t>从基础入门到高级应用，循序渐进</a:t>
            </a:r>
            <a:endParaRPr lang="en-US" altLang="zh-CN" dirty="0">
              <a:latin typeface="+mn-ea"/>
            </a:endParaRPr>
          </a:p>
          <a:p>
            <a:pPr lvl="1"/>
            <a:r>
              <a:rPr lang="zh-CN" altLang="zh-CN" dirty="0">
                <a:latin typeface="+mn-ea"/>
              </a:rPr>
              <a:t>学习目标：掌握</a:t>
            </a:r>
            <a:r>
              <a:rPr lang="en-US" altLang="zh-CN" dirty="0" err="1">
                <a:latin typeface="+mn-ea"/>
              </a:rPr>
              <a:t>VChart</a:t>
            </a:r>
            <a:r>
              <a:rPr lang="zh-CN" altLang="zh-CN" dirty="0">
                <a:latin typeface="+mn-ea"/>
              </a:rPr>
              <a:t>数据可视化核心技能</a:t>
            </a:r>
          </a:p>
          <a:p>
            <a:pPr lvl="1"/>
            <a:r>
              <a:rPr lang="en-US" altLang="zh-CN" dirty="0" err="1">
                <a:latin typeface="+mn-ea"/>
              </a:rPr>
              <a:t>配套实践案例仓库</a:t>
            </a:r>
            <a:r>
              <a:rPr lang="en-US" altLang="zh-CN" dirty="0">
                <a:latin typeface="+mn-ea"/>
              </a:rPr>
              <a:t>：</a:t>
            </a:r>
            <a:endParaRPr lang="en-US" altLang="zh-CN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6108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792308-0D8D-7039-2976-05A2031A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官方资源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88388-9C73-594F-33E2-3A5B2BF2D93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 err="1">
                <a:latin typeface="+mn-ea"/>
              </a:rPr>
              <a:t>官网：</a:t>
            </a:r>
            <a:r>
              <a:rPr lang="en-US" altLang="zh-CN" u="sng" dirty="0" err="1">
                <a:latin typeface="+mn-ea"/>
                <a:hlinkClick r:id="rId2"/>
              </a:rPr>
              <a:t>https</a:t>
            </a:r>
            <a:r>
              <a:rPr lang="en-US" altLang="zh-CN" u="sng" dirty="0">
                <a:latin typeface="+mn-ea"/>
                <a:hlinkClick r:id="rId2"/>
              </a:rPr>
              <a:t>://www.</a:t>
            </a:r>
            <a:r>
              <a:rPr lang="en-US" altLang="zh-CN" u="sng">
                <a:latin typeface="+mn-ea"/>
                <a:hlinkClick r:id="rId2"/>
              </a:rPr>
              <a:t>visactor.com/</a:t>
            </a:r>
            <a:r>
              <a:rPr lang="en-US" altLang="zh-CN" u="sng" dirty="0">
                <a:latin typeface="+mn-ea"/>
                <a:hlinkClick r:id="rId2"/>
              </a:rPr>
              <a:t>vchart</a:t>
            </a:r>
            <a:r>
              <a:rPr lang="en-US" altLang="zh-CN" dirty="0">
                <a:latin typeface="+mn-ea"/>
              </a:rPr>
              <a:t> 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GitHub：</a:t>
            </a:r>
            <a:r>
              <a:rPr lang="en-US" altLang="zh-CN" u="sng" dirty="0" err="1">
                <a:latin typeface="+mn-ea"/>
                <a:hlinkClick r:id="rId3"/>
              </a:rPr>
              <a:t>https</a:t>
            </a:r>
            <a:r>
              <a:rPr lang="en-US" altLang="zh-CN" u="sng" dirty="0">
                <a:latin typeface="+mn-ea"/>
                <a:hlinkClick r:id="rId3"/>
              </a:rPr>
              <a:t>://github.com/</a:t>
            </a:r>
            <a:r>
              <a:rPr lang="en-US" altLang="zh-CN" u="sng" dirty="0" err="1">
                <a:latin typeface="+mn-ea"/>
                <a:hlinkClick r:id="rId3"/>
              </a:rPr>
              <a:t>VisActor</a:t>
            </a:r>
            <a:r>
              <a:rPr lang="en-US" altLang="zh-CN" u="sng" dirty="0">
                <a:latin typeface="+mn-ea"/>
                <a:hlinkClick r:id="rId3"/>
              </a:rPr>
              <a:t>/</a:t>
            </a:r>
            <a:r>
              <a:rPr lang="en-US" altLang="zh-CN" u="sng" dirty="0" err="1">
                <a:latin typeface="+mn-ea"/>
                <a:hlinkClick r:id="rId3"/>
              </a:rPr>
              <a:t>VChart</a:t>
            </a:r>
            <a:r>
              <a:rPr lang="en-US" altLang="zh-CN" dirty="0">
                <a:latin typeface="+mn-ea"/>
              </a:rPr>
              <a:t> 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微信</a:t>
            </a:r>
            <a:r>
              <a:rPr lang="zh-CN" altLang="en-US" dirty="0">
                <a:latin typeface="+mn-ea"/>
              </a:rPr>
              <a:t>公众号</a:t>
            </a:r>
            <a:r>
              <a:rPr lang="en-US" altLang="zh-CN" dirty="0">
                <a:latin typeface="+mn-ea"/>
              </a:rPr>
              <a:t>：</a:t>
            </a:r>
            <a:r>
              <a:rPr lang="en-US" altLang="zh-CN" dirty="0" err="1">
                <a:latin typeface="+mn-ea"/>
              </a:rPr>
              <a:t>VisActor</a:t>
            </a:r>
            <a:r>
              <a:rPr lang="en-US" altLang="zh-CN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E3C36B0-B9CC-7D90-1408-07F18E481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807" y="2886488"/>
            <a:ext cx="2431473" cy="249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2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43327-4A69-CD8A-F344-65B68B11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简介与核心价值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E78CD11-B6E2-096D-0112-EA5071E07DE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 err="1">
                <a:latin typeface="+mn-ea"/>
              </a:rPr>
              <a:t>VChart是VisActor可视化体系中的图表组件库</a:t>
            </a:r>
            <a:endParaRPr lang="zh-CN" altLang="zh-CN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基于可视化语法库VGrammar和渲染引擎VRender构建</a:t>
            </a:r>
            <a:endParaRPr lang="zh-CN" altLang="zh-CN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三大核心价值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zh-CN" altLang="zh-CN" sz="1600" dirty="0">
                <a:latin typeface="+mn-ea"/>
              </a:rPr>
              <a:t>一码多端：自动适配桌面、</a:t>
            </a:r>
            <a:r>
              <a:rPr lang="en-US" altLang="zh-CN" sz="1600" dirty="0">
                <a:latin typeface="+mn-ea"/>
              </a:rPr>
              <a:t>H5</a:t>
            </a:r>
            <a:r>
              <a:rPr lang="zh-CN" altLang="zh-CN" sz="1600" dirty="0">
                <a:latin typeface="+mn-ea"/>
              </a:rPr>
              <a:t>、小程序环境</a:t>
            </a:r>
          </a:p>
          <a:p>
            <a:pPr lvl="2"/>
            <a:r>
              <a:rPr lang="zh-CN" altLang="zh-CN" sz="1600" dirty="0">
                <a:latin typeface="+mn-ea"/>
              </a:rPr>
              <a:t>面向叙事：丰富的标注、动画、流程控制功能</a:t>
            </a:r>
          </a:p>
          <a:p>
            <a:pPr lvl="2"/>
            <a:r>
              <a:rPr lang="zh-CN" altLang="zh-CN" sz="1600" dirty="0">
                <a:latin typeface="+mn-ea"/>
              </a:rPr>
              <a:t>场景沉淀：面向最终用户沉淀可视化能力</a:t>
            </a:r>
          </a:p>
          <a:p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7391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AE531C-6603-6C30-7FC3-DD243587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定位与特点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492AC33-CD39-D725-7C5C-D03109C8C34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zh-CN" altLang="zh-CN" dirty="0">
                <a:latin typeface="+mn-ea"/>
              </a:rPr>
              <a:t>定位：简单易用、跨平台、高性能的前端可视化图表库</a:t>
            </a:r>
          </a:p>
          <a:p>
            <a:pPr lvl="1"/>
            <a:r>
              <a:rPr lang="en-US" altLang="zh-CN" dirty="0" err="1">
                <a:latin typeface="+mn-ea"/>
              </a:rPr>
              <a:t>主要特点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开箱即用的图表组件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zh-CN" altLang="zh-CN" sz="1600" dirty="0">
                <a:latin typeface="+mn-ea"/>
              </a:rPr>
              <a:t>跨平台特性，自动适配多种环境</a:t>
            </a:r>
          </a:p>
          <a:p>
            <a:pPr lvl="2"/>
            <a:r>
              <a:rPr lang="en-US" altLang="zh-CN" sz="1600" dirty="0" err="1">
                <a:latin typeface="+mn-ea"/>
              </a:rPr>
              <a:t>完整的数据叙事能力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友好的可视化界面和API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zh-CN" altLang="zh-CN" dirty="0">
                <a:latin typeface="+mn-ea"/>
              </a:rPr>
              <a:t>应用场景：</a:t>
            </a:r>
            <a:r>
              <a:rPr lang="en-US" altLang="zh-CN" dirty="0">
                <a:latin typeface="+mn-ea"/>
              </a:rPr>
              <a:t>Web</a:t>
            </a:r>
            <a:r>
              <a:rPr lang="zh-CN" altLang="zh-CN" dirty="0">
                <a:latin typeface="+mn-ea"/>
              </a:rPr>
              <a:t>应用、移动端应用、小程序开发等</a:t>
            </a:r>
          </a:p>
        </p:txBody>
      </p:sp>
    </p:spTree>
    <p:extLst>
      <p:ext uri="{BB962C8B-B14F-4D97-AF65-F5344CB8AC3E}">
        <p14:creationId xmlns:p14="http://schemas.microsoft.com/office/powerpoint/2010/main" val="2167347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E12CC-D608-D1D1-3147-DD35E0733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72BD69-1934-78EC-E2ED-3F10E260A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了解文档（查阅 </a:t>
            </a:r>
            <a:r>
              <a:rPr lang="en-US" altLang="zh-CN" dirty="0"/>
              <a:t>API</a:t>
            </a:r>
            <a:r>
              <a:rPr lang="zh-CN" altLang="en-US" dirty="0"/>
              <a:t>、配置项）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6059F1E-C787-AB9B-05B2-A0A65007FAF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 err="1">
                <a:latin typeface="+mn-ea"/>
              </a:rPr>
              <a:t>文档结构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教程：基本概念和使用方法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配置项：所有配置项详细说明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API：可用接口详细说明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学习建议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新手从教程开始，循序渐进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遇到问题时查阅配置项和API文档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结合示例代码理解功能实现</a:t>
            </a:r>
            <a:endParaRPr lang="zh-CN" altLang="zh-CN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45212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DD13-4072-6C20-BC8D-AB950D26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CF6C-2D9E-D18D-025E-9C6CA209E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如何提问与建议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0A730DE5-D37E-67EE-FC9C-6DE03ACB452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>
                <a:latin typeface="+mn-ea"/>
              </a:rPr>
              <a:t>GitHub Issue：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访问：</a:t>
            </a:r>
            <a:r>
              <a:rPr lang="en-US" altLang="zh-CN" sz="1600" u="sng" dirty="0" err="1">
                <a:latin typeface="+mn-ea"/>
                <a:hlinkClick r:id="rId2"/>
              </a:rPr>
              <a:t>https</a:t>
            </a:r>
            <a:r>
              <a:rPr lang="en-US" altLang="zh-CN" sz="1600" u="sng" dirty="0">
                <a:latin typeface="+mn-ea"/>
                <a:hlinkClick r:id="rId2"/>
              </a:rPr>
              <a:t>://github.com/</a:t>
            </a:r>
            <a:r>
              <a:rPr lang="en-US" altLang="zh-CN" sz="1600" u="sng" dirty="0" err="1">
                <a:latin typeface="+mn-ea"/>
                <a:hlinkClick r:id="rId2"/>
              </a:rPr>
              <a:t>VisActor</a:t>
            </a:r>
            <a:r>
              <a:rPr lang="en-US" altLang="zh-CN" sz="1600" u="sng" dirty="0">
                <a:latin typeface="+mn-ea"/>
                <a:hlinkClick r:id="rId2"/>
              </a:rPr>
              <a:t>/</a:t>
            </a:r>
            <a:r>
              <a:rPr lang="en-US" altLang="zh-CN" sz="1600" u="sng" dirty="0" err="1">
                <a:latin typeface="+mn-ea"/>
                <a:hlinkClick r:id="rId2"/>
              </a:rPr>
              <a:t>VChart</a:t>
            </a:r>
            <a:r>
              <a:rPr lang="en-US" altLang="zh-CN" sz="1600" u="sng" dirty="0">
                <a:latin typeface="+mn-ea"/>
                <a:hlinkClick r:id="rId2"/>
              </a:rPr>
              <a:t>/issues/new/choose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详细描述问题，官方团队会尽快回应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>
                <a:latin typeface="+mn-ea"/>
              </a:rPr>
              <a:t>GitHub Discussion：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访问：</a:t>
            </a:r>
            <a:r>
              <a:rPr lang="en-US" altLang="zh-CN" sz="1600" u="sng" dirty="0" err="1">
                <a:latin typeface="+mn-ea"/>
                <a:hlinkClick r:id="rId3"/>
              </a:rPr>
              <a:t>https</a:t>
            </a:r>
            <a:r>
              <a:rPr lang="en-US" altLang="zh-CN" sz="1600" u="sng" dirty="0">
                <a:latin typeface="+mn-ea"/>
                <a:hlinkClick r:id="rId3"/>
              </a:rPr>
              <a:t>://github.com/</a:t>
            </a:r>
            <a:r>
              <a:rPr lang="en-US" altLang="zh-CN" sz="1600" u="sng" dirty="0" err="1">
                <a:latin typeface="+mn-ea"/>
                <a:hlinkClick r:id="rId3"/>
              </a:rPr>
              <a:t>VisActor</a:t>
            </a:r>
            <a:r>
              <a:rPr lang="en-US" altLang="zh-CN" sz="1600" u="sng" dirty="0">
                <a:latin typeface="+mn-ea"/>
                <a:hlinkClick r:id="rId3"/>
              </a:rPr>
              <a:t>/</a:t>
            </a:r>
            <a:r>
              <a:rPr lang="en-US" altLang="zh-CN" sz="1600" u="sng" dirty="0" err="1">
                <a:latin typeface="+mn-ea"/>
                <a:hlinkClick r:id="rId3"/>
              </a:rPr>
              <a:t>VChart</a:t>
            </a:r>
            <a:r>
              <a:rPr lang="en-US" altLang="zh-CN" sz="1600" u="sng" dirty="0">
                <a:latin typeface="+mn-ea"/>
                <a:hlinkClick r:id="rId3"/>
              </a:rPr>
              <a:t>/discussions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提出想法和建议，参与社区讨论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注意事项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提供详细的问题描述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附上复现步骤和代码示例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说明使用环境和版本信息</a:t>
            </a:r>
            <a:endParaRPr lang="zh-CN" altLang="zh-CN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69487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A4A79-13AF-7C2E-64D2-CF65DCED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195DD-96D8-A169-5D89-1C296E3DC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VChart</a:t>
            </a:r>
            <a:r>
              <a:rPr lang="en-US" altLang="zh-CN" dirty="0"/>
              <a:t> </a:t>
            </a:r>
            <a:r>
              <a:rPr lang="zh-CN" altLang="en-US" dirty="0"/>
              <a:t>安装与环境配置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73C4D34-708D-FC00-327D-8CF913E4ABE3}"/>
              </a:ext>
            </a:extLst>
          </p:cNvPr>
          <p:cNvSpPr txBox="1">
            <a:spLocks/>
          </p:cNvSpPr>
          <p:nvPr/>
        </p:nvSpPr>
        <p:spPr>
          <a:xfrm>
            <a:off x="9144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>
                <a:latin typeface="+mn-ea"/>
              </a:rPr>
              <a:t>安装方式1：NPM包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使用npm安装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npm</a:t>
            </a:r>
            <a:r>
              <a:rPr lang="en-US" altLang="zh-CN" sz="1600" dirty="0">
                <a:latin typeface="+mn-ea"/>
              </a:rPr>
              <a:t> install @visactor/vchart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使用yarn安装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>
                <a:latin typeface="+mn-ea"/>
              </a:rPr>
              <a:t>yarn add @visactor/vchart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>
                <a:latin typeface="+mn-ea"/>
              </a:rPr>
              <a:t>安装方式2：CDN获取 </a:t>
            </a:r>
            <a:endParaRPr lang="zh-CN" altLang="zh-CN" dirty="0">
              <a:latin typeface="+mn-ea"/>
            </a:endParaRPr>
          </a:p>
          <a:p>
            <a:pPr marL="914353" lvl="2" indent="0">
              <a:buNone/>
            </a:pP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>
                <a:latin typeface="+mn-ea"/>
              </a:rPr>
              <a:t>安装方式3：GitHub源码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直接clone源码或下载特定版本</a:t>
            </a:r>
            <a:endParaRPr lang="zh-CN" altLang="zh-CN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09747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30DE8-FF41-8FCF-2DA4-CAA92A4D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B1AAAA-E5A6-B19D-52AD-EE0DEF2F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官方</a:t>
            </a:r>
            <a:r>
              <a:rPr lang="en-US" altLang="zh-CN" dirty="0" err="1"/>
              <a:t>案例展示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1FB27CF-4639-1A23-A593-B419668F84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>
                <a:latin typeface="+mn-ea"/>
              </a:rPr>
              <a:t>https://www.visactor.io/vchart/example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2496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B7E89-FE07-BC96-A242-2FCEF24F0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5861DB-14EB-E2B3-18FD-626F3B2D1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总结与重点回顾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4010F49-5FBA-5E21-0264-18F193BB85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dirty="0" err="1">
                <a:latin typeface="+mn-ea"/>
              </a:rPr>
              <a:t>本节课内容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课程整体安排介绍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VChart基本情况与核心价值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官方资源与文档结构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安装配置与基本用法</a:t>
            </a:r>
            <a:endParaRPr lang="zh-CN" altLang="zh-CN" sz="1600" dirty="0">
              <a:latin typeface="+mn-ea"/>
            </a:endParaRPr>
          </a:p>
          <a:p>
            <a:pPr lvl="1"/>
            <a:r>
              <a:rPr lang="en-US" altLang="zh-CN" dirty="0" err="1">
                <a:latin typeface="+mn-ea"/>
              </a:rPr>
              <a:t>学习重点</a:t>
            </a:r>
            <a:r>
              <a:rPr lang="en-US" altLang="zh-CN" dirty="0">
                <a:latin typeface="+mn-ea"/>
              </a:rPr>
              <a:t>： </a:t>
            </a:r>
            <a:endParaRPr lang="zh-CN" altLang="zh-CN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了解VChart的文档结构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掌握多种安装方式</a:t>
            </a:r>
            <a:endParaRPr lang="zh-CN" altLang="zh-CN" sz="1600" dirty="0">
              <a:latin typeface="+mn-ea"/>
            </a:endParaRPr>
          </a:p>
          <a:p>
            <a:pPr lvl="2"/>
            <a:r>
              <a:rPr lang="en-US" altLang="zh-CN" sz="1600" dirty="0" err="1">
                <a:latin typeface="+mn-ea"/>
              </a:rPr>
              <a:t>熟悉基本使用流程</a:t>
            </a:r>
            <a:endParaRPr lang="zh-CN" altLang="zh-CN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492817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343</Words>
  <Application>Microsoft Office PowerPoint</Application>
  <PresentationFormat>宽屏</PresentationFormat>
  <Paragraphs>70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Arial</vt:lpstr>
      <vt:lpstr>Impact</vt:lpstr>
      <vt:lpstr>1_Office 主题​​</vt:lpstr>
      <vt:lpstr>5_OfficePLUS-V2-ee79b56c-44bf-4999-8350-9727f0739207</vt:lpstr>
      <vt:lpstr>OfficePLUS-V2-ee79b56c-44bf-4999-8350-9727f0739207</vt:lpstr>
      <vt:lpstr>第1课：课程介绍与VChart 简介 </vt:lpstr>
      <vt:lpstr>课程简介</vt:lpstr>
      <vt:lpstr>VChart官方资源</vt:lpstr>
      <vt:lpstr>VChart简介与核心价值</vt:lpstr>
      <vt:lpstr>VChart定位与特点</vt:lpstr>
      <vt:lpstr>了解文档（查阅 API、配置项）</vt:lpstr>
      <vt:lpstr>如何提问与建议</vt:lpstr>
      <vt:lpstr>VChart 安装与环境配置</vt:lpstr>
      <vt:lpstr>官方案例展示</vt:lpstr>
      <vt:lpstr>总结与重点回顾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65</cp:revision>
  <dcterms:created xsi:type="dcterms:W3CDTF">2025-10-28T10:07:16Z</dcterms:created>
  <dcterms:modified xsi:type="dcterms:W3CDTF">2025-11-11T06:34:03Z</dcterms:modified>
</cp:coreProperties>
</file>