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5"/>
  </p:notesMasterIdLst>
  <p:sldIdLst>
    <p:sldId id="262" r:id="rId3"/>
    <p:sldId id="276" r:id="rId4"/>
    <p:sldId id="264" r:id="rId5"/>
    <p:sldId id="271" r:id="rId6"/>
    <p:sldId id="277" r:id="rId7"/>
    <p:sldId id="278" r:id="rId8"/>
    <p:sldId id="279" r:id="rId9"/>
    <p:sldId id="281" r:id="rId10"/>
    <p:sldId id="282" r:id="rId11"/>
    <p:sldId id="269" r:id="rId12"/>
    <p:sldId id="280" r:id="rId13"/>
    <p:sldId id="2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3098" y="3821663"/>
            <a:ext cx="5579403" cy="6601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VChart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生命周期管理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F58F9-1993-59BC-DFEF-75349287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EEC41-02E6-FC1D-E3C5-25487965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EC649CC-C34C-9C15-A6E1-EC2ADE66C7CF}"/>
              </a:ext>
            </a:extLst>
          </p:cNvPr>
          <p:cNvSpPr txBox="1">
            <a:spLocks/>
          </p:cNvSpPr>
          <p:nvPr/>
        </p:nvSpPr>
        <p:spPr>
          <a:xfrm>
            <a:off x="371475" y="125333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endParaRPr lang="zh-CN" altLang="en-US" sz="20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1800" dirty="0">
                <a:latin typeface="+mn-ea"/>
              </a:rPr>
              <a:t>1</a:t>
            </a:r>
            <a:r>
              <a:rPr lang="zh-CN" altLang="en-US" sz="1800" dirty="0">
                <a:latin typeface="+mn-ea"/>
              </a:rPr>
              <a:t>、生命周期概述</a:t>
            </a:r>
            <a:endParaRPr lang="en-US" altLang="zh-CN" sz="18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1800" dirty="0">
                <a:latin typeface="+mn-ea"/>
              </a:rPr>
              <a:t>2</a:t>
            </a:r>
            <a:r>
              <a:rPr lang="zh-CN" altLang="en-US" sz="1800" dirty="0">
                <a:latin typeface="+mn-ea"/>
              </a:rPr>
              <a:t>、初始化阶段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kumimoji="1" lang="en-US" altLang="zh-CN" sz="1800" dirty="0">
                <a:latin typeface="+mn-ea"/>
              </a:rPr>
              <a:t>3</a:t>
            </a:r>
            <a:r>
              <a:rPr kumimoji="1" lang="zh-CN" altLang="en-US" sz="1800" dirty="0">
                <a:latin typeface="+mn-ea"/>
              </a:rPr>
              <a:t>、渲染阶段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1800" dirty="0">
                <a:latin typeface="+mn-ea"/>
              </a:rPr>
              <a:t>4</a:t>
            </a:r>
            <a:r>
              <a:rPr lang="zh-CN" altLang="en-US" sz="1800" dirty="0">
                <a:latin typeface="+mn-ea"/>
              </a:rPr>
              <a:t>、更新阶段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1800" dirty="0">
                <a:latin typeface="+mn-ea"/>
              </a:rPr>
              <a:t>5</a:t>
            </a:r>
            <a:r>
              <a:rPr lang="zh-CN" altLang="en-US" sz="1800" dirty="0">
                <a:latin typeface="+mn-ea"/>
              </a:rPr>
              <a:t>、销毁阶段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1800" dirty="0">
                <a:latin typeface="+mn-ea"/>
              </a:rPr>
              <a:t>6</a:t>
            </a:r>
            <a:r>
              <a:rPr lang="zh-CN" altLang="en-US" sz="1800" dirty="0">
                <a:latin typeface="+mn-ea"/>
              </a:rPr>
              <a:t>、实践案例</a:t>
            </a:r>
          </a:p>
        </p:txBody>
      </p:sp>
    </p:spTree>
    <p:extLst>
      <p:ext uri="{BB962C8B-B14F-4D97-AF65-F5344CB8AC3E}">
        <p14:creationId xmlns:p14="http://schemas.microsoft.com/office/powerpoint/2010/main" val="17990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43327-4A69-CD8A-F344-65B68B11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VChart</a:t>
            </a:r>
            <a:r>
              <a:rPr lang="zh-CN" altLang="en-US" dirty="0">
                <a:latin typeface="+mn-ea"/>
              </a:rPr>
              <a:t>生命周期概述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E78CD11-B6E2-096D-0112-EA5071E07DE3}"/>
              </a:ext>
            </a:extLst>
          </p:cNvPr>
          <p:cNvSpPr txBox="1">
            <a:spLocks/>
          </p:cNvSpPr>
          <p:nvPr/>
        </p:nvSpPr>
        <p:spPr>
          <a:xfrm>
            <a:off x="190500" y="1518956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核心环节： 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初始化、渲染、更新和销毁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1800" dirty="0" err="1">
                <a:latin typeface="+mn-ea"/>
              </a:rPr>
              <a:t>VChart</a:t>
            </a:r>
            <a:r>
              <a:rPr lang="en-US" altLang="zh-CN" sz="1800" dirty="0">
                <a:latin typeface="+mn-ea"/>
              </a:rPr>
              <a:t> </a:t>
            </a:r>
            <a:r>
              <a:rPr lang="zh-CN" altLang="en-US" sz="1800" dirty="0">
                <a:latin typeface="+mn-ea"/>
              </a:rPr>
              <a:t>核心类作为图表入口，管理整个生命周期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dirty="0">
                <a:latin typeface="+mn-ea"/>
              </a:rPr>
              <a:t>关键方法概览：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实例创建、渲染、更新、销毁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1AE5D7A-E9F4-8AB4-1CA1-2FD7DD061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162" y="1028700"/>
            <a:ext cx="6202896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12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D317-E21F-128D-E15A-7A321E1A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785BA-E9D3-190A-037F-F75044D7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初始化阶段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0D448D8-E89C-3A3B-E4B8-1698F97238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初始化的主要任务：配置解析和资源准备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实例创建的基本方式（</a:t>
            </a:r>
            <a:r>
              <a:rPr lang="en-US" altLang="zh-CN" sz="1800" dirty="0">
                <a:latin typeface="+mn-ea"/>
              </a:rPr>
              <a:t>spec </a:t>
            </a:r>
            <a:r>
              <a:rPr lang="zh-CN" altLang="en-US" sz="1800" dirty="0">
                <a:latin typeface="+mn-ea"/>
              </a:rPr>
              <a:t>和容器选项）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可选配置参数：交互开关、背景色、主题、回调函数等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初始化完成的标志：</a:t>
            </a:r>
            <a:r>
              <a:rPr lang="en-US" altLang="zh-CN" sz="1800" dirty="0">
                <a:latin typeface="+mn-ea"/>
              </a:rPr>
              <a:t>initialized </a:t>
            </a:r>
            <a:r>
              <a:rPr lang="zh-CN" altLang="en-US" sz="1800" dirty="0">
                <a:latin typeface="+mn-ea"/>
              </a:rPr>
              <a:t>事件</a:t>
            </a:r>
          </a:p>
        </p:txBody>
      </p:sp>
    </p:spTree>
    <p:extLst>
      <p:ext uri="{BB962C8B-B14F-4D97-AF65-F5344CB8AC3E}">
        <p14:creationId xmlns:p14="http://schemas.microsoft.com/office/powerpoint/2010/main" val="3932789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D6B2D-455E-67C3-72F3-E350F5AA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BA766-CE02-E5D1-A1CA-307BDA96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ea"/>
              </a:rPr>
              <a:t>渲染阶段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B960455-3B76-7742-B0BE-A8E5E1BBEBF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渲染的核心地位：将抽象配置转化为可视化图表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两种渲染方式：同步渲染和异步渲染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渲染流程详解：编译、布局、数据处理、渲染准备、实际渲染、交互绑定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关键生命周期事件：</a:t>
            </a:r>
            <a:endParaRPr lang="en-US" altLang="zh-CN" sz="1800" dirty="0">
              <a:latin typeface="+mn-ea"/>
            </a:endParaRPr>
          </a:p>
          <a:p>
            <a:r>
              <a:rPr lang="en-US" altLang="zh-CN" dirty="0"/>
              <a:t>‘</a:t>
            </a:r>
            <a:r>
              <a:rPr lang="en-US" altLang="zh-CN" dirty="0" err="1"/>
              <a:t>layoutStart</a:t>
            </a:r>
            <a:r>
              <a:rPr lang="en-US" altLang="zh-CN" dirty="0"/>
              <a:t>'</a:t>
            </a:r>
            <a:r>
              <a:rPr lang="zh-CN" altLang="en-US" dirty="0"/>
              <a:t>：布局开始事件</a:t>
            </a:r>
          </a:p>
          <a:p>
            <a:r>
              <a:rPr lang="en-US" altLang="zh-CN" dirty="0"/>
              <a:t>'</a:t>
            </a:r>
            <a:r>
              <a:rPr lang="en-US" altLang="zh-CN" dirty="0" err="1"/>
              <a:t>layoutEnd</a:t>
            </a:r>
            <a:r>
              <a:rPr lang="en-US" altLang="zh-CN" dirty="0"/>
              <a:t>'</a:t>
            </a:r>
            <a:r>
              <a:rPr lang="zh-CN" altLang="en-US" dirty="0"/>
              <a:t>：布局结束事件</a:t>
            </a:r>
          </a:p>
          <a:p>
            <a:r>
              <a:rPr lang="en-US" altLang="zh-CN" dirty="0"/>
              <a:t>'rendered'</a:t>
            </a:r>
            <a:r>
              <a:rPr lang="zh-CN" altLang="en-US" dirty="0"/>
              <a:t>：图表渲染方法被调用时触发，表明图表已经执行过渲染逻辑，只会触发一次</a:t>
            </a:r>
          </a:p>
          <a:p>
            <a:r>
              <a:rPr lang="en-US" altLang="zh-CN" dirty="0"/>
              <a:t>'</a:t>
            </a:r>
            <a:r>
              <a:rPr lang="en-US" altLang="zh-CN" dirty="0" err="1"/>
              <a:t>renderFinished</a:t>
            </a:r>
            <a:r>
              <a:rPr lang="en-US" altLang="zh-CN" dirty="0"/>
              <a:t>'</a:t>
            </a:r>
            <a:r>
              <a:rPr lang="zh-CN" altLang="en-US" dirty="0"/>
              <a:t>：每次画布渲染完成触发的事件，不包含动画结束</a:t>
            </a:r>
          </a:p>
          <a:p>
            <a:r>
              <a:rPr lang="en-US" altLang="zh-CN" dirty="0"/>
              <a:t>'</a:t>
            </a:r>
            <a:r>
              <a:rPr lang="en-US" altLang="zh-CN" dirty="0" err="1"/>
              <a:t>animationFinished</a:t>
            </a:r>
            <a:r>
              <a:rPr lang="en-US" altLang="zh-CN" dirty="0"/>
              <a:t>'</a:t>
            </a:r>
            <a:r>
              <a:rPr lang="zh-CN" altLang="en-US" dirty="0"/>
              <a:t>：图表动画结束时触发的事件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6604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DCC2B-EDAE-CB0A-07F1-B2697216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1393F-C973-9235-D52B-BCFC8687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ea"/>
              </a:rPr>
              <a:t>更新阶段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388796B-AB8A-69C3-3B63-58F6D6FD80F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数据更新机制：</a:t>
            </a:r>
            <a:r>
              <a:rPr lang="en-US" altLang="zh-CN" sz="1800" dirty="0" err="1">
                <a:latin typeface="+mn-ea"/>
              </a:rPr>
              <a:t>updateData</a:t>
            </a:r>
            <a:r>
              <a:rPr lang="en-US" altLang="zh-CN" sz="1800" dirty="0">
                <a:latin typeface="+mn-ea"/>
              </a:rPr>
              <a:t> </a:t>
            </a:r>
            <a:r>
              <a:rPr lang="zh-CN" altLang="en-US" sz="1800" dirty="0">
                <a:latin typeface="+mn-ea"/>
              </a:rPr>
              <a:t>方法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配置更新方式：</a:t>
            </a:r>
            <a:r>
              <a:rPr lang="en-US" altLang="zh-CN" sz="1800" dirty="0" err="1">
                <a:latin typeface="+mn-ea"/>
              </a:rPr>
              <a:t>updateSpec</a:t>
            </a:r>
            <a:r>
              <a:rPr lang="en-US" altLang="zh-CN" sz="1800" dirty="0">
                <a:latin typeface="+mn-ea"/>
              </a:rPr>
              <a:t> </a:t>
            </a:r>
            <a:r>
              <a:rPr lang="zh-CN" altLang="en-US" sz="1800" dirty="0">
                <a:latin typeface="+mn-ea"/>
              </a:rPr>
              <a:t>方法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数据更新流程：从调用方法到触发重新渲染的完整链路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高效更新的设计：只更新必要部分，避免完全重绘</a:t>
            </a:r>
          </a:p>
        </p:txBody>
      </p:sp>
    </p:spTree>
    <p:extLst>
      <p:ext uri="{BB962C8B-B14F-4D97-AF65-F5344CB8AC3E}">
        <p14:creationId xmlns:p14="http://schemas.microsoft.com/office/powerpoint/2010/main" val="334543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7183-94DC-AEE0-19B3-8E6B2ED9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E283E-E586-D608-3836-F16C9C203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ea"/>
              </a:rPr>
              <a:t>销毁阶段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2471942-BFC4-9E0F-0CF3-C9E088C58AF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销毁的重要性：避免内存泄漏和性能问题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销毁方法：</a:t>
            </a:r>
            <a:r>
              <a:rPr lang="en-US" altLang="zh-CN" sz="1800" dirty="0">
                <a:latin typeface="+mn-ea"/>
              </a:rPr>
              <a:t>release </a:t>
            </a:r>
            <a:r>
              <a:rPr lang="zh-CN" altLang="en-US" sz="1800" dirty="0">
                <a:latin typeface="+mn-ea"/>
              </a:rPr>
              <a:t>函数</a:t>
            </a:r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1800" dirty="0">
                <a:latin typeface="+mn-ea"/>
              </a:rPr>
              <a:t>销毁流程：释放资源、清理事件、清空引用、移除关联</a:t>
            </a:r>
          </a:p>
        </p:txBody>
      </p:sp>
    </p:spTree>
    <p:extLst>
      <p:ext uri="{BB962C8B-B14F-4D97-AF65-F5344CB8AC3E}">
        <p14:creationId xmlns:p14="http://schemas.microsoft.com/office/powerpoint/2010/main" val="78719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40619-B8C1-78EE-99BC-10ACEC6B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8796A-240C-FD57-5488-25CB0262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实践案例：完整生命周期管理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AC2AE41-B8A0-31E4-95A0-099611C5FCB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创建一个柱状图，展示前半年或者下半年的销售额，支持数据更新，并可以卸载销毁资源</a:t>
            </a:r>
          </a:p>
          <a:p>
            <a:pPr marL="457177" lvl="1" indent="0">
              <a:lnSpc>
                <a:spcPct val="170000"/>
              </a:lnSpc>
              <a:buNone/>
            </a:pPr>
            <a:endParaRPr lang="zh-CN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6837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33EB-9031-74A4-963A-346CDA71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68EAD-246F-9797-3F94-D442E9EC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生命周期管理最佳实践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5DE7066-1924-8336-6795-5BD6D6699CF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在实际开发中，我们需要注意以下几点最佳实践：</a:t>
            </a:r>
          </a:p>
          <a:p>
            <a:r>
              <a:rPr lang="zh-CN" altLang="en-US" dirty="0"/>
              <a:t>及时初始化：在</a:t>
            </a:r>
            <a:r>
              <a:rPr lang="en-US" altLang="zh-CN" dirty="0"/>
              <a:t>DOM</a:t>
            </a:r>
            <a:r>
              <a:rPr lang="zh-CN" altLang="en-US" dirty="0"/>
              <a:t>元素加载完成后再创建图表实例</a:t>
            </a:r>
          </a:p>
          <a:p>
            <a:r>
              <a:rPr lang="zh-CN" altLang="en-US" dirty="0"/>
              <a:t>避免重复创建：确保一个容器只对应一个图表实例</a:t>
            </a:r>
          </a:p>
          <a:p>
            <a:r>
              <a:rPr lang="zh-CN" altLang="en-US" dirty="0"/>
              <a:t>正确销毁：在不需要图表时调用</a:t>
            </a:r>
            <a:r>
              <a:rPr lang="en-US" altLang="zh-CN" dirty="0"/>
              <a:t>release</a:t>
            </a:r>
            <a:r>
              <a:rPr lang="zh-CN" altLang="en-US" dirty="0"/>
              <a:t>方法释放资源</a:t>
            </a:r>
          </a:p>
          <a:p>
            <a:r>
              <a:rPr lang="zh-CN" altLang="en-US" dirty="0"/>
              <a:t>利用生命周期事件：通过事件监听来执行特定时机的逻辑</a:t>
            </a:r>
          </a:p>
          <a:p>
            <a:r>
              <a:rPr lang="zh-CN" altLang="en-US" dirty="0"/>
              <a:t>优化更新：尽量使用局部更新（如</a:t>
            </a:r>
            <a:r>
              <a:rPr lang="en-US" altLang="zh-CN" dirty="0" err="1"/>
              <a:t>updateData</a:t>
            </a:r>
            <a:r>
              <a:rPr lang="zh-CN" altLang="en-US" dirty="0"/>
              <a:t>）而非完全重建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4686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EF86D-861F-96E1-D1AB-B6746F14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A3CA0-0463-8123-33D2-A746E417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本节课重点内容回顾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B56A7B7-A714-DDA7-BBB1-1EE6F8E25CB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b="1" dirty="0">
                <a:latin typeface="+mn-ea"/>
              </a:rPr>
              <a:t>课程重点回顾：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dirty="0">
                <a:latin typeface="+mn-ea"/>
              </a:rPr>
              <a:t>生命周期管理的四个关键环节：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初始化、渲染、更新和销毁</a:t>
            </a: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1800" b="1" dirty="0">
                <a:latin typeface="+mn-ea"/>
              </a:rPr>
              <a:t>合理管理生命周期的好处：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提高应用性能，避免内存泄漏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实现流畅的交互体验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更好地控制图表的行为和状态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为复杂交互和动画打下基础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7492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548</Words>
  <Application>Microsoft Office PowerPoint</Application>
  <PresentationFormat>宽屏</PresentationFormat>
  <Paragraphs>65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Arial</vt:lpstr>
      <vt:lpstr>Impact</vt:lpstr>
      <vt:lpstr>Wingdings</vt:lpstr>
      <vt:lpstr>1_Office 主题​​</vt:lpstr>
      <vt:lpstr>OfficePLUS-V2-ee79b56c-44bf-4999-8350-9727f0739207</vt:lpstr>
      <vt:lpstr>PowerPoint 演示文稿</vt:lpstr>
      <vt:lpstr>主要内容</vt:lpstr>
      <vt:lpstr>VChart生命周期概述</vt:lpstr>
      <vt:lpstr>初始化阶段</vt:lpstr>
      <vt:lpstr>渲染阶段</vt:lpstr>
      <vt:lpstr>更新阶段</vt:lpstr>
      <vt:lpstr>销毁阶段</vt:lpstr>
      <vt:lpstr>实践案例：完整生命周期管理</vt:lpstr>
      <vt:lpstr>生命周期管理最佳实践</vt:lpstr>
      <vt:lpstr>本节课重点内容回顾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112</cp:revision>
  <dcterms:created xsi:type="dcterms:W3CDTF">2025-10-28T10:07:16Z</dcterms:created>
  <dcterms:modified xsi:type="dcterms:W3CDTF">2025-11-15T13:48:33Z</dcterms:modified>
</cp:coreProperties>
</file>