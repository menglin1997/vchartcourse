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5"/>
  </p:notesMasterIdLst>
  <p:sldIdLst>
    <p:sldId id="262" r:id="rId3"/>
    <p:sldId id="284" r:id="rId4"/>
    <p:sldId id="286" r:id="rId5"/>
    <p:sldId id="294" r:id="rId6"/>
    <p:sldId id="288" r:id="rId7"/>
    <p:sldId id="295" r:id="rId8"/>
    <p:sldId id="289" r:id="rId9"/>
    <p:sldId id="296" r:id="rId10"/>
    <p:sldId id="297" r:id="rId11"/>
    <p:sldId id="292" r:id="rId12"/>
    <p:sldId id="283" r:id="rId13"/>
    <p:sldId id="265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336" y="49524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670334" y="376251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11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en-US" altLang="zh-CN" dirty="0"/>
              <a:t>Legend </a:t>
            </a:r>
            <a:r>
              <a:rPr lang="zh-CN" altLang="en-US"/>
              <a:t>图例</a:t>
            </a: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B2085-6C1E-0D15-1DC2-CA199408F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277A5-6950-9361-2308-058A1A234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大纲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D18CE36-D0B6-BE5D-D94C-E68C10F8B31B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离散图例</a:t>
            </a:r>
            <a:endParaRPr lang="en-US" altLang="zh-CN" dirty="0"/>
          </a:p>
          <a:p>
            <a:r>
              <a:rPr lang="zh-CN" altLang="en-US" dirty="0"/>
              <a:t>连续图例</a:t>
            </a:r>
          </a:p>
          <a:p>
            <a:r>
              <a:rPr lang="zh-CN" altLang="en-US" dirty="0"/>
              <a:t>自定义图例</a:t>
            </a:r>
          </a:p>
          <a:p>
            <a:endParaRPr lang="zh-CN" altLang="en-US" dirty="0"/>
          </a:p>
          <a:p>
            <a:pPr marL="0" indent="0">
              <a:buNone/>
            </a:pP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575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574F7-F2A6-465B-6477-11D587DE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2DE8E-7BB9-BFB4-F3B8-9EFF709B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离散图例</a:t>
            </a:r>
            <a:r>
              <a:rPr lang="en-US" altLang="zh-CN" dirty="0"/>
              <a:t>-</a:t>
            </a:r>
            <a:r>
              <a:rPr lang="zh-CN" altLang="en-US" dirty="0"/>
              <a:t>图示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BE714B4-E229-EB53-E11D-00980E5A517E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6" name="图片 5" descr="图表&#10;&#10;AI 生成的内容可能不正确。">
            <a:extLst>
              <a:ext uri="{FF2B5EF4-FFF2-40B4-BE49-F238E27FC236}">
                <a16:creationId xmlns:a16="http://schemas.microsoft.com/office/drawing/2014/main" id="{12230B65-3D1F-BF35-3CDC-B81DC7098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87" y="2071687"/>
            <a:ext cx="11020425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75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68F6F-5027-4D66-C775-EC398B9C3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C334AC-6683-5B8B-46E6-BA6720447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离散图例</a:t>
            </a:r>
            <a:r>
              <a:rPr lang="en-US" altLang="zh-CN" dirty="0"/>
              <a:t>-</a:t>
            </a:r>
            <a:r>
              <a:rPr lang="zh-CN" altLang="en-US" dirty="0"/>
              <a:t>组成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7A672A0-FBC7-69BB-1EC6-5CFCFE8C469D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1E906F1-5AEE-573C-50EF-F586487D2B28}"/>
              </a:ext>
            </a:extLst>
          </p:cNvPr>
          <p:cNvSpPr txBox="1"/>
          <p:nvPr/>
        </p:nvSpPr>
        <p:spPr>
          <a:xfrm>
            <a:off x="5597524" y="1356032"/>
            <a:ext cx="6096000" cy="388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 图例标题 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title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：表示图例的名称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 图例项 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item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 表示各个数据类别，其中每个图例项由以下部件组成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 shape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：图例项的 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shape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，通常同具体的图表类型相对应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 label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：图例项文本，表示该类别的名称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 value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：图例项数值，如果有可以显示该类别对应的数值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 background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：图例项背景，设置图例项的背景颜色或透明度等样式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 分页器：当图例项过多时会自动分页，方便用户浏览和操作</a:t>
            </a:r>
          </a:p>
        </p:txBody>
      </p:sp>
      <p:pic>
        <p:nvPicPr>
          <p:cNvPr id="10" name="图片 9" descr="图片包含 图表&#10;&#10;AI 生成的内容可能不正确。">
            <a:extLst>
              <a:ext uri="{FF2B5EF4-FFF2-40B4-BE49-F238E27FC236}">
                <a16:creationId xmlns:a16="http://schemas.microsoft.com/office/drawing/2014/main" id="{57DEB29C-B22F-9570-9B07-1BB91D112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3" y="1373341"/>
            <a:ext cx="4979988" cy="344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84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26224-F08F-4B7A-8A82-9586299BA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8AAC04-3D1E-F694-0031-6FF98D5DC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离散图例</a:t>
            </a:r>
            <a:r>
              <a:rPr lang="en-US" altLang="zh-CN" dirty="0"/>
              <a:t>-</a:t>
            </a:r>
            <a:r>
              <a:rPr lang="zh-CN" altLang="en-US" dirty="0"/>
              <a:t>布局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E2E50F5-AC99-5477-95BC-A8237FB6DF97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F1F96C5D-34DC-FDC7-09E7-D5AD628C7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" y="1133321"/>
            <a:ext cx="9820275" cy="2276475"/>
          </a:xfrm>
          <a:prstGeom prst="rect">
            <a:avLst/>
          </a:prstGeo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FC5E3D34-B4E9-82C3-90E2-B31FA636F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24" y="3598826"/>
            <a:ext cx="3890962" cy="312106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7AD786E-576F-2FC8-C5BD-4FE55925E288}"/>
              </a:ext>
            </a:extLst>
          </p:cNvPr>
          <p:cNvSpPr txBox="1"/>
          <p:nvPr/>
        </p:nvSpPr>
        <p:spPr>
          <a:xfrm>
            <a:off x="5125243" y="364981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水平布局：水平布局下的图例项会做从左到右的布局。</a:t>
            </a:r>
            <a:b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</a:b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14562CA-54F2-EE01-BD7E-7F632CE42695}"/>
              </a:ext>
            </a:extLst>
          </p:cNvPr>
          <p:cNvSpPr txBox="1"/>
          <p:nvPr/>
        </p:nvSpPr>
        <p:spPr>
          <a:xfrm>
            <a:off x="5125243" y="45361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垂直布局：垂直布局下的图例项会做自上到下的布局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4827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7F051-F492-16DC-5D5D-BBA1D156A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5D79F9-6108-D3BA-FCAF-5694AADC3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离散图例</a:t>
            </a:r>
            <a:r>
              <a:rPr lang="en-US" altLang="zh-CN" dirty="0"/>
              <a:t>-</a:t>
            </a:r>
            <a:r>
              <a:rPr lang="zh-CN" altLang="en-US" dirty="0"/>
              <a:t>交互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94AC5FD-E8C6-EB1A-F348-089E88C49758}"/>
              </a:ext>
            </a:extLst>
          </p:cNvPr>
          <p:cNvSpPr txBox="1">
            <a:spLocks/>
          </p:cNvSpPr>
          <p:nvPr/>
        </p:nvSpPr>
        <p:spPr>
          <a:xfrm>
            <a:off x="669924" y="1373340"/>
            <a:ext cx="10363200" cy="5078259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D0D794-1A38-679A-4220-A9A248B0866E}"/>
              </a:ext>
            </a:extLst>
          </p:cNvPr>
          <p:cNvSpPr txBox="1"/>
          <p:nvPr/>
        </p:nvSpPr>
        <p:spPr>
          <a:xfrm>
            <a:off x="669924" y="1379979"/>
            <a:ext cx="6096000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 鼠标悬浮到图例项时的交互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 鼠标点击图例时的交互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1CA7013-BAC6-47CA-FEAD-E3DE82D7CE0C}"/>
              </a:ext>
            </a:extLst>
          </p:cNvPr>
          <p:cNvSpPr txBox="1"/>
          <p:nvPr/>
        </p:nvSpPr>
        <p:spPr>
          <a:xfrm>
            <a:off x="669924" y="3178906"/>
            <a:ext cx="5280026" cy="2693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b="0" i="0" dirty="0">
                <a:solidFill>
                  <a:srgbClr val="FF0000"/>
                </a:solidFill>
                <a:effectLst/>
                <a:latin typeface="Nunito for Arco"/>
              </a:rPr>
              <a:t>图例项</a:t>
            </a:r>
            <a:r>
              <a:rPr lang="zh-CN" altLang="en-US" dirty="0">
                <a:solidFill>
                  <a:srgbClr val="FF0000"/>
                </a:solidFill>
                <a:latin typeface="Nunito for Arco"/>
              </a:rPr>
              <a:t>交互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Nunito for Arco"/>
              </a:rPr>
              <a:t>配置：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 </a:t>
            </a:r>
            <a:r>
              <a:rPr lang="en-US" altLang="zh-CN" sz="1600" b="0" i="0" dirty="0">
                <a:solidFill>
                  <a:srgbClr val="424E66"/>
                </a:solidFill>
                <a:effectLst/>
                <a:latin typeface="+mj-ea"/>
                <a:ea typeface="+mj-ea"/>
              </a:rPr>
              <a:t>'selected'</a:t>
            </a:r>
            <a:r>
              <a:rPr lang="zh-CN" altLang="en-US" sz="1600" b="0" i="0" dirty="0">
                <a:solidFill>
                  <a:srgbClr val="424E66"/>
                </a:solidFill>
                <a:effectLst/>
                <a:latin typeface="+mj-ea"/>
                <a:ea typeface="+mj-ea"/>
              </a:rPr>
              <a:t>：选中态，表示当前图例项被选中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600" b="0" i="0" dirty="0">
                <a:solidFill>
                  <a:srgbClr val="424E66"/>
                </a:solidFill>
                <a:effectLst/>
                <a:latin typeface="+mj-ea"/>
                <a:ea typeface="+mj-ea"/>
              </a:rPr>
              <a:t>'</a:t>
            </a:r>
            <a:r>
              <a:rPr lang="en-US" altLang="zh-CN" sz="1600" b="0" i="0" dirty="0" err="1">
                <a:solidFill>
                  <a:srgbClr val="424E66"/>
                </a:solidFill>
                <a:effectLst/>
                <a:latin typeface="+mj-ea"/>
                <a:ea typeface="+mj-ea"/>
              </a:rPr>
              <a:t>unSelected</a:t>
            </a:r>
            <a:r>
              <a:rPr lang="en-US" altLang="zh-CN" sz="1600" b="0" i="0" dirty="0">
                <a:solidFill>
                  <a:srgbClr val="424E66"/>
                </a:solidFill>
                <a:effectLst/>
                <a:latin typeface="+mj-ea"/>
                <a:ea typeface="+mj-ea"/>
              </a:rPr>
              <a:t>'</a:t>
            </a:r>
            <a:r>
              <a:rPr lang="zh-CN" altLang="en-US" sz="1600" b="0" i="0" dirty="0">
                <a:solidFill>
                  <a:srgbClr val="424E66"/>
                </a:solidFill>
                <a:effectLst/>
                <a:latin typeface="+mj-ea"/>
                <a:ea typeface="+mj-ea"/>
              </a:rPr>
              <a:t>：非选中状态，表示当前图例项未被选中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600" b="0" i="0" dirty="0">
                <a:solidFill>
                  <a:srgbClr val="424E66"/>
                </a:solidFill>
                <a:effectLst/>
                <a:latin typeface="+mj-ea"/>
                <a:ea typeface="+mj-ea"/>
              </a:rPr>
              <a:t>'</a:t>
            </a:r>
            <a:r>
              <a:rPr lang="en-US" altLang="zh-CN" sz="1600" b="0" i="0" dirty="0" err="1">
                <a:solidFill>
                  <a:srgbClr val="424E66"/>
                </a:solidFill>
                <a:effectLst/>
                <a:latin typeface="+mj-ea"/>
                <a:ea typeface="+mj-ea"/>
              </a:rPr>
              <a:t>selectedHover</a:t>
            </a:r>
            <a:r>
              <a:rPr lang="en-US" altLang="zh-CN" sz="1600" b="0" i="0" dirty="0">
                <a:solidFill>
                  <a:srgbClr val="424E66"/>
                </a:solidFill>
                <a:effectLst/>
                <a:latin typeface="+mj-ea"/>
                <a:ea typeface="+mj-ea"/>
              </a:rPr>
              <a:t>'</a:t>
            </a:r>
            <a:r>
              <a:rPr lang="zh-CN" altLang="en-US" sz="1600" b="0" i="0" dirty="0">
                <a:solidFill>
                  <a:srgbClr val="424E66"/>
                </a:solidFill>
                <a:effectLst/>
                <a:latin typeface="+mj-ea"/>
                <a:ea typeface="+mj-ea"/>
              </a:rPr>
              <a:t>：选中并 </a:t>
            </a:r>
            <a:r>
              <a:rPr lang="en-US" altLang="zh-CN" sz="1600" b="0" i="0" dirty="0">
                <a:solidFill>
                  <a:srgbClr val="424E66"/>
                </a:solidFill>
                <a:effectLst/>
                <a:latin typeface="+mj-ea"/>
                <a:ea typeface="+mj-ea"/>
              </a:rPr>
              <a:t>hover </a:t>
            </a:r>
            <a:r>
              <a:rPr lang="zh-CN" altLang="en-US" sz="1600" b="0" i="0" dirty="0">
                <a:solidFill>
                  <a:srgbClr val="424E66"/>
                </a:solidFill>
                <a:effectLst/>
                <a:latin typeface="+mj-ea"/>
                <a:ea typeface="+mj-ea"/>
              </a:rPr>
              <a:t>状态，表示鼠标悬浮在选中的图例项上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600" b="0" i="0" dirty="0">
                <a:solidFill>
                  <a:srgbClr val="424E66"/>
                </a:solidFill>
                <a:effectLst/>
                <a:latin typeface="+mj-ea"/>
                <a:ea typeface="+mj-ea"/>
              </a:rPr>
              <a:t>'</a:t>
            </a:r>
            <a:r>
              <a:rPr lang="en-US" altLang="zh-CN" sz="1600" b="0" i="0" dirty="0" err="1">
                <a:solidFill>
                  <a:srgbClr val="424E66"/>
                </a:solidFill>
                <a:effectLst/>
                <a:latin typeface="+mj-ea"/>
                <a:ea typeface="+mj-ea"/>
              </a:rPr>
              <a:t>unSelectedHover</a:t>
            </a:r>
            <a:r>
              <a:rPr lang="en-US" altLang="zh-CN" sz="1600" b="0" i="0" dirty="0">
                <a:solidFill>
                  <a:srgbClr val="424E66"/>
                </a:solidFill>
                <a:effectLst/>
                <a:latin typeface="+mj-ea"/>
                <a:ea typeface="+mj-ea"/>
              </a:rPr>
              <a:t>'</a:t>
            </a:r>
            <a:r>
              <a:rPr lang="zh-CN" altLang="en-US" sz="1600" b="0" i="0" dirty="0">
                <a:solidFill>
                  <a:srgbClr val="424E66"/>
                </a:solidFill>
                <a:effectLst/>
                <a:latin typeface="+mj-ea"/>
                <a:ea typeface="+mj-ea"/>
              </a:rPr>
              <a:t>：非选中并 </a:t>
            </a:r>
            <a:r>
              <a:rPr lang="en-US" altLang="zh-CN" sz="1600" b="0" i="0" dirty="0">
                <a:solidFill>
                  <a:srgbClr val="424E66"/>
                </a:solidFill>
                <a:effectLst/>
                <a:latin typeface="+mj-ea"/>
                <a:ea typeface="+mj-ea"/>
              </a:rPr>
              <a:t>hover </a:t>
            </a:r>
            <a:r>
              <a:rPr lang="zh-CN" altLang="en-US" sz="1600" b="0" i="0" dirty="0">
                <a:solidFill>
                  <a:srgbClr val="424E66"/>
                </a:solidFill>
                <a:effectLst/>
                <a:latin typeface="+mj-ea"/>
                <a:ea typeface="+mj-ea"/>
              </a:rPr>
              <a:t>状态，表示鼠标悬浮在选中的图例项上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FC5212B-68CF-D111-093D-2FBCB7F3E574}"/>
              </a:ext>
            </a:extLst>
          </p:cNvPr>
          <p:cNvSpPr txBox="1"/>
          <p:nvPr/>
        </p:nvSpPr>
        <p:spPr>
          <a:xfrm>
            <a:off x="6592887" y="3533621"/>
            <a:ext cx="4318000" cy="136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b="0" i="0" dirty="0">
                <a:solidFill>
                  <a:srgbClr val="FF0000"/>
                </a:solidFill>
                <a:effectLst/>
                <a:latin typeface="Nunito for Arco"/>
              </a:rPr>
              <a:t>分页器交互配置包含：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 </a:t>
            </a:r>
            <a:r>
              <a:rPr lang="zh-CN" altLang="en-US" sz="1600" b="0" i="0" dirty="0">
                <a:solidFill>
                  <a:srgbClr val="424E66"/>
                </a:solidFill>
                <a:effectLst/>
                <a:latin typeface="+mn-ea"/>
              </a:rPr>
              <a:t>鼠标 </a:t>
            </a:r>
            <a:r>
              <a:rPr lang="en-US" altLang="zh-CN" sz="1600" b="0" i="0" dirty="0">
                <a:solidFill>
                  <a:srgbClr val="424E66"/>
                </a:solidFill>
                <a:effectLst/>
                <a:latin typeface="+mn-ea"/>
              </a:rPr>
              <a:t>hover </a:t>
            </a:r>
            <a:r>
              <a:rPr lang="zh-CN" altLang="en-US" sz="1600" b="0" i="0" dirty="0">
                <a:solidFill>
                  <a:srgbClr val="424E66"/>
                </a:solidFill>
                <a:effectLst/>
                <a:latin typeface="+mn-ea"/>
              </a:rPr>
              <a:t>到按钮时的交互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424E66"/>
                </a:solidFill>
                <a:effectLst/>
                <a:latin typeface="+mn-ea"/>
              </a:rPr>
              <a:t> 鼠标点击时的交互</a:t>
            </a:r>
          </a:p>
        </p:txBody>
      </p:sp>
      <p:pic>
        <p:nvPicPr>
          <p:cNvPr id="17" name="图片 16" descr="文本&#10;&#10;AI 生成的内容可能不正确。">
            <a:extLst>
              <a:ext uri="{FF2B5EF4-FFF2-40B4-BE49-F238E27FC236}">
                <a16:creationId xmlns:a16="http://schemas.microsoft.com/office/drawing/2014/main" id="{BDCF499E-F196-DBBE-56D7-31576933F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818" y="1133321"/>
            <a:ext cx="6633924" cy="229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425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5AE63-AD94-573B-DC28-5112FA9CE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1E13A3-9722-C5FE-7B84-EB70ED2A5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连续图例</a:t>
            </a:r>
            <a:r>
              <a:rPr lang="en-US" altLang="zh-CN" b="0" dirty="0"/>
              <a:t>-</a:t>
            </a:r>
            <a:r>
              <a:rPr lang="zh-CN" altLang="en-US" b="0" dirty="0"/>
              <a:t>示意图</a:t>
            </a:r>
            <a:endParaRPr lang="zh-CN" altLang="en-US" dirty="0"/>
          </a:p>
        </p:txBody>
      </p:sp>
      <p:pic>
        <p:nvPicPr>
          <p:cNvPr id="6" name="图片 5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98960FEC-E37E-1053-0D87-C678CE898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128837"/>
            <a:ext cx="10591800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948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3E43B-1C6A-7CB2-B6E1-4F463B92B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D70230-B057-6B0F-B272-4BE092D42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连续图例</a:t>
            </a:r>
            <a:r>
              <a:rPr lang="en-US" altLang="zh-CN" b="0" dirty="0"/>
              <a:t>-</a:t>
            </a:r>
            <a:r>
              <a:rPr lang="zh-CN" altLang="en-US" b="0" dirty="0"/>
              <a:t>组成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712C58C-902C-9720-F8B0-EE3B262D1E58}"/>
              </a:ext>
            </a:extLst>
          </p:cNvPr>
          <p:cNvSpPr txBox="1"/>
          <p:nvPr/>
        </p:nvSpPr>
        <p:spPr>
          <a:xfrm>
            <a:off x="669924" y="1187024"/>
            <a:ext cx="4067176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sz="1600" b="0" i="0" dirty="0">
                <a:solidFill>
                  <a:srgbClr val="424E66"/>
                </a:solidFill>
                <a:effectLst/>
                <a:latin typeface="+mn-ea"/>
              </a:rPr>
              <a:t>连续图例分为颜色图例和尺寸图例，均由以下部分组成：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424E66"/>
                </a:solidFill>
                <a:effectLst/>
                <a:latin typeface="+mn-ea"/>
              </a:rPr>
              <a:t> 图例标题 </a:t>
            </a:r>
            <a:r>
              <a:rPr lang="en-US" altLang="zh-CN" sz="1600" b="0" i="0" dirty="0">
                <a:solidFill>
                  <a:srgbClr val="424E66"/>
                </a:solidFill>
                <a:effectLst/>
                <a:latin typeface="+mn-ea"/>
              </a:rPr>
              <a:t>title</a:t>
            </a:r>
            <a:r>
              <a:rPr lang="zh-CN" altLang="en-US" sz="1600" b="0" i="0" dirty="0">
                <a:solidFill>
                  <a:srgbClr val="424E66"/>
                </a:solidFill>
                <a:effectLst/>
                <a:latin typeface="+mn-ea"/>
              </a:rPr>
              <a:t>：表示图例的名称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424E66"/>
                </a:solidFill>
                <a:effectLst/>
                <a:latin typeface="+mn-ea"/>
              </a:rPr>
              <a:t> 滑块轨道 </a:t>
            </a:r>
            <a:r>
              <a:rPr lang="en-US" altLang="zh-CN" sz="1600" b="0" i="0" dirty="0">
                <a:solidFill>
                  <a:srgbClr val="424E66"/>
                </a:solidFill>
                <a:effectLst/>
                <a:latin typeface="+mn-ea"/>
              </a:rPr>
              <a:t>rail</a:t>
            </a:r>
            <a:r>
              <a:rPr lang="zh-CN" altLang="en-US" sz="1600" b="0" i="0" dirty="0">
                <a:solidFill>
                  <a:srgbClr val="424E66"/>
                </a:solidFill>
                <a:effectLst/>
                <a:latin typeface="+mn-ea"/>
              </a:rPr>
              <a:t>：表示数值变化的连续区间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424E66"/>
                </a:solidFill>
                <a:effectLst/>
                <a:latin typeface="+mn-ea"/>
              </a:rPr>
              <a:t> 滑块条 </a:t>
            </a:r>
            <a:r>
              <a:rPr lang="en-US" altLang="zh-CN" sz="1600" b="0" i="0" dirty="0">
                <a:solidFill>
                  <a:srgbClr val="424E66"/>
                </a:solidFill>
                <a:effectLst/>
                <a:latin typeface="+mn-ea"/>
              </a:rPr>
              <a:t>track</a:t>
            </a:r>
            <a:r>
              <a:rPr lang="zh-CN" altLang="en-US" sz="1600" b="0" i="0" dirty="0">
                <a:solidFill>
                  <a:srgbClr val="424E66"/>
                </a:solidFill>
                <a:effectLst/>
                <a:latin typeface="+mn-ea"/>
              </a:rPr>
              <a:t>：表示当前选择的数值范围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424E66"/>
                </a:solidFill>
                <a:effectLst/>
                <a:latin typeface="+mn-ea"/>
              </a:rPr>
              <a:t> 起始、结束文本 </a:t>
            </a:r>
            <a:r>
              <a:rPr lang="en-US" altLang="zh-CN" sz="1600" b="0" i="0" dirty="0" err="1">
                <a:solidFill>
                  <a:srgbClr val="424E66"/>
                </a:solidFill>
                <a:effectLst/>
                <a:latin typeface="+mn-ea"/>
              </a:rPr>
              <a:t>handlerText</a:t>
            </a:r>
            <a:r>
              <a:rPr lang="zh-CN" altLang="en-US" sz="1600" b="0" i="0" dirty="0">
                <a:solidFill>
                  <a:srgbClr val="424E66"/>
                </a:solidFill>
                <a:effectLst/>
                <a:latin typeface="+mn-ea"/>
              </a:rPr>
              <a:t>：表示连续区间的最小值和最大值</a:t>
            </a:r>
          </a:p>
        </p:txBody>
      </p:sp>
      <p:pic>
        <p:nvPicPr>
          <p:cNvPr id="9" name="图片 8" descr="图示&#10;&#10;AI 生成的内容可能不正确。">
            <a:extLst>
              <a:ext uri="{FF2B5EF4-FFF2-40B4-BE49-F238E27FC236}">
                <a16:creationId xmlns:a16="http://schemas.microsoft.com/office/drawing/2014/main" id="{29528140-3E99-221D-0496-04751FB35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1199724"/>
            <a:ext cx="6991350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473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90892-A724-3D87-4EF4-8F715E3FF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F24AF-47CE-CB35-009C-5911617A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连续图例</a:t>
            </a:r>
            <a:r>
              <a:rPr lang="en-US" altLang="zh-CN" b="0" dirty="0"/>
              <a:t>-</a:t>
            </a:r>
            <a:r>
              <a:rPr lang="zh-CN" altLang="en-US" b="0" dirty="0"/>
              <a:t>自定义图例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01110FF-94DF-2B4A-260B-C5B8F89C69A6}"/>
              </a:ext>
            </a:extLst>
          </p:cNvPr>
          <p:cNvSpPr txBox="1"/>
          <p:nvPr/>
        </p:nvSpPr>
        <p:spPr>
          <a:xfrm>
            <a:off x="670719" y="2025224"/>
            <a:ext cx="10850562" cy="83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en-US" altLang="zh-CN" dirty="0" err="1"/>
              <a:t>vchart.getLegendSelectedDataByIndex</a:t>
            </a:r>
            <a:r>
              <a:rPr lang="en-US" altLang="zh-CN" dirty="0"/>
              <a:t>() </a:t>
            </a:r>
            <a:r>
              <a:rPr lang="zh-CN" altLang="en-US" dirty="0"/>
              <a:t>获取图例项数据</a:t>
            </a:r>
            <a:endParaRPr lang="en-US" altLang="zh-CN" dirty="0"/>
          </a:p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en-US" altLang="zh-CN" dirty="0" err="1"/>
              <a:t>vchart.setLegendSelectedDataByIndex</a:t>
            </a:r>
            <a:r>
              <a:rPr lang="en-US" altLang="zh-CN" dirty="0"/>
              <a:t>() </a:t>
            </a:r>
            <a:r>
              <a:rPr lang="zh-CN" altLang="en-US" dirty="0"/>
              <a:t>设置图例项的选中数据，实现自定义图例的展示及交互。</a:t>
            </a:r>
            <a:endParaRPr lang="zh-CN" altLang="en-US" sz="1600" b="0" i="0" dirty="0">
              <a:solidFill>
                <a:srgbClr val="424E66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95436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E0140-3436-1DBB-A433-3271041C5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DBEF2-709C-597C-DAB2-51C9270CD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总结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DAAE41-8DF1-FA66-B3B7-48BC1C73FC8D}"/>
              </a:ext>
            </a:extLst>
          </p:cNvPr>
          <p:cNvSpPr txBox="1"/>
          <p:nvPr/>
        </p:nvSpPr>
        <p:spPr>
          <a:xfrm>
            <a:off x="669924" y="137696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离散图例的组成、布局、交互</a:t>
            </a:r>
          </a:p>
          <a:p>
            <a:r>
              <a:rPr lang="zh-CN" altLang="en-US" dirty="0"/>
              <a:t>连续图例的组成</a:t>
            </a:r>
            <a:endParaRPr lang="en-US" altLang="zh-CN" dirty="0"/>
          </a:p>
          <a:p>
            <a:r>
              <a:rPr lang="zh-CN" altLang="en-US" dirty="0"/>
              <a:t>自定义图例：</a:t>
            </a:r>
            <a:r>
              <a:rPr lang="en-US" altLang="zh-CN" dirty="0"/>
              <a:t>UI</a:t>
            </a:r>
            <a:r>
              <a:rPr lang="zh-CN" altLang="en-US"/>
              <a:t>自定义、自定义交互、自定义图例数据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2630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502" y="1825625"/>
            <a:ext cx="2431473" cy="24967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027324" y="4428156"/>
            <a:ext cx="3174076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u="sng" dirty="0" err="1">
                <a:latin typeface="+mn-ea"/>
              </a:rPr>
              <a:t>微信</a:t>
            </a: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480</Words>
  <Application>Microsoft Office PowerPoint</Application>
  <PresentationFormat>宽屏</PresentationFormat>
  <Paragraphs>55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-apple-system</vt:lpstr>
      <vt:lpstr>Nunito for Arco</vt:lpstr>
      <vt:lpstr>ui-monospace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大纲</vt:lpstr>
      <vt:lpstr>离散图例-图示</vt:lpstr>
      <vt:lpstr>离散图例-组成</vt:lpstr>
      <vt:lpstr>离散图例-布局</vt:lpstr>
      <vt:lpstr>离散图例-交互</vt:lpstr>
      <vt:lpstr>连续图例-示意图</vt:lpstr>
      <vt:lpstr>连续图例-组成</vt:lpstr>
      <vt:lpstr>连续图例-自定义图例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192</cp:revision>
  <dcterms:created xsi:type="dcterms:W3CDTF">2025-10-28T10:07:16Z</dcterms:created>
  <dcterms:modified xsi:type="dcterms:W3CDTF">2025-12-26T14:47:17Z</dcterms:modified>
</cp:coreProperties>
</file>