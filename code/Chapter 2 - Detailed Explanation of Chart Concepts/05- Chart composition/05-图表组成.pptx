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4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4" r:id="rId2"/>
    <p:sldMasterId id="2147483736" r:id="rId3"/>
  </p:sldMasterIdLst>
  <p:notesMasterIdLst>
    <p:notesMasterId r:id="rId17"/>
  </p:notesMasterIdLst>
  <p:sldIdLst>
    <p:sldId id="262" r:id="rId4"/>
    <p:sldId id="263" r:id="rId5"/>
    <p:sldId id="268" r:id="rId6"/>
    <p:sldId id="279" r:id="rId7"/>
    <p:sldId id="278" r:id="rId8"/>
    <p:sldId id="271" r:id="rId9"/>
    <p:sldId id="272" r:id="rId10"/>
    <p:sldId id="273" r:id="rId11"/>
    <p:sldId id="274" r:id="rId12"/>
    <p:sldId id="275" r:id="rId13"/>
    <p:sldId id="269" r:id="rId14"/>
    <p:sldId id="276" r:id="rId15"/>
    <p:sldId id="26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5817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5215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9068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3834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78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56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60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3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9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0" Type="http://schemas.openxmlformats.org/officeDocument/2006/relationships/slideLayout" Target="../slideLayouts/slideLayout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10" Type="http://schemas.openxmlformats.org/officeDocument/2006/relationships/tags" Target="../tags/tag24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slideLayout" Target="../slideLayouts/slideLayout23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3098" y="3821663"/>
            <a:ext cx="5579403" cy="6601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课：图表组成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课程简介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106805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endParaRPr lang="en-US" altLang="zh-CN" sz="1800" dirty="0">
              <a:latin typeface="+mn-ea"/>
            </a:endParaRPr>
          </a:p>
        </p:txBody>
      </p:sp>
      <p:grpSp>
        <p:nvGrpSpPr>
          <p:cNvPr id="31" name="Group 1">
            <a:extLst>
              <a:ext uri="{FF2B5EF4-FFF2-40B4-BE49-F238E27FC236}">
                <a16:creationId xmlns:a16="http://schemas.microsoft.com/office/drawing/2014/main" id="{E54A763B-D20F-7FCB-C4A6-A117A543F87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4" y="2143954"/>
            <a:ext cx="11660091" cy="3358047"/>
            <a:chOff x="1316106" y="2831374"/>
            <a:chExt cx="9577817" cy="3358047"/>
          </a:xfrm>
        </p:grpSpPr>
        <p:grpSp>
          <p:nvGrpSpPr>
            <p:cNvPr id="32" name="Group 3">
              <a:extLst>
                <a:ext uri="{FF2B5EF4-FFF2-40B4-BE49-F238E27FC236}">
                  <a16:creationId xmlns:a16="http://schemas.microsoft.com/office/drawing/2014/main" id="{25A7A165-AA2C-E419-800C-809A281BE25A}"/>
                </a:ext>
              </a:extLst>
            </p:cNvPr>
            <p:cNvGrpSpPr/>
            <p:nvPr/>
          </p:nvGrpSpPr>
          <p:grpSpPr>
            <a:xfrm>
              <a:off x="1316106" y="2831374"/>
              <a:ext cx="2753447" cy="3243798"/>
              <a:chOff x="1163804" y="2831374"/>
              <a:chExt cx="2753447" cy="3243798"/>
            </a:xfrm>
          </p:grpSpPr>
          <p:sp>
            <p:nvSpPr>
              <p:cNvPr id="38" name="1">
                <a:extLst>
                  <a:ext uri="{FF2B5EF4-FFF2-40B4-BE49-F238E27FC236}">
                    <a16:creationId xmlns:a16="http://schemas.microsoft.com/office/drawing/2014/main" id="{03569EAE-8943-B071-777B-09D197C271AC}"/>
                  </a:ext>
                </a:extLst>
              </p:cNvPr>
              <p:cNvSpPr/>
              <p:nvPr/>
            </p:nvSpPr>
            <p:spPr bwMode="auto">
              <a:xfrm>
                <a:off x="1191720" y="2831374"/>
                <a:ext cx="2696776" cy="3243798"/>
              </a:xfrm>
              <a:custGeom>
                <a:avLst/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Index-1">
                <a:extLst>
                  <a:ext uri="{FF2B5EF4-FFF2-40B4-BE49-F238E27FC236}">
                    <a16:creationId xmlns:a16="http://schemas.microsoft.com/office/drawing/2014/main" id="{D0D14A65-AD51-6449-B767-271520286B7D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105670" y="3290780"/>
                <a:ext cx="813042" cy="76944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b" anchorCtr="0">
                <a:spAutoFit/>
              </a:bodyPr>
              <a:lstStyle/>
              <a:p>
                <a:pPr algn="ctr"/>
                <a:r>
                  <a:rPr kumimoji="1" lang="en-US" altLang="zh-CN" sz="4400" b="1" dirty="0">
                    <a:solidFill>
                      <a:schemeClr val="accent1"/>
                    </a:solidFill>
                  </a:rPr>
                  <a:t>01</a:t>
                </a:r>
                <a:endParaRPr kumimoji="1" lang="zh-CN" altLang="en-US" sz="4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0" name="Title-1">
                <a:extLst>
                  <a:ext uri="{FF2B5EF4-FFF2-40B4-BE49-F238E27FC236}">
                    <a16:creationId xmlns:a16="http://schemas.microsoft.com/office/drawing/2014/main" id="{6CB071E8-4C08-3319-F5A9-28C549B08235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163804" y="4625517"/>
                <a:ext cx="2753447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457177" lvl="1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+mn-ea"/>
                  </a:rPr>
                  <a:t>了解</a:t>
                </a:r>
                <a:r>
                  <a:rPr lang="en-US" altLang="zh-CN" sz="2000" b="1" dirty="0" err="1">
                    <a:solidFill>
                      <a:schemeClr val="tx1"/>
                    </a:solidFill>
                    <a:latin typeface="+mn-ea"/>
                  </a:rPr>
                  <a:t>VChart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+mn-ea"/>
                  </a:rPr>
                  <a:t>核心术语</a:t>
                </a:r>
                <a:endParaRPr lang="en-US" altLang="zh-CN" sz="20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grpSp>
          <p:nvGrpSpPr>
            <p:cNvPr id="33" name="Group 2">
              <a:extLst>
                <a:ext uri="{FF2B5EF4-FFF2-40B4-BE49-F238E27FC236}">
                  <a16:creationId xmlns:a16="http://schemas.microsoft.com/office/drawing/2014/main" id="{86B32577-F3BD-4B8B-BC9C-0CA36CA36CB4}"/>
                </a:ext>
              </a:extLst>
            </p:cNvPr>
            <p:cNvGrpSpPr/>
            <p:nvPr/>
          </p:nvGrpSpPr>
          <p:grpSpPr>
            <a:xfrm>
              <a:off x="4181074" y="2849453"/>
              <a:ext cx="6712849" cy="3339968"/>
              <a:chOff x="4028773" y="2849453"/>
              <a:chExt cx="6712849" cy="3339968"/>
            </a:xfrm>
          </p:grpSpPr>
          <p:sp>
            <p:nvSpPr>
              <p:cNvPr id="34" name="2">
                <a:extLst>
                  <a:ext uri="{FF2B5EF4-FFF2-40B4-BE49-F238E27FC236}">
                    <a16:creationId xmlns:a16="http://schemas.microsoft.com/office/drawing/2014/main" id="{EDA89A98-5FC2-71F5-0596-B16AFF4CFF30}"/>
                  </a:ext>
                </a:extLst>
              </p:cNvPr>
              <p:cNvSpPr/>
              <p:nvPr/>
            </p:nvSpPr>
            <p:spPr bwMode="auto">
              <a:xfrm>
                <a:off x="4159014" y="2849453"/>
                <a:ext cx="2883114" cy="3339968"/>
              </a:xfrm>
              <a:custGeom>
                <a:avLst/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Index-2">
                <a:extLst>
                  <a:ext uri="{FF2B5EF4-FFF2-40B4-BE49-F238E27FC236}">
                    <a16:creationId xmlns:a16="http://schemas.microsoft.com/office/drawing/2014/main" id="{E48BA92D-308C-14A2-5B07-4B489030D196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144898" y="3274089"/>
                <a:ext cx="813042" cy="76944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b" anchorCtr="0">
                <a:spAutoFit/>
              </a:bodyPr>
              <a:lstStyle/>
              <a:p>
                <a:pPr algn="ctr"/>
                <a:r>
                  <a:rPr kumimoji="1" lang="en-US" altLang="zh-CN" sz="4400" b="1" dirty="0">
                    <a:solidFill>
                      <a:schemeClr val="accent1"/>
                    </a:solidFill>
                  </a:rPr>
                  <a:t>02</a:t>
                </a:r>
                <a:endParaRPr kumimoji="1" lang="zh-CN" altLang="en-US" sz="4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6" name="Title-2">
                <a:extLst>
                  <a:ext uri="{FF2B5EF4-FFF2-40B4-BE49-F238E27FC236}">
                    <a16:creationId xmlns:a16="http://schemas.microsoft.com/office/drawing/2014/main" id="{27F5EBCB-9B7E-939B-4AB9-E7AB2D4CED52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4028773" y="4625517"/>
                <a:ext cx="3076733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457177" lvl="1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+mn-ea"/>
                  </a:rPr>
                  <a:t>掌握图表组成和数据定义</a:t>
                </a:r>
                <a:endParaRPr lang="en-US" altLang="zh-CN" sz="20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7" name="Body-2">
                <a:extLst>
                  <a:ext uri="{FF2B5EF4-FFF2-40B4-BE49-F238E27FC236}">
                    <a16:creationId xmlns:a16="http://schemas.microsoft.com/office/drawing/2014/main" id="{BD7F4F11-6C9A-33FE-9867-A750693DF85D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526573" y="4382084"/>
                <a:ext cx="2753447" cy="10717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457177" lvl="1">
                  <a:lnSpc>
                    <a:spcPct val="150000"/>
                  </a:lnSpc>
                </a:pPr>
                <a:endParaRPr lang="en-US" altLang="zh-CN" sz="16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4" name="Title-2">
                <a:extLst>
                  <a:ext uri="{FF2B5EF4-FFF2-40B4-BE49-F238E27FC236}">
                    <a16:creationId xmlns:a16="http://schemas.microsoft.com/office/drawing/2014/main" id="{BD52A930-2DA9-91BB-10AD-2F519A79269B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7064971" y="4688714"/>
                <a:ext cx="3676651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457177" lvl="1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+mn-ea"/>
                  </a:rPr>
                  <a:t>理解图表配置基本语法规则</a:t>
                </a:r>
                <a:endParaRPr lang="en-US" altLang="zh-CN" sz="20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42" name="2">
            <a:extLst>
              <a:ext uri="{FF2B5EF4-FFF2-40B4-BE49-F238E27FC236}">
                <a16:creationId xmlns:a16="http://schemas.microsoft.com/office/drawing/2014/main" id="{3FC76761-FD45-8008-ECEF-7585F20141C6}"/>
              </a:ext>
            </a:extLst>
          </p:cNvPr>
          <p:cNvSpPr/>
          <p:nvPr/>
        </p:nvSpPr>
        <p:spPr bwMode="auto">
          <a:xfrm>
            <a:off x="8085544" y="2024420"/>
            <a:ext cx="3615194" cy="3615194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tx1">
              <a:lumMod val="25000"/>
              <a:lumOff val="75000"/>
              <a:alpha val="2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" name="Index-2">
            <a:extLst>
              <a:ext uri="{FF2B5EF4-FFF2-40B4-BE49-F238E27FC236}">
                <a16:creationId xmlns:a16="http://schemas.microsoft.com/office/drawing/2014/main" id="{51FDA97B-BEB4-91A2-DE1A-53668A9E2E0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451897" y="2573005"/>
            <a:ext cx="813043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b" anchorCtr="0">
            <a:spAutoFit/>
          </a:bodyPr>
          <a:lstStyle/>
          <a:p>
            <a:pPr algn="ctr"/>
            <a:r>
              <a:rPr kumimoji="1" lang="en-US" altLang="zh-CN" sz="4400" b="1" dirty="0">
                <a:solidFill>
                  <a:schemeClr val="accent1"/>
                </a:solidFill>
              </a:rPr>
              <a:t>03</a:t>
            </a:r>
            <a:endParaRPr kumimoji="1" lang="zh-CN" altLang="en-US" sz="4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83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0948A-E12A-1338-4165-DA5C3864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7A1A3-3967-43A9-DF54-37D4867E4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VChart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核心术语解析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24F51E3-FA27-B769-8649-CAF5215B201B}"/>
              </a:ext>
            </a:extLst>
          </p:cNvPr>
          <p:cNvSpPr txBox="1">
            <a:spLocks/>
          </p:cNvSpPr>
          <p:nvPr/>
        </p:nvSpPr>
        <p:spPr>
          <a:xfrm>
            <a:off x="350837" y="1273271"/>
            <a:ext cx="10850563" cy="4903692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endParaRPr lang="en-US" altLang="zh-CN" sz="1800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A15B55E-4294-4DA9-4D97-FE40D74C9CDD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59623" y="1920404"/>
            <a:ext cx="10672753" cy="4309854"/>
            <a:chOff x="753086" y="2041142"/>
            <a:chExt cx="10672753" cy="4309854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49591D8-00A8-3035-4602-E540EE4AA466}"/>
                </a:ext>
              </a:extLst>
            </p:cNvPr>
            <p:cNvGrpSpPr/>
            <p:nvPr/>
          </p:nvGrpSpPr>
          <p:grpSpPr>
            <a:xfrm>
              <a:off x="753086" y="2041142"/>
              <a:ext cx="1513902" cy="3534257"/>
              <a:chOff x="753086" y="2041142"/>
              <a:chExt cx="1513902" cy="3534257"/>
            </a:xfrm>
          </p:grpSpPr>
          <p:sp>
            <p:nvSpPr>
              <p:cNvPr id="31" name="Index-1">
                <a:extLst>
                  <a:ext uri="{FF2B5EF4-FFF2-40B4-BE49-F238E27FC236}">
                    <a16:creationId xmlns:a16="http://schemas.microsoft.com/office/drawing/2014/main" id="{A766DCEB-7978-3896-0760-D96999CCCF72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077111" y="2041142"/>
                <a:ext cx="865852" cy="865852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3200" b="1" dirty="0">
                    <a:latin typeface="+mn-ea"/>
                  </a:rPr>
                  <a:t>01</a:t>
                </a:r>
                <a:endParaRPr lang="zh-CN" altLang="en-US" sz="3200" b="1" dirty="0">
                  <a:latin typeface="+mn-ea"/>
                </a:endParaRPr>
              </a:p>
            </p:txBody>
          </p:sp>
          <p:sp>
            <p:nvSpPr>
              <p:cNvPr id="32" name="Title-1">
                <a:extLst>
                  <a:ext uri="{FF2B5EF4-FFF2-40B4-BE49-F238E27FC236}">
                    <a16:creationId xmlns:a16="http://schemas.microsoft.com/office/drawing/2014/main" id="{324D3A10-82DA-BFDE-9F55-6A91D7A9FF8C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810100" y="3103007"/>
                <a:ext cx="1399875" cy="34769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b="1" dirty="0">
                    <a:latin typeface="+mn-ea"/>
                  </a:rPr>
                  <a:t>mark</a:t>
                </a:r>
                <a:r>
                  <a:rPr kumimoji="1" lang="zh-CN" altLang="en-US" sz="1600" b="1" dirty="0">
                    <a:latin typeface="+mn-ea"/>
                  </a:rPr>
                  <a:t>（图元）</a:t>
                </a:r>
              </a:p>
            </p:txBody>
          </p:sp>
          <p:sp>
            <p:nvSpPr>
              <p:cNvPr id="33" name="Body-1">
                <a:extLst>
                  <a:ext uri="{FF2B5EF4-FFF2-40B4-BE49-F238E27FC236}">
                    <a16:creationId xmlns:a16="http://schemas.microsoft.com/office/drawing/2014/main" id="{5DCB195F-6811-2B8C-5A38-4EF6E7AB8631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753086" y="3695269"/>
                <a:ext cx="1513902" cy="1880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图表中最基本的图形元素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如线条、点、矩形等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构建图表的</a:t>
                </a:r>
                <a:r>
                  <a:rPr lang="en-US" altLang="zh-CN" sz="1400" dirty="0">
                    <a:latin typeface="+mn-ea"/>
                  </a:rPr>
                  <a:t>"</a:t>
                </a:r>
                <a:r>
                  <a:rPr lang="zh-CN" altLang="en-US" sz="1400" dirty="0">
                    <a:latin typeface="+mn-ea"/>
                  </a:rPr>
                  <a:t>积木</a:t>
                </a:r>
                <a:r>
                  <a:rPr lang="en-US" altLang="zh-CN" sz="1400" dirty="0">
                    <a:latin typeface="+mn-ea"/>
                  </a:rPr>
                  <a:t>"</a:t>
                </a:r>
                <a:endParaRPr lang="zh-CN" altLang="en-US" sz="1400" dirty="0">
                  <a:latin typeface="+mn-ea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351A4E0-1068-61F5-8E60-A7AF60CE89B7}"/>
                </a:ext>
              </a:extLst>
            </p:cNvPr>
            <p:cNvGrpSpPr/>
            <p:nvPr/>
          </p:nvGrpSpPr>
          <p:grpSpPr>
            <a:xfrm>
              <a:off x="2584860" y="2041142"/>
              <a:ext cx="1513902" cy="4309854"/>
              <a:chOff x="2584860" y="2041142"/>
              <a:chExt cx="1513902" cy="4309854"/>
            </a:xfrm>
          </p:grpSpPr>
          <p:sp>
            <p:nvSpPr>
              <p:cNvPr id="27" name="Index-2">
                <a:extLst>
                  <a:ext uri="{FF2B5EF4-FFF2-40B4-BE49-F238E27FC236}">
                    <a16:creationId xmlns:a16="http://schemas.microsoft.com/office/drawing/2014/main" id="{FD9DD696-275B-F431-8797-71A33F010AFD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2908885" y="2041142"/>
                <a:ext cx="865852" cy="865852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3200" b="1" dirty="0">
                    <a:latin typeface="+mn-ea"/>
                  </a:rPr>
                  <a:t>02</a:t>
                </a:r>
                <a:endParaRPr lang="zh-CN" altLang="en-US" sz="3200" b="1" dirty="0">
                  <a:latin typeface="+mn-ea"/>
                </a:endParaRPr>
              </a:p>
            </p:txBody>
          </p:sp>
          <p:sp>
            <p:nvSpPr>
              <p:cNvPr id="28" name="Title-2">
                <a:extLst>
                  <a:ext uri="{FF2B5EF4-FFF2-40B4-BE49-F238E27FC236}">
                    <a16:creationId xmlns:a16="http://schemas.microsoft.com/office/drawing/2014/main" id="{E029CDB8-0E46-FE1D-3FF2-CCAAEB9E56CC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2641874" y="3103007"/>
                <a:ext cx="1399875" cy="34769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b="1" dirty="0">
                    <a:latin typeface="+mn-ea"/>
                  </a:rPr>
                  <a:t>series</a:t>
                </a:r>
                <a:r>
                  <a:rPr kumimoji="1" lang="zh-CN" altLang="en-US" sz="1600" b="1" dirty="0">
                    <a:latin typeface="+mn-ea"/>
                  </a:rPr>
                  <a:t>（系列）</a:t>
                </a:r>
              </a:p>
            </p:txBody>
          </p:sp>
          <p:sp>
            <p:nvSpPr>
              <p:cNvPr id="29" name="Body-2">
                <a:extLst>
                  <a:ext uri="{FF2B5EF4-FFF2-40B4-BE49-F238E27FC236}">
                    <a16:creationId xmlns:a16="http://schemas.microsoft.com/office/drawing/2014/main" id="{058BF79B-F24B-F06E-69C7-66D11A04529A}"/>
                  </a:ext>
                </a:extLst>
              </p:cNvPr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2584860" y="3695269"/>
                <a:ext cx="1513902" cy="265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负责特定类型数据的可视化表达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包含一组图元及其对应的图表逻辑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如折线图中的线条，柱状图中的柱子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736CCCFD-424F-69CE-8E3D-514A6EA86EB0}"/>
                </a:ext>
              </a:extLst>
            </p:cNvPr>
            <p:cNvGrpSpPr/>
            <p:nvPr/>
          </p:nvGrpSpPr>
          <p:grpSpPr>
            <a:xfrm>
              <a:off x="4416634" y="2041142"/>
              <a:ext cx="1513902" cy="3792789"/>
              <a:chOff x="4416634" y="2041142"/>
              <a:chExt cx="1513902" cy="3792789"/>
            </a:xfrm>
          </p:grpSpPr>
          <p:sp>
            <p:nvSpPr>
              <p:cNvPr id="23" name="Index-3">
                <a:extLst>
                  <a:ext uri="{FF2B5EF4-FFF2-40B4-BE49-F238E27FC236}">
                    <a16:creationId xmlns:a16="http://schemas.microsoft.com/office/drawing/2014/main" id="{E835D5D6-555E-2A08-1AE8-426C6403935A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4740658" y="2041142"/>
                <a:ext cx="865854" cy="865852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20000"/>
                      <a:lumOff val="80000"/>
                    </a:schemeClr>
                  </a:gs>
                  <a:gs pos="59000">
                    <a:schemeClr val="accent3"/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3200" b="1" dirty="0">
                    <a:latin typeface="+mn-ea"/>
                  </a:rPr>
                  <a:t>03</a:t>
                </a:r>
                <a:endParaRPr lang="zh-CN" altLang="en-US" sz="3200" b="1" dirty="0">
                  <a:latin typeface="+mn-ea"/>
                </a:endParaRPr>
              </a:p>
            </p:txBody>
          </p:sp>
          <p:sp>
            <p:nvSpPr>
              <p:cNvPr id="24" name="Title-3">
                <a:extLst>
                  <a:ext uri="{FF2B5EF4-FFF2-40B4-BE49-F238E27FC236}">
                    <a16:creationId xmlns:a16="http://schemas.microsoft.com/office/drawing/2014/main" id="{18403674-9248-F8DE-4C92-F5B4C9DF119C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4473647" y="3103007"/>
                <a:ext cx="1399875" cy="34769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+mn-ea"/>
                  </a:rPr>
                  <a:t>region</a:t>
                </a:r>
                <a:r>
                  <a:rPr kumimoji="1" lang="zh-CN" altLang="en-US" sz="1400" b="1" dirty="0">
                    <a:latin typeface="+mn-ea"/>
                  </a:rPr>
                  <a:t>（区域）</a:t>
                </a:r>
              </a:p>
            </p:txBody>
          </p:sp>
          <p:sp>
            <p:nvSpPr>
              <p:cNvPr id="25" name="Body-3">
                <a:extLst>
                  <a:ext uri="{FF2B5EF4-FFF2-40B4-BE49-F238E27FC236}">
                    <a16:creationId xmlns:a16="http://schemas.microsoft.com/office/drawing/2014/main" id="{46ED5101-946F-33E1-3A31-C6A10CDDB48D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416634" y="3695269"/>
                <a:ext cx="1513902" cy="2138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定义图表的空间区域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关联一组或多组</a:t>
                </a:r>
                <a:r>
                  <a:rPr lang="en-US" altLang="zh-CN" sz="1400" dirty="0">
                    <a:latin typeface="+mn-ea"/>
                  </a:rPr>
                  <a:t>series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帮助</a:t>
                </a:r>
                <a:r>
                  <a:rPr lang="en-US" altLang="zh-CN" sz="1400" dirty="0">
                    <a:latin typeface="+mn-ea"/>
                  </a:rPr>
                  <a:t>series</a:t>
                </a:r>
                <a:r>
                  <a:rPr lang="zh-CN" altLang="en-US" sz="1400" dirty="0">
                    <a:latin typeface="+mn-ea"/>
                  </a:rPr>
                  <a:t>进行空间定位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图表的最小组合单元</a:t>
                </a: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F0E3B67-84DF-30C1-DC5F-74867AA610AD}"/>
                </a:ext>
              </a:extLst>
            </p:cNvPr>
            <p:cNvGrpSpPr/>
            <p:nvPr/>
          </p:nvGrpSpPr>
          <p:grpSpPr>
            <a:xfrm>
              <a:off x="6248400" y="2041142"/>
              <a:ext cx="1513902" cy="4051322"/>
              <a:chOff x="6248400" y="2041142"/>
              <a:chExt cx="1513902" cy="4051322"/>
            </a:xfrm>
          </p:grpSpPr>
          <p:sp>
            <p:nvSpPr>
              <p:cNvPr id="19" name="Index-4">
                <a:extLst>
                  <a:ext uri="{FF2B5EF4-FFF2-40B4-BE49-F238E27FC236}">
                    <a16:creationId xmlns:a16="http://schemas.microsoft.com/office/drawing/2014/main" id="{587EDDD1-7718-1B27-9F06-E37495BDB86D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6572425" y="2041142"/>
                <a:ext cx="865852" cy="865852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3200" b="1">
                    <a:latin typeface="+mn-ea"/>
                  </a:rPr>
                  <a:t>04</a:t>
                </a:r>
                <a:endParaRPr lang="zh-CN" altLang="en-US" sz="3200" b="1">
                  <a:latin typeface="+mn-ea"/>
                </a:endParaRPr>
              </a:p>
            </p:txBody>
          </p:sp>
          <p:sp>
            <p:nvSpPr>
              <p:cNvPr id="20" name="Title-4">
                <a:extLst>
                  <a:ext uri="{FF2B5EF4-FFF2-40B4-BE49-F238E27FC236}">
                    <a16:creationId xmlns:a16="http://schemas.microsoft.com/office/drawing/2014/main" id="{F9FEB95C-52A9-6F6F-C3A4-4EB0D624E32C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6305414" y="3103007"/>
                <a:ext cx="1399875" cy="34769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+mn-ea"/>
                  </a:rPr>
                  <a:t>component</a:t>
                </a:r>
                <a:r>
                  <a:rPr kumimoji="1" lang="zh-CN" altLang="en-US" sz="1400" b="1" dirty="0">
                    <a:latin typeface="+mn-ea"/>
                  </a:rPr>
                  <a:t>（组件）</a:t>
                </a:r>
              </a:p>
            </p:txBody>
          </p:sp>
          <p:sp>
            <p:nvSpPr>
              <p:cNvPr id="21" name="Body-4">
                <a:extLst>
                  <a:ext uri="{FF2B5EF4-FFF2-40B4-BE49-F238E27FC236}">
                    <a16:creationId xmlns:a16="http://schemas.microsoft.com/office/drawing/2014/main" id="{CBA80787-902E-E1DF-AA78-E4536273ADB3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248400" y="3695269"/>
                <a:ext cx="1513902" cy="2397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帮助图表阅读和交互的元素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如图例、坐标轴、提示框等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提升图表易用性和直观性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C363A08-E6C5-FE3E-916C-E8908ABDBDB4}"/>
                </a:ext>
              </a:extLst>
            </p:cNvPr>
            <p:cNvGrpSpPr/>
            <p:nvPr/>
          </p:nvGrpSpPr>
          <p:grpSpPr>
            <a:xfrm>
              <a:off x="8080171" y="2041142"/>
              <a:ext cx="1513902" cy="3275725"/>
              <a:chOff x="8080171" y="2041142"/>
              <a:chExt cx="1513902" cy="3275725"/>
            </a:xfrm>
          </p:grpSpPr>
          <p:sp>
            <p:nvSpPr>
              <p:cNvPr id="15" name="Index-5">
                <a:extLst>
                  <a:ext uri="{FF2B5EF4-FFF2-40B4-BE49-F238E27FC236}">
                    <a16:creationId xmlns:a16="http://schemas.microsoft.com/office/drawing/2014/main" id="{D111C285-BEBC-11B8-6109-DF165989866C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8404195" y="2041142"/>
                <a:ext cx="865854" cy="865852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60000">
                    <a:schemeClr val="accent5"/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3200" b="1" dirty="0">
                    <a:latin typeface="+mn-ea"/>
                  </a:rPr>
                  <a:t>05</a:t>
                </a:r>
                <a:endParaRPr lang="zh-CN" altLang="en-US" sz="3200" b="1" dirty="0">
                  <a:latin typeface="+mn-ea"/>
                </a:endParaRPr>
              </a:p>
            </p:txBody>
          </p:sp>
          <p:sp>
            <p:nvSpPr>
              <p:cNvPr id="16" name="Title-5">
                <a:extLst>
                  <a:ext uri="{FF2B5EF4-FFF2-40B4-BE49-F238E27FC236}">
                    <a16:creationId xmlns:a16="http://schemas.microsoft.com/office/drawing/2014/main" id="{175B5F76-D057-F353-25E5-8D576F696B25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137184" y="3103007"/>
                <a:ext cx="1399875" cy="34769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+mn-ea"/>
                  </a:rPr>
                  <a:t>layout</a:t>
                </a:r>
                <a:r>
                  <a:rPr kumimoji="1" lang="zh-CN" altLang="en-US" sz="1400" b="1" dirty="0">
                    <a:latin typeface="+mn-ea"/>
                  </a:rPr>
                  <a:t>（布局）</a:t>
                </a:r>
              </a:p>
            </p:txBody>
          </p:sp>
          <p:sp>
            <p:nvSpPr>
              <p:cNvPr id="17" name="Body-5">
                <a:extLst>
                  <a:ext uri="{FF2B5EF4-FFF2-40B4-BE49-F238E27FC236}">
                    <a16:creationId xmlns:a16="http://schemas.microsoft.com/office/drawing/2014/main" id="{62F29BD7-22F9-11FE-B8F1-515D53D40E52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8080171" y="3695269"/>
                <a:ext cx="1513902" cy="1621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管理图表元素的空间分布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确定各个组件和区域的位置和大小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DE01D7C-5CA4-B3FA-9CB7-1F11F0925954}"/>
                </a:ext>
              </a:extLst>
            </p:cNvPr>
            <p:cNvGrpSpPr/>
            <p:nvPr/>
          </p:nvGrpSpPr>
          <p:grpSpPr>
            <a:xfrm>
              <a:off x="9911937" y="2041142"/>
              <a:ext cx="1513902" cy="3534257"/>
              <a:chOff x="9911937" y="2041142"/>
              <a:chExt cx="1513902" cy="3534257"/>
            </a:xfrm>
          </p:grpSpPr>
          <p:sp>
            <p:nvSpPr>
              <p:cNvPr id="11" name="Index-6">
                <a:extLst>
                  <a:ext uri="{FF2B5EF4-FFF2-40B4-BE49-F238E27FC236}">
                    <a16:creationId xmlns:a16="http://schemas.microsoft.com/office/drawing/2014/main" id="{A9925E45-3AB3-ABEA-87EE-AD6DE49E284A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10235961" y="2041142"/>
                <a:ext cx="865854" cy="865852"/>
              </a:xfrm>
              <a:prstGeom prst="ellipse">
                <a:avLst/>
              </a:prstGeom>
              <a:gradFill>
                <a:gsLst>
                  <a:gs pos="0">
                    <a:schemeClr val="accent6">
                      <a:lumMod val="20000"/>
                      <a:lumOff val="80000"/>
                    </a:schemeClr>
                  </a:gs>
                  <a:gs pos="59000">
                    <a:schemeClr val="accent6"/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3200" b="1" dirty="0">
                    <a:latin typeface="+mn-ea"/>
                  </a:rPr>
                  <a:t>06</a:t>
                </a:r>
                <a:endParaRPr lang="zh-CN" altLang="en-US" sz="3200" b="1" dirty="0">
                  <a:latin typeface="+mn-ea"/>
                </a:endParaRPr>
              </a:p>
            </p:txBody>
          </p:sp>
          <p:sp>
            <p:nvSpPr>
              <p:cNvPr id="12" name="Title-6">
                <a:extLst>
                  <a:ext uri="{FF2B5EF4-FFF2-40B4-BE49-F238E27FC236}">
                    <a16:creationId xmlns:a16="http://schemas.microsoft.com/office/drawing/2014/main" id="{100412F0-5FE7-883C-D6EB-7039CE4C8A71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9968950" y="3103007"/>
                <a:ext cx="1399875" cy="34769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b="1" dirty="0">
                    <a:latin typeface="+mn-ea"/>
                  </a:rPr>
                  <a:t>chart</a:t>
                </a:r>
                <a:r>
                  <a:rPr kumimoji="1" lang="zh-CN" altLang="en-US" sz="1600" b="1" dirty="0">
                    <a:latin typeface="+mn-ea"/>
                  </a:rPr>
                  <a:t>（图表）</a:t>
                </a:r>
              </a:p>
            </p:txBody>
          </p:sp>
          <p:sp>
            <p:nvSpPr>
              <p:cNvPr id="13" name="Body-6">
                <a:extLst>
                  <a:ext uri="{FF2B5EF4-FFF2-40B4-BE49-F238E27FC236}">
                    <a16:creationId xmlns:a16="http://schemas.microsoft.com/office/drawing/2014/main" id="{58069DA8-493F-1C8B-E05F-B864B947E7C5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911937" y="3695269"/>
                <a:ext cx="1513902" cy="1880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抽象概念，整个图表的管理者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整合、管理数据、图元、组件、布局等元素</a:t>
                </a:r>
                <a:endParaRPr kumimoji="0" lang="zh-CN" altLang="en-US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6012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9030-7900-9964-1CB2-29DE8FB29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5EABD-B20D-C3B1-04D3-2E0A8FD8A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图表定义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599A13C-A050-77C7-A678-D1BE6ED82EF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dirty="0">
                <a:latin typeface="+mn-ea"/>
              </a:rPr>
              <a:t>逻辑层：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en-US" altLang="zh-CN" dirty="0"/>
              <a:t>1</a:t>
            </a:r>
            <a:r>
              <a:rPr lang="zh-CN" altLang="en-US" dirty="0"/>
              <a:t>、从数据和业务的角度去设计图表，比如你要画什么类型的图、展示哪些数据、怎么组织这些数据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en-US" altLang="zh-CN" dirty="0"/>
              <a:t>2</a:t>
            </a:r>
            <a:r>
              <a:rPr lang="zh-CN" altLang="en-US" dirty="0"/>
              <a:t>、简单图表 和 组合图表。</a:t>
            </a:r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1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dirty="0">
                <a:latin typeface="+mn-ea"/>
              </a:rPr>
              <a:t>视图层：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dirty="0"/>
              <a:t>从视觉呈现的角度出发，关心的是数据怎么变成我们看到的图形。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dirty="0"/>
              <a:t>这样的分层设计，让</a:t>
            </a:r>
            <a:r>
              <a:rPr lang="en-US" altLang="zh-CN" dirty="0" err="1"/>
              <a:t>VChart</a:t>
            </a:r>
            <a:r>
              <a:rPr lang="zh-CN" altLang="en-US" dirty="0"/>
              <a:t>既能灵活处理各种数据，又能做出丰富多样的图表样式。</a:t>
            </a:r>
          </a:p>
          <a:p>
            <a:pPr lvl="1">
              <a:lnSpc>
                <a:spcPct val="150000"/>
              </a:lnSpc>
            </a:pPr>
            <a:endParaRPr lang="zh-CN" altLang="en-US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6633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9C299-9919-1E9A-2BAA-3807CD8C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9645A-FAAF-5578-B1B7-DFF84623F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逻辑层图表元素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简单图表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2E3126A-6FEF-0D92-4C46-F42954D0FF10}"/>
              </a:ext>
            </a:extLst>
          </p:cNvPr>
          <p:cNvSpPr txBox="1">
            <a:spLocks/>
          </p:cNvSpPr>
          <p:nvPr/>
        </p:nvSpPr>
        <p:spPr>
          <a:xfrm>
            <a:off x="214745" y="125333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dirty="0">
                <a:latin typeface="+mn-ea"/>
              </a:rPr>
              <a:t>简单图表：</a:t>
            </a:r>
            <a:endParaRPr lang="en-US" altLang="zh-CN" sz="1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200" dirty="0">
                <a:latin typeface="+mn-ea"/>
              </a:rPr>
              <a:t>只包含单一图表类型的可视化、如纯粹的柱状图、折线图、饼图等</a:t>
            </a:r>
            <a:endParaRPr lang="en-US" altLang="zh-CN" sz="12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200" dirty="0"/>
              <a:t>以一个常见的折线图为例，其组成如下</a:t>
            </a:r>
            <a:r>
              <a:rPr lang="en-US" altLang="zh-CN" sz="1200" dirty="0"/>
              <a:t>:</a:t>
            </a:r>
            <a:endParaRPr lang="zh-CN" altLang="en-US" sz="12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745FB6-49A3-ABDF-21A5-CA3C8B3A3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62" y="2455866"/>
            <a:ext cx="9629965" cy="453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56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D317-E21F-128D-E15A-7A321E1A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785BA-E9D3-190A-037F-F75044D7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逻辑层图表元素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组合图表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0D448D8-E89C-3A3B-E4B8-1698F972382E}"/>
              </a:ext>
            </a:extLst>
          </p:cNvPr>
          <p:cNvSpPr txBox="1">
            <a:spLocks/>
          </p:cNvSpPr>
          <p:nvPr/>
        </p:nvSpPr>
        <p:spPr>
          <a:xfrm>
            <a:off x="913605" y="1253330"/>
            <a:ext cx="10363200" cy="5263847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70000"/>
              </a:lnSpc>
              <a:buNone/>
            </a:pPr>
            <a:r>
              <a:rPr lang="zh-CN" altLang="en-US" dirty="0">
                <a:latin typeface="+mn-ea"/>
              </a:rPr>
              <a:t>组合图表</a:t>
            </a:r>
            <a:r>
              <a:rPr lang="en-US" altLang="zh-CN" dirty="0">
                <a:latin typeface="+mn-ea"/>
              </a:rPr>
              <a:t>:</a:t>
            </a:r>
            <a:endParaRPr lang="zh-CN" altLang="en-US" dirty="0">
              <a:latin typeface="+mn-ea"/>
            </a:endParaRPr>
          </a:p>
          <a:p>
            <a:pPr marL="800077" lvl="1" indent="-3429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同一图表容器中包含多种图表类型</a:t>
            </a:r>
          </a:p>
          <a:p>
            <a:pPr marL="800077" lvl="1" indent="-3429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如柱状图与折线图的组合</a:t>
            </a:r>
          </a:p>
          <a:p>
            <a:pPr marL="457177" lvl="1" indent="0">
              <a:lnSpc>
                <a:spcPct val="170000"/>
              </a:lnSpc>
              <a:buNone/>
            </a:pPr>
            <a:endParaRPr lang="en-US" altLang="zh-CN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dirty="0">
                <a:latin typeface="+mn-ea"/>
              </a:rPr>
              <a:t>特点：</a:t>
            </a:r>
          </a:p>
          <a:p>
            <a:pPr marL="800077" lvl="1" indent="-3429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配置相对复杂</a:t>
            </a:r>
          </a:p>
          <a:p>
            <a:pPr marL="800077" lvl="1" indent="-3429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需要考虑不同图表类型间的协调和布局</a:t>
            </a:r>
          </a:p>
          <a:p>
            <a:pPr marL="800077" lvl="1" indent="-3429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提供更大的可视化灵活性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6324FF-4D28-91DB-B657-74B2D30BD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205" y="1112549"/>
            <a:ext cx="5108761" cy="554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89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4D113-3511-A0AD-A4A1-B5F3A8887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03B9A-49C7-D7B0-C79D-86FB99185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视图层图元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mark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（一）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1071DBD-ADD5-C04B-0E62-7917F8CB5414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699995" y="1262290"/>
            <a:ext cx="8792011" cy="4528910"/>
            <a:chOff x="281157" y="567736"/>
            <a:chExt cx="11452225" cy="5899229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DE9519B-BCF5-C75A-B01E-999AB88D5B68}"/>
                </a:ext>
              </a:extLst>
            </p:cNvPr>
            <p:cNvGrpSpPr/>
            <p:nvPr/>
          </p:nvGrpSpPr>
          <p:grpSpPr>
            <a:xfrm>
              <a:off x="4369487" y="567736"/>
              <a:ext cx="3623455" cy="4462392"/>
              <a:chOff x="4429279" y="1090581"/>
              <a:chExt cx="3623455" cy="4462392"/>
            </a:xfrm>
          </p:grpSpPr>
          <p:sp>
            <p:nvSpPr>
              <p:cNvPr id="53" name="2">
                <a:extLst>
                  <a:ext uri="{FF2B5EF4-FFF2-40B4-BE49-F238E27FC236}">
                    <a16:creationId xmlns:a16="http://schemas.microsoft.com/office/drawing/2014/main" id="{8D0F9C1C-4CAD-2A63-CF30-228A6370B94F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 rot="20161926">
                <a:off x="4503343" y="2366948"/>
                <a:ext cx="3185315" cy="3186025"/>
              </a:xfrm>
              <a:prstGeom prst="arc">
                <a:avLst>
                  <a:gd name="adj1" fmla="val 19075352"/>
                  <a:gd name="adj2" fmla="val 30935"/>
                </a:avLst>
              </a:prstGeom>
              <a:ln>
                <a:solidFill>
                  <a:schemeClr val="tx1">
                    <a:lumMod val="65000"/>
                    <a:lumOff val="35000"/>
                    <a:alpha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B88163A3-761A-0FED-E42E-B33556DB8BB7}"/>
                  </a:ext>
                </a:extLst>
              </p:cNvPr>
              <p:cNvGrpSpPr/>
              <p:nvPr/>
            </p:nvGrpSpPr>
            <p:grpSpPr>
              <a:xfrm>
                <a:off x="4429279" y="1090581"/>
                <a:ext cx="3623455" cy="1711793"/>
                <a:chOff x="4378550" y="638640"/>
                <a:chExt cx="3623455" cy="1711793"/>
              </a:xfrm>
            </p:grpSpPr>
            <p:sp>
              <p:nvSpPr>
                <p:cNvPr id="55" name="Index-2">
                  <a:extLst>
                    <a:ext uri="{FF2B5EF4-FFF2-40B4-BE49-F238E27FC236}">
                      <a16:creationId xmlns:a16="http://schemas.microsoft.com/office/drawing/2014/main" id="{F2049B52-CA96-A59D-93F2-8E0C2C0C633C}"/>
                    </a:ext>
                  </a:extLst>
                </p:cNvPr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5632616" y="1525124"/>
                  <a:ext cx="825309" cy="825309"/>
                </a:xfrm>
                <a:custGeom>
                  <a:avLst/>
                  <a:gdLst>
                    <a:gd name="connsiteX0" fmla="*/ 0 w 997608"/>
                    <a:gd name="connsiteY0" fmla="*/ 498804 h 997608"/>
                    <a:gd name="connsiteX1" fmla="*/ 498804 w 997608"/>
                    <a:gd name="connsiteY1" fmla="*/ 0 h 997608"/>
                    <a:gd name="connsiteX2" fmla="*/ 997608 w 997608"/>
                    <a:gd name="connsiteY2" fmla="*/ 498804 h 997608"/>
                    <a:gd name="connsiteX3" fmla="*/ 498804 w 997608"/>
                    <a:gd name="connsiteY3" fmla="*/ 997608 h 997608"/>
                    <a:gd name="connsiteX4" fmla="*/ 0 w 997608"/>
                    <a:gd name="connsiteY4" fmla="*/ 498804 h 997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7608" h="997608">
                      <a:moveTo>
                        <a:pt x="0" y="498804"/>
                      </a:moveTo>
                      <a:cubicBezTo>
                        <a:pt x="0" y="223322"/>
                        <a:pt x="223322" y="0"/>
                        <a:pt x="498804" y="0"/>
                      </a:cubicBezTo>
                      <a:cubicBezTo>
                        <a:pt x="774286" y="0"/>
                        <a:pt x="997608" y="223322"/>
                        <a:pt x="997608" y="498804"/>
                      </a:cubicBezTo>
                      <a:cubicBezTo>
                        <a:pt x="997608" y="774286"/>
                        <a:pt x="774286" y="997608"/>
                        <a:pt x="498804" y="997608"/>
                      </a:cubicBezTo>
                      <a:cubicBezTo>
                        <a:pt x="223322" y="997608"/>
                        <a:pt x="0" y="774286"/>
                        <a:pt x="0" y="4988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0800" dist="38100" dir="8100000" algn="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numCol="1" spcCol="0" rtlCol="0" fromWordArt="0" anchor="ctr" anchorCtr="0" forceAA="0" compatLnSpc="1"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914400"/>
                  <a:r>
                    <a:rPr lang="en-US" altLang="zh-CN" b="1" dirty="0">
                      <a:solidFill>
                        <a:schemeClr val="bg1"/>
                      </a:solidFill>
                      <a:latin typeface="+mn-ea"/>
                    </a:rPr>
                    <a:t>2</a:t>
                  </a:r>
                  <a:endParaRPr lang="zh-CN" altLang="en-US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56" name="Body-2">
                  <a:extLst>
                    <a:ext uri="{FF2B5EF4-FFF2-40B4-BE49-F238E27FC236}">
                      <a16:creationId xmlns:a16="http://schemas.microsoft.com/office/drawing/2014/main" id="{BD82BAFD-926F-05F5-94AE-D9141BBA9BA5}"/>
                    </a:ext>
                  </a:extLst>
                </p:cNvPr>
                <p:cNvSpPr>
                  <a:spLocks/>
                </p:cNvSpPr>
                <p:nvPr>
                  <p:custDataLst>
                    <p:tags r:id="rId18"/>
                  </p:custDataLst>
                </p:nvPr>
              </p:nvSpPr>
              <p:spPr>
                <a:xfrm>
                  <a:off x="4378550" y="638640"/>
                  <a:ext cx="3623455" cy="51230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ctr" defTabSz="913765">
                    <a:lnSpc>
                      <a:spcPct val="120000"/>
                    </a:lnSpc>
                    <a:buSzPct val="100000"/>
                    <a:defRPr/>
                  </a:pPr>
                  <a:r>
                    <a:rPr lang="zh-CN" altLang="en-US" sz="1400" dirty="0">
                      <a:solidFill>
                        <a:schemeClr val="tx1"/>
                      </a:solidFill>
                      <a:latin typeface="+mn-ea"/>
                    </a:rPr>
                    <a:t>展示数据变化趋势</a:t>
                  </a:r>
                  <a:endParaRPr kumimoji="0" lang="en-GB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7" name="Title-2">
                  <a:extLst>
                    <a:ext uri="{FF2B5EF4-FFF2-40B4-BE49-F238E27FC236}">
                      <a16:creationId xmlns:a16="http://schemas.microsoft.com/office/drawing/2014/main" id="{F4AB9F07-7A83-8AE2-FF67-8766EFA536B9}"/>
                    </a:ext>
                  </a:extLst>
                </p:cNvPr>
                <p:cNvSpPr>
                  <a:spLocks/>
                </p:cNvSpPr>
                <p:nvPr>
                  <p:custDataLst>
                    <p:tags r:id="rId19"/>
                  </p:custDataLst>
                </p:nvPr>
              </p:nvSpPr>
              <p:spPr>
                <a:xfrm>
                  <a:off x="4848485" y="1199880"/>
                  <a:ext cx="2520000" cy="2332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ctr">
                    <a:lnSpc>
                      <a:spcPct val="120000"/>
                    </a:lnSpc>
                    <a:defRPr/>
                  </a:pPr>
                  <a:r>
                    <a:rPr lang="zh-CN" altLang="en-US" b="1" dirty="0">
                      <a:solidFill>
                        <a:schemeClr val="tx1"/>
                      </a:solidFill>
                      <a:latin typeface="+mn-ea"/>
                      <a:sym typeface="Arial" panose="020B0604020202020204" pitchFamily="34" charset="0"/>
                    </a:rPr>
                    <a:t> 线（</a:t>
                  </a:r>
                  <a:r>
                    <a:rPr lang="en-US" altLang="zh-CN" b="1" dirty="0">
                      <a:solidFill>
                        <a:schemeClr val="tx1"/>
                      </a:solidFill>
                      <a:latin typeface="+mn-ea"/>
                      <a:sym typeface="Arial" panose="020B0604020202020204" pitchFamily="34" charset="0"/>
                    </a:rPr>
                    <a:t>line</a:t>
                  </a:r>
                  <a:r>
                    <a:rPr lang="zh-CN" altLang="en-US" b="1" dirty="0">
                      <a:solidFill>
                        <a:schemeClr val="tx1"/>
                      </a:solidFill>
                      <a:latin typeface="+mn-ea"/>
                      <a:sym typeface="Arial" panose="020B0604020202020204" pitchFamily="34" charset="0"/>
                    </a:rPr>
                    <a:t>）</a:t>
                  </a:r>
                  <a:endPara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cs typeface="+mn-cs"/>
                    <a:sym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3" name="4">
              <a:extLst>
                <a:ext uri="{FF2B5EF4-FFF2-40B4-BE49-F238E27FC236}">
                  <a16:creationId xmlns:a16="http://schemas.microsoft.com/office/drawing/2014/main" id="{157D65F5-1DAC-5CDA-D809-925B752F3E4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20161926">
              <a:off x="4443551" y="1844103"/>
              <a:ext cx="3185315" cy="3186025"/>
            </a:xfrm>
            <a:prstGeom prst="arc">
              <a:avLst>
                <a:gd name="adj1" fmla="val 8123643"/>
                <a:gd name="adj2" fmla="val 10625513"/>
              </a:avLst>
            </a:prstGeom>
            <a:ln>
              <a:solidFill>
                <a:schemeClr val="tx1">
                  <a:lumMod val="65000"/>
                  <a:lumOff val="35000"/>
                  <a:alpha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34" name="Index-4">
              <a:extLst>
                <a:ext uri="{FF2B5EF4-FFF2-40B4-BE49-F238E27FC236}">
                  <a16:creationId xmlns:a16="http://schemas.microsoft.com/office/drawing/2014/main" id="{27D4328B-69DD-094F-4924-ECE675C5B96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623554" y="4720389"/>
              <a:ext cx="825309" cy="825309"/>
            </a:xfrm>
            <a:prstGeom prst="ellipse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4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sz="2000" b="1" dirty="0">
                  <a:solidFill>
                    <a:schemeClr val="bg1"/>
                  </a:solidFill>
                  <a:latin typeface="+mn-ea"/>
                </a:rPr>
                <a:t>4</a:t>
              </a:r>
              <a:endParaRPr sz="2000" b="1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5AED0F7-12DC-01BF-168B-6E7D0C7AD68B}"/>
                </a:ext>
              </a:extLst>
            </p:cNvPr>
            <p:cNvGrpSpPr/>
            <p:nvPr/>
          </p:nvGrpSpPr>
          <p:grpSpPr>
            <a:xfrm>
              <a:off x="4287696" y="5707150"/>
              <a:ext cx="3623454" cy="759815"/>
              <a:chOff x="7350828" y="5079782"/>
              <a:chExt cx="3623454" cy="759815"/>
            </a:xfrm>
          </p:grpSpPr>
          <p:sp>
            <p:nvSpPr>
              <p:cNvPr id="51" name="Body-4">
                <a:extLst>
                  <a:ext uri="{FF2B5EF4-FFF2-40B4-BE49-F238E27FC236}">
                    <a16:creationId xmlns:a16="http://schemas.microsoft.com/office/drawing/2014/main" id="{0ED23785-0C7C-E3D3-54BE-CFED5971E251}"/>
                  </a:ext>
                </a:extLst>
              </p:cNvPr>
              <p:cNvSpPr>
                <a:spLocks/>
              </p:cNvSpPr>
              <p:nvPr>
                <p:custDataLst>
                  <p:tags r:id="rId14"/>
                </p:custDataLst>
              </p:nvPr>
            </p:nvSpPr>
            <p:spPr>
              <a:xfrm>
                <a:off x="7350828" y="5379878"/>
                <a:ext cx="3623454" cy="459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 defTabSz="913765">
                  <a:lnSpc>
                    <a:spcPct val="12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比较不同类别数据</a:t>
                </a:r>
                <a:endParaRPr kumimoji="0" lang="en-GB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2" name="Title-4">
                <a:extLst>
                  <a:ext uri="{FF2B5EF4-FFF2-40B4-BE49-F238E27FC236}">
                    <a16:creationId xmlns:a16="http://schemas.microsoft.com/office/drawing/2014/main" id="{DBAB9660-1056-AEA0-AB2B-DCDA12170C48}"/>
                  </a:ext>
                </a:extLst>
              </p:cNvPr>
              <p:cNvSpPr>
                <a:spLocks/>
              </p:cNvSpPr>
              <p:nvPr>
                <p:custDataLst>
                  <p:tags r:id="rId15"/>
                </p:custDataLst>
              </p:nvPr>
            </p:nvSpPr>
            <p:spPr>
              <a:xfrm>
                <a:off x="7839341" y="5079782"/>
                <a:ext cx="2520000" cy="233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20000"/>
                  </a:lnSpc>
                  <a:defRPr/>
                </a:pPr>
                <a:r>
                  <a:rPr lang="zh-CN" altLang="en-US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矩形（</a:t>
                </a:r>
                <a:r>
                  <a:rPr lang="en-US" altLang="zh-CN" b="1" dirty="0" err="1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rect</a:t>
                </a:r>
                <a:r>
                  <a:rPr lang="zh-CN" altLang="en-US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）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6" name="3">
              <a:extLst>
                <a:ext uri="{FF2B5EF4-FFF2-40B4-BE49-F238E27FC236}">
                  <a16:creationId xmlns:a16="http://schemas.microsoft.com/office/drawing/2014/main" id="{0F21437F-CA86-A4E4-F3AE-8591AE4C980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20161926">
              <a:off x="4443551" y="1844103"/>
              <a:ext cx="3185315" cy="3186025"/>
            </a:xfrm>
            <a:prstGeom prst="arc">
              <a:avLst>
                <a:gd name="adj1" fmla="val 2904073"/>
                <a:gd name="adj2" fmla="val 5457257"/>
              </a:avLst>
            </a:prstGeom>
            <a:ln>
              <a:solidFill>
                <a:schemeClr val="tx1">
                  <a:lumMod val="65000"/>
                  <a:lumOff val="35000"/>
                  <a:alpha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F737D21B-0B19-A490-88FF-B36C0BD0AD76}"/>
                </a:ext>
              </a:extLst>
            </p:cNvPr>
            <p:cNvGrpSpPr/>
            <p:nvPr/>
          </p:nvGrpSpPr>
          <p:grpSpPr>
            <a:xfrm>
              <a:off x="7216294" y="3011954"/>
              <a:ext cx="4517088" cy="1081398"/>
              <a:chOff x="7040871" y="2310113"/>
              <a:chExt cx="4517088" cy="1081398"/>
            </a:xfrm>
          </p:grpSpPr>
          <p:sp>
            <p:nvSpPr>
              <p:cNvPr id="48" name="Body-3">
                <a:extLst>
                  <a:ext uri="{FF2B5EF4-FFF2-40B4-BE49-F238E27FC236}">
                    <a16:creationId xmlns:a16="http://schemas.microsoft.com/office/drawing/2014/main" id="{88544506-1F9E-2B8E-3308-FDD3C495C997}"/>
                  </a:ext>
                </a:extLst>
              </p:cNvPr>
              <p:cNvSpPr>
                <a:spLocks/>
              </p:cNvSpPr>
              <p:nvPr>
                <p:custDataLst>
                  <p:tags r:id="rId11"/>
                </p:custDataLst>
              </p:nvPr>
            </p:nvSpPr>
            <p:spPr>
              <a:xfrm>
                <a:off x="7934504" y="2602572"/>
                <a:ext cx="3623455" cy="788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defTabSz="913765">
                  <a:lnSpc>
                    <a:spcPct val="12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强调数据范围</a:t>
                </a:r>
                <a:endParaRPr kumimoji="0" lang="en-GB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49" name="Index-3">
                <a:extLst>
                  <a:ext uri="{FF2B5EF4-FFF2-40B4-BE49-F238E27FC236}">
                    <a16:creationId xmlns:a16="http://schemas.microsoft.com/office/drawing/2014/main" id="{BE79CE76-0A73-162F-00CD-B2C9C4C7FE9D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7040871" y="2310113"/>
                <a:ext cx="825309" cy="825309"/>
              </a:xfrm>
              <a:prstGeom prst="ellipse">
                <a:avLst/>
              </a:prstGeom>
              <a:solidFill>
                <a:schemeClr val="accent3"/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r>
                  <a:rPr lang="en-US" sz="2000" b="1" dirty="0">
                    <a:solidFill>
                      <a:schemeClr val="bg1"/>
                    </a:solidFill>
                    <a:latin typeface="+mn-ea"/>
                  </a:rPr>
                  <a:t>3</a:t>
                </a:r>
                <a:endParaRPr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itle-3">
                <a:extLst>
                  <a:ext uri="{FF2B5EF4-FFF2-40B4-BE49-F238E27FC236}">
                    <a16:creationId xmlns:a16="http://schemas.microsoft.com/office/drawing/2014/main" id="{A3154106-24A5-10DB-107E-FB2435D8A428}"/>
                  </a:ext>
                </a:extLst>
              </p:cNvPr>
              <p:cNvSpPr>
                <a:spLocks/>
              </p:cNvSpPr>
              <p:nvPr>
                <p:custDataLst>
                  <p:tags r:id="rId13"/>
                </p:custDataLst>
              </p:nvPr>
            </p:nvSpPr>
            <p:spPr>
              <a:xfrm>
                <a:off x="7963235" y="2310114"/>
                <a:ext cx="2519999" cy="2363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20000"/>
                  </a:lnSpc>
                  <a:defRPr/>
                </a:pPr>
                <a:r>
                  <a:rPr lang="zh-CN" altLang="en-US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面（</a:t>
                </a:r>
                <a:r>
                  <a:rPr lang="en-US" altLang="zh-CN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area</a:t>
                </a:r>
                <a:r>
                  <a:rPr lang="zh-CN" altLang="en-US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）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8" name="1">
              <a:extLst>
                <a:ext uri="{FF2B5EF4-FFF2-40B4-BE49-F238E27FC236}">
                  <a16:creationId xmlns:a16="http://schemas.microsoft.com/office/drawing/2014/main" id="{E97A2EBF-6993-E021-AB55-8A82DEC1D9E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20161926">
              <a:off x="4443551" y="1844103"/>
              <a:ext cx="3185315" cy="3186025"/>
            </a:xfrm>
            <a:prstGeom prst="arc">
              <a:avLst>
                <a:gd name="adj1" fmla="val 13805634"/>
                <a:gd name="adj2" fmla="val 16409068"/>
              </a:avLst>
            </a:prstGeom>
            <a:ln>
              <a:solidFill>
                <a:schemeClr val="tx1">
                  <a:lumMod val="65000"/>
                  <a:lumOff val="35000"/>
                  <a:alpha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A82CDDEA-84E2-2E4B-5E97-32FC114FE4A3}"/>
                </a:ext>
              </a:extLst>
            </p:cNvPr>
            <p:cNvGrpSpPr/>
            <p:nvPr/>
          </p:nvGrpSpPr>
          <p:grpSpPr>
            <a:xfrm>
              <a:off x="281157" y="2960117"/>
              <a:ext cx="4591571" cy="1079031"/>
              <a:chOff x="576163" y="2306167"/>
              <a:chExt cx="4591571" cy="1079031"/>
            </a:xfrm>
          </p:grpSpPr>
          <p:sp>
            <p:nvSpPr>
              <p:cNvPr id="45" name="Index-1">
                <a:extLst>
                  <a:ext uri="{FF2B5EF4-FFF2-40B4-BE49-F238E27FC236}">
                    <a16:creationId xmlns:a16="http://schemas.microsoft.com/office/drawing/2014/main" id="{7C7011B2-D3CC-7B9D-EF23-DD4808958DDC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4342424" y="2306167"/>
                <a:ext cx="825310" cy="825310"/>
              </a:xfrm>
              <a:custGeom>
                <a:avLst/>
                <a:gdLst>
                  <a:gd name="connsiteX0" fmla="*/ 0 w 997608"/>
                  <a:gd name="connsiteY0" fmla="*/ 498804 h 997608"/>
                  <a:gd name="connsiteX1" fmla="*/ 498804 w 997608"/>
                  <a:gd name="connsiteY1" fmla="*/ 0 h 997608"/>
                  <a:gd name="connsiteX2" fmla="*/ 997608 w 997608"/>
                  <a:gd name="connsiteY2" fmla="*/ 498804 h 997608"/>
                  <a:gd name="connsiteX3" fmla="*/ 498804 w 997608"/>
                  <a:gd name="connsiteY3" fmla="*/ 997608 h 997608"/>
                  <a:gd name="connsiteX4" fmla="*/ 0 w 997608"/>
                  <a:gd name="connsiteY4" fmla="*/ 498804 h 997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608" h="997608">
                    <a:moveTo>
                      <a:pt x="0" y="498804"/>
                    </a:moveTo>
                    <a:cubicBezTo>
                      <a:pt x="0" y="223322"/>
                      <a:pt x="223322" y="0"/>
                      <a:pt x="498804" y="0"/>
                    </a:cubicBezTo>
                    <a:cubicBezTo>
                      <a:pt x="774286" y="0"/>
                      <a:pt x="997608" y="223322"/>
                      <a:pt x="997608" y="498804"/>
                    </a:cubicBezTo>
                    <a:cubicBezTo>
                      <a:pt x="997608" y="774286"/>
                      <a:pt x="774286" y="997608"/>
                      <a:pt x="498804" y="997608"/>
                    </a:cubicBezTo>
                    <a:cubicBezTo>
                      <a:pt x="223322" y="997608"/>
                      <a:pt x="0" y="774286"/>
                      <a:pt x="0" y="4988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0800" dist="38100" dir="8100000" algn="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r>
                  <a:rPr lang="en-US" altLang="zh-CN" b="1" dirty="0">
                    <a:solidFill>
                      <a:schemeClr val="bg1"/>
                    </a:solidFill>
                    <a:latin typeface="+mn-ea"/>
                  </a:rPr>
                  <a:t>1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46" name="Body-1">
                <a:extLst>
                  <a:ext uri="{FF2B5EF4-FFF2-40B4-BE49-F238E27FC236}">
                    <a16:creationId xmlns:a16="http://schemas.microsoft.com/office/drawing/2014/main" id="{1FB4FFD6-73C6-BA7C-2B69-38C563EB29E4}"/>
                  </a:ext>
                </a:extLst>
              </p:cNvPr>
              <p:cNvSpPr>
                <a:spLocks/>
              </p:cNvSpPr>
              <p:nvPr>
                <p:custDataLst>
                  <p:tags r:id="rId9"/>
                </p:custDataLst>
              </p:nvPr>
            </p:nvSpPr>
            <p:spPr>
              <a:xfrm>
                <a:off x="576163" y="2598233"/>
                <a:ext cx="3623456" cy="7869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r" defTabSz="913765">
                  <a:lnSpc>
                    <a:spcPct val="12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展示离散数据分布</a:t>
                </a:r>
                <a:endParaRPr kumimoji="0" lang="en-GB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47" name="Title-1">
                <a:extLst>
                  <a:ext uri="{FF2B5EF4-FFF2-40B4-BE49-F238E27FC236}">
                    <a16:creationId xmlns:a16="http://schemas.microsoft.com/office/drawing/2014/main" id="{8224D0BF-2E46-0309-3F0A-926C3027A3FB}"/>
                  </a:ext>
                </a:extLst>
              </p:cNvPr>
              <p:cNvSpPr>
                <a:spLocks/>
              </p:cNvSpPr>
              <p:nvPr>
                <p:custDataLst>
                  <p:tags r:id="rId10"/>
                </p:custDataLst>
              </p:nvPr>
            </p:nvSpPr>
            <p:spPr>
              <a:xfrm>
                <a:off x="1704641" y="2363296"/>
                <a:ext cx="2520001" cy="2349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algn="r">
                  <a:defRPr/>
                </a:pPr>
                <a:r>
                  <a:rPr lang="zh-CN" altLang="en-US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点（</a:t>
                </a:r>
                <a:r>
                  <a:rPr lang="en-US" altLang="zh-CN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point</a:t>
                </a:r>
                <a:r>
                  <a:rPr lang="zh-CN" altLang="en-US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）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82955BC-53B8-E364-74BA-61E183912D9C}"/>
                </a:ext>
              </a:extLst>
            </p:cNvPr>
            <p:cNvGrpSpPr/>
            <p:nvPr/>
          </p:nvGrpSpPr>
          <p:grpSpPr>
            <a:xfrm>
              <a:off x="5261827" y="2662733"/>
              <a:ext cx="1548766" cy="1548765"/>
              <a:chOff x="5490810" y="2655570"/>
              <a:chExt cx="1548765" cy="1548765"/>
            </a:xfrm>
          </p:grpSpPr>
          <p:sp>
            <p:nvSpPr>
              <p:cNvPr id="43" name="1">
                <a:extLst>
                  <a:ext uri="{FF2B5EF4-FFF2-40B4-BE49-F238E27FC236}">
                    <a16:creationId xmlns:a16="http://schemas.microsoft.com/office/drawing/2014/main" id="{CB3A290F-7F61-FB06-681C-07A6A140F0BC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5490810" y="2655570"/>
                <a:ext cx="1548765" cy="1548765"/>
              </a:xfrm>
              <a:prstGeom prst="ellipse">
                <a:avLst/>
              </a:prstGeom>
              <a:noFill/>
              <a:ln w="6350">
                <a:solidFill>
                  <a:schemeClr val="tx1">
                    <a:lumMod val="65000"/>
                    <a:lumOff val="35000"/>
                    <a:alpha val="2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endParaRPr lang="zh-CN" altLang="en-US">
                  <a:latin typeface="+mn-ea"/>
                  <a:sym typeface="+mn-ea"/>
                </a:endParaRPr>
              </a:p>
            </p:txBody>
          </p:sp>
          <p:sp>
            <p:nvSpPr>
              <p:cNvPr id="44" name="1">
                <a:extLst>
                  <a:ext uri="{FF2B5EF4-FFF2-40B4-BE49-F238E27FC236}">
                    <a16:creationId xmlns:a16="http://schemas.microsoft.com/office/drawing/2014/main" id="{EB40B49F-C61F-A754-98B1-403191602B6A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5635192" y="2799952"/>
                <a:ext cx="1312992" cy="1260001"/>
              </a:xfrm>
              <a:custGeom>
                <a:avLst/>
                <a:gdLst>
                  <a:gd name="connsiteX0" fmla="*/ 0 w 1536103"/>
                  <a:gd name="connsiteY0" fmla="*/ 768052 h 1536103"/>
                  <a:gd name="connsiteX1" fmla="*/ 768052 w 1536103"/>
                  <a:gd name="connsiteY1" fmla="*/ 0 h 1536103"/>
                  <a:gd name="connsiteX2" fmla="*/ 1536104 w 1536103"/>
                  <a:gd name="connsiteY2" fmla="*/ 768052 h 1536103"/>
                  <a:gd name="connsiteX3" fmla="*/ 768052 w 1536103"/>
                  <a:gd name="connsiteY3" fmla="*/ 1536104 h 1536103"/>
                  <a:gd name="connsiteX4" fmla="*/ 0 w 1536103"/>
                  <a:gd name="connsiteY4" fmla="*/ 768052 h 153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36103" h="1536103">
                    <a:moveTo>
                      <a:pt x="0" y="768052"/>
                    </a:moveTo>
                    <a:cubicBezTo>
                      <a:pt x="0" y="343869"/>
                      <a:pt x="343869" y="0"/>
                      <a:pt x="768052" y="0"/>
                    </a:cubicBezTo>
                    <a:cubicBezTo>
                      <a:pt x="1192235" y="0"/>
                      <a:pt x="1536104" y="343869"/>
                      <a:pt x="1536104" y="768052"/>
                    </a:cubicBezTo>
                    <a:cubicBezTo>
                      <a:pt x="1536104" y="1192235"/>
                      <a:pt x="1192235" y="1536104"/>
                      <a:pt x="768052" y="1536104"/>
                    </a:cubicBezTo>
                    <a:cubicBezTo>
                      <a:pt x="343869" y="1536104"/>
                      <a:pt x="0" y="1192235"/>
                      <a:pt x="0" y="7680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0800" dist="38100" dir="8100000" algn="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71755" tIns="71755" rIns="71755" bIns="71755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 defTabSz="91440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  <a:cs typeface="+mj-ea"/>
                    <a:sym typeface="+mn-ea"/>
                  </a:rPr>
                  <a:t>基本图元</a:t>
                </a:r>
              </a:p>
            </p:txBody>
          </p:sp>
        </p:grp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2446B5E6-85BD-8A73-76E6-14F3C64E7845}"/>
              </a:ext>
            </a:extLst>
          </p:cNvPr>
          <p:cNvSpPr txBox="1"/>
          <p:nvPr/>
        </p:nvSpPr>
        <p:spPr>
          <a:xfrm>
            <a:off x="669924" y="127125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图元是什么？</a:t>
            </a:r>
            <a:br>
              <a:rPr lang="en-US" altLang="zh-CN" b="1" dirty="0"/>
            </a:br>
            <a:r>
              <a:rPr lang="zh-CN" altLang="en-US" dirty="0"/>
              <a:t>图元：构成图表的基本图形单元</a:t>
            </a:r>
            <a:endParaRPr lang="en-US" altLang="zh-CN" dirty="0"/>
          </a:p>
          <a:p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16795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E1FB3-0259-2E75-4B63-8153D152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2F0AF-5696-7416-C4A4-08029CA60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视图层图元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mark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（二）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21ACC6A-5019-5E64-18C7-99A1F034EE3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dirty="0">
                <a:latin typeface="+mn-ea"/>
              </a:rPr>
              <a:t>其他图元类型：</a:t>
            </a:r>
          </a:p>
          <a:p>
            <a:pPr marL="971527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路径图元：绘制复杂自定义形状</a:t>
            </a:r>
          </a:p>
          <a:p>
            <a:pPr marL="971527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文本图元：显示标签和文本信息</a:t>
            </a:r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1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dirty="0">
                <a:latin typeface="+mn-ea"/>
              </a:rPr>
              <a:t>图元配置：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样式属性：填充颜色、边框样式等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状态配置：</a:t>
            </a:r>
            <a:r>
              <a:rPr lang="en-US" altLang="zh-CN" dirty="0">
                <a:latin typeface="+mn-ea"/>
              </a:rPr>
              <a:t>hover</a:t>
            </a:r>
            <a:r>
              <a:rPr lang="zh-CN" altLang="en-US" dirty="0">
                <a:latin typeface="+mn-ea"/>
              </a:rPr>
              <a:t>状态下的视觉变化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位置属性：基于数据映射的位置信息</a:t>
            </a:r>
            <a:endParaRPr lang="zh-CN" altLang="en-US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0510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DD74F-8755-404F-E657-7256BE3D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1921B-A295-74FA-51B2-46258D7C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实践案例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配置修改方向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74B9383-FDDC-CC87-6287-6A47F7FFFAC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3200" dirty="0">
                <a:latin typeface="+mn-ea"/>
              </a:rPr>
              <a:t>实践案例：配置修改与效果展示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3200" dirty="0">
                <a:latin typeface="+mn-ea"/>
              </a:rPr>
              <a:t>以柱状图（显示不同月份销售额）为例：</a:t>
            </a:r>
            <a:endParaRPr lang="en-US" altLang="zh-CN" sz="32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2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3200" dirty="0">
                <a:latin typeface="+mn-ea"/>
              </a:rPr>
              <a:t>修改数据：</a:t>
            </a:r>
          </a:p>
          <a:p>
            <a:pPr marL="971527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latin typeface="+mn-ea"/>
              </a:rPr>
              <a:t>更新数据源</a:t>
            </a:r>
          </a:p>
          <a:p>
            <a:pPr marL="971527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latin typeface="+mn-ea"/>
              </a:rPr>
              <a:t>观察图表自动更新</a:t>
            </a:r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2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3200" dirty="0">
                <a:latin typeface="+mn-ea"/>
              </a:rPr>
              <a:t>调整样式：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改变柱状图颜色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设置边框和圆角</a:t>
            </a:r>
            <a:endParaRPr lang="zh-CN" altLang="en-US" sz="18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387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5D429-1344-9167-A15A-5BA4F4EE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6B6BBB-A721-1D67-190B-516F3F2B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实践案例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交互与组件配置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C78BFFC-862A-2D4D-6BD9-35EA8C90A85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3200" dirty="0">
                <a:latin typeface="+mn-ea"/>
              </a:rPr>
              <a:t>配置交互：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添加</a:t>
            </a:r>
            <a:r>
              <a:rPr lang="en-US" altLang="zh-CN" sz="2800" dirty="0">
                <a:latin typeface="+mn-ea"/>
              </a:rPr>
              <a:t>hover</a:t>
            </a:r>
            <a:r>
              <a:rPr lang="zh-CN" altLang="en-US" sz="2800" dirty="0">
                <a:latin typeface="+mn-ea"/>
              </a:rPr>
              <a:t>效果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配置点击事件</a:t>
            </a:r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2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3200" dirty="0">
                <a:latin typeface="+mn-ea"/>
              </a:rPr>
              <a:t>添加组件：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添加图例配置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自定义坐标轴样式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设置提示框内容与格式</a:t>
            </a:r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2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通过实践操作，直观了解不同配置对图表效果的影响</a:t>
            </a:r>
            <a:endParaRPr lang="zh-CN" altLang="en-US" sz="18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0330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EF86D-861F-96E1-D1AB-B6746F14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A3CA0-0463-8123-33D2-A746E417A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本节课重点内容回顾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B56A7B7-A714-DDA7-BBB1-1EE6F8E25CB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2000" dirty="0">
                <a:latin typeface="+mn-ea"/>
              </a:rPr>
              <a:t>课程重点回顾：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latin typeface="+mn-ea"/>
              </a:rPr>
              <a:t>VChart</a:t>
            </a:r>
            <a:r>
              <a:rPr lang="zh-CN" altLang="en-US" sz="2000" dirty="0">
                <a:latin typeface="+mn-ea"/>
              </a:rPr>
              <a:t>配置基本语法规则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图表各组成部分的关系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不同配置如何实现不同图表效果</a:t>
            </a:r>
          </a:p>
        </p:txBody>
      </p:sp>
    </p:spTree>
    <p:extLst>
      <p:ext uri="{BB962C8B-B14F-4D97-AF65-F5344CB8AC3E}">
        <p14:creationId xmlns:p14="http://schemas.microsoft.com/office/powerpoint/2010/main" val="1377492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465"/>
  <p:tag name="OP_SCP_COMPONENT_INFO" val="{&quot;title&quot;:&quot;红色扁平2项PPT流程&quot;,&quot;description&quot;:&quot;红色扁平2项PPT流程&quot;,&quot;keywords&quot;:[&quot;红色&quot;,&quot;扁平&quot;,&quot;2项&quot;,&quot;PPT&quot;,&quot;流程&quot;],&quot;labels&quot;:[]}"/>
  <p:tag name="OP_SCP_GROUP_ID" val="7d4b040a-c734-f850-a1c7-f200fc65c3ed"/>
  <p:tag name="OP_SCP_ITEM_COUNT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。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220"/>
  <p:tag name="OP_SCP_COMPONENT_INFO" val="{&quot;title&quot;:&quot;渐变6项流程PPT组件&quot;,&quot;description&quot;:&quot;渐变6项流程PPT组件&quot;,&quot;keywords&quot;:[&quot;渐变&quot;,&quot;6项&quot;,&quot;流程&quot;,&quot;PPT组件&quot;],&quot;labels&quot;:[]}"/>
  <p:tag name="OP_SCP_GROUP_ID" val="4ca9eeef-6849-fa4d-e332-3e3621188d1e"/>
  <p:tag name="OP_SCP_ITEM_COUNT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6"/>
  <p:tag name="OP_SCP_DEFAULT_TEXT" val="0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6"/>
  <p:tag name="OP_SCP_DEFAULT_TEXT" val="添加标题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6"/>
  <p:tag name="OP_SCP_DEFAULT_TEXT" val="单击此处添加文本，单击此处添加文本，单击此处添加文本，单击此处添加文本。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5"/>
  <p:tag name="OP_SCP_DEFAULT_TEXT" val="0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5"/>
  <p:tag name="OP_SCP_DEFAULT_TEXT" val="添加标题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5"/>
  <p:tag name="OP_SCP_DEFAULT_TEXT" val="单击此处添加文本，单击此处添加文本，单击此处添加文本，单击此处添加文本。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4"/>
  <p:tag name="OP_SCP_DEFAULT_TEXT" val="0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4"/>
  <p:tag name="OP_SCP_DEFAULT_TEXT" val="添加标题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，单击此处添加文本。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0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。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。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。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94"/>
  <p:tag name="OP_SCP_COMPONENT_INFO" val="{&quot;title&quot;:&quot;阴影4项循环PPT组件&quot;,&quot;description&quot;:&quot;阴影4项循环PPT组件&quot;,&quot;keywords&quot;:[&quot;阴影&quot;,&quot;4项&quot;,&quot;循环&quot;,&quot;PPT组件&quot;],&quot;labels&quot;:[]}"/>
  <p:tag name="OP_SCP_GROUP_ID" val="2e0c31f2-4112-f79e-f3ca-aa4832cffbc6"/>
  <p:tag name="OP_SCP_ITEM_COUNT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4"/>
  <p:tag name="OP_SCP_DEFAULT_TEXT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。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。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4"/>
  <p:tag name="OP_SCP_DEFAULT_TEXT" val="添加标题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669</Words>
  <Application>Microsoft Office PowerPoint</Application>
  <PresentationFormat>宽屏</PresentationFormat>
  <Paragraphs>121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Arial</vt:lpstr>
      <vt:lpstr>Impact</vt:lpstr>
      <vt:lpstr>Wingdings</vt:lpstr>
      <vt:lpstr>1_Office 主题​​</vt:lpstr>
      <vt:lpstr>5_OfficePLUS-V2-ee79b56c-44bf-4999-8350-9727f0739207</vt:lpstr>
      <vt:lpstr>OfficePLUS-V2-ee79b56c-44bf-4999-8350-9727f0739207</vt:lpstr>
      <vt:lpstr>PowerPoint 演示文稿</vt:lpstr>
      <vt:lpstr>课程简介</vt:lpstr>
      <vt:lpstr>VChart核心术语解析</vt:lpstr>
      <vt:lpstr>图表定义</vt:lpstr>
      <vt:lpstr>逻辑层图表元素 - 简单图表</vt:lpstr>
      <vt:lpstr>逻辑层图表元素 - 组合图表</vt:lpstr>
      <vt:lpstr>视图层图元mark（一）</vt:lpstr>
      <vt:lpstr>视图层图元mark（二）</vt:lpstr>
      <vt:lpstr>实践案例 - 配置修改方向</vt:lpstr>
      <vt:lpstr>实践案例 - 交互与组件配置</vt:lpstr>
      <vt:lpstr>本节课重点内容回顾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96</cp:revision>
  <dcterms:created xsi:type="dcterms:W3CDTF">2025-10-28T10:07:16Z</dcterms:created>
  <dcterms:modified xsi:type="dcterms:W3CDTF">2025-11-15T14:53:08Z</dcterms:modified>
</cp:coreProperties>
</file>