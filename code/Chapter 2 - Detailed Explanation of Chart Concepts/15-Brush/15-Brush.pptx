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3"/>
  </p:notesMasterIdLst>
  <p:sldIdLst>
    <p:sldId id="262" r:id="rId3"/>
    <p:sldId id="284" r:id="rId4"/>
    <p:sldId id="286" r:id="rId5"/>
    <p:sldId id="296" r:id="rId6"/>
    <p:sldId id="293" r:id="rId7"/>
    <p:sldId id="294" r:id="rId8"/>
    <p:sldId id="295" r:id="rId9"/>
    <p:sldId id="292" r:id="rId10"/>
    <p:sldId id="283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CF908-1C26-48E2-87DA-1AF51B1E776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471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15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en-US" altLang="zh-CN" dirty="0"/>
              <a:t>Brush</a:t>
            </a:r>
            <a:r>
              <a:rPr lang="zh-CN" altLang="en-US" dirty="0"/>
              <a:t>框选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2085-6C1E-0D15-1DC2-CA199408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277A5-6950-9361-2308-058A1A23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大纲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D18CE36-D0B6-BE5D-D94C-E68C10F8B31B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介绍和组成</a:t>
            </a:r>
            <a:endParaRPr lang="en-US" altLang="zh-CN" dirty="0"/>
          </a:p>
          <a:p>
            <a:r>
              <a:rPr lang="zh-CN" altLang="en-US" dirty="0"/>
              <a:t>框选类型和样式交互</a:t>
            </a:r>
          </a:p>
          <a:p>
            <a:r>
              <a:rPr lang="zh-CN" altLang="en-US" dirty="0"/>
              <a:t>示例</a:t>
            </a:r>
          </a:p>
          <a:p>
            <a:endParaRPr lang="zh-CN" altLang="en-US" dirty="0"/>
          </a:p>
          <a:p>
            <a:pPr marL="0" indent="0">
              <a:buNone/>
            </a:pP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575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Brush-</a:t>
            </a:r>
            <a:r>
              <a:rPr lang="zh-CN" altLang="en-US" dirty="0"/>
              <a:t>是什么？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F017A5-FE40-FBE1-EEA0-A4F29834A9C1}"/>
              </a:ext>
            </a:extLst>
          </p:cNvPr>
          <p:cNvSpPr txBox="1"/>
          <p:nvPr/>
        </p:nvSpPr>
        <p:spPr>
          <a:xfrm>
            <a:off x="603250" y="1373341"/>
            <a:ext cx="96647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核心定义：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Brush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是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VChart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提供的一款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交互组件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主要功能：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允许用户通过在图表上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直接绘制选区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，来动态地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选取和聚焦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特定范围的数据。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核心价值：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用户视角：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简化操作，直观地进行数据探索与分析。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开发者视角：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提升图表交互性，为联动分析、数据下钻等高级功能提供基础。</a:t>
            </a:r>
          </a:p>
        </p:txBody>
      </p:sp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E808E-BE2A-D38A-0A07-84B9F8DA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9DE32-EF03-E2AD-9A46-0FD5CB786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Brush </a:t>
            </a:r>
            <a:r>
              <a:rPr lang="zh-CN" altLang="en-US" dirty="0"/>
              <a:t>的核心组成与特性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D8B4BDB-8D8B-302B-E7AF-0A56A94A6C15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997A49-9B46-E65B-9693-079E8110D0EA}"/>
              </a:ext>
            </a:extLst>
          </p:cNvPr>
          <p:cNvSpPr txBox="1"/>
          <p:nvPr/>
        </p:nvSpPr>
        <p:spPr>
          <a:xfrm>
            <a:off x="730249" y="1373341"/>
            <a:ext cx="67818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1.</a:t>
            </a:r>
            <a:r>
              <a:rPr lang="zh-CN" altLang="en-US" b="1" dirty="0"/>
              <a:t>可视化部分：</a:t>
            </a:r>
            <a:r>
              <a:rPr lang="zh-CN" altLang="en-US" dirty="0"/>
              <a:t> 一个可交互的</a:t>
            </a:r>
            <a:r>
              <a:rPr lang="zh-CN" altLang="en-US" b="1" dirty="0"/>
              <a:t>框选区域</a:t>
            </a:r>
            <a:r>
              <a:rPr lang="zh-CN" altLang="en-US" dirty="0"/>
              <a:t>（高亮显示）。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2. </a:t>
            </a:r>
            <a:r>
              <a:rPr lang="zh-CN" altLang="en-US" b="1" dirty="0"/>
              <a:t>交互支持：</a:t>
            </a:r>
            <a:r>
              <a:rPr lang="zh-CN" altLang="en-US" dirty="0"/>
              <a:t> 支持鼠标拖拽绘制。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3. </a:t>
            </a:r>
            <a:r>
              <a:rPr lang="zh-CN" altLang="en-US" b="1" dirty="0"/>
              <a:t>事件驱动：</a:t>
            </a:r>
            <a:r>
              <a:rPr lang="zh-CN" altLang="en-US" dirty="0"/>
              <a:t> 提供 </a:t>
            </a:r>
            <a:r>
              <a:rPr lang="en-US" altLang="zh-CN" dirty="0" err="1"/>
              <a:t>brushChange</a:t>
            </a:r>
            <a:r>
              <a:rPr lang="zh-CN" altLang="en-US" dirty="0"/>
              <a:t> 事件（核心</a:t>
            </a:r>
            <a:r>
              <a:rPr lang="en-US" altLang="zh-CN" dirty="0"/>
              <a:t>API</a:t>
            </a:r>
            <a:r>
              <a:rPr lang="zh-CN" altLang="en-US" dirty="0"/>
              <a:t>），选区变化时触发，用于获取选中数据，驱动图表更新或其他业务逻辑。</a:t>
            </a:r>
          </a:p>
        </p:txBody>
      </p:sp>
    </p:spTree>
    <p:extLst>
      <p:ext uri="{BB962C8B-B14F-4D97-AF65-F5344CB8AC3E}">
        <p14:creationId xmlns:p14="http://schemas.microsoft.com/office/powerpoint/2010/main" val="2522324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EEA16-C40C-8B47-568A-98621C07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BD3ED-676C-367F-29AE-88ECA16FC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Brush-</a:t>
            </a:r>
            <a:r>
              <a:rPr lang="zh-CN" altLang="en-US" dirty="0"/>
              <a:t>框选类型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E1CA0BB-9D89-E0E7-13EA-54EC796581F5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BD287E-D916-13D5-2AAE-FE327DE34E97}"/>
              </a:ext>
            </a:extLst>
          </p:cNvPr>
          <p:cNvSpPr txBox="1"/>
          <p:nvPr/>
        </p:nvSpPr>
        <p:spPr>
          <a:xfrm>
            <a:off x="600074" y="1525131"/>
            <a:ext cx="4645026" cy="352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Brush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提供了 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4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种常见的框选类型，用户可以根据实际需求选择合适的类型：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'x':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横向选择，仅在 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X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轴方向上进行数据选取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'y':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纵向选择，仅在 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Y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轴方向上进行数据选取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'</a:t>
            </a:r>
            <a:r>
              <a:rPr lang="en-US" altLang="zh-CN" b="0" i="0" dirty="0" err="1">
                <a:solidFill>
                  <a:srgbClr val="424E66"/>
                </a:solidFill>
                <a:effectLst/>
                <a:latin typeface="-apple-system"/>
              </a:rPr>
              <a:t>rect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':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矩形选框，用户可以在图表中画出矩形框，选取其中的数据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'polygon':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任意形状选框，用户可以在图表中自由画出多边形框，选取其中的数据</a:t>
            </a:r>
          </a:p>
        </p:txBody>
      </p:sp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EADD1167-A0D9-4042-EAAC-8369B5125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264" y="1373341"/>
            <a:ext cx="6515662" cy="478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4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07736-06AC-2ADB-FE58-72F336A99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54F1DE-C8F3-139A-0DE9-7805E8C5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Brush-</a:t>
            </a:r>
            <a:r>
              <a:rPr lang="zh-CN" altLang="en-US" dirty="0"/>
              <a:t>样式与交互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0A4F189-1BFE-4EEA-86F8-29DFCDCA28A7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5B5EEF-F0AA-8C6C-57A5-8BB702933D37}"/>
              </a:ext>
            </a:extLst>
          </p:cNvPr>
          <p:cNvSpPr txBox="1"/>
          <p:nvPr/>
        </p:nvSpPr>
        <p:spPr>
          <a:xfrm>
            <a:off x="669924" y="1433559"/>
            <a:ext cx="6096000" cy="3470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自定义外观：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选框内样式：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可设置选中区域的颜色、透明度（高亮显示）。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选框外样式：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可设置未选中区域的视觉降级（如变灰、降低透明度）。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丰富交互：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支持调整选框大小和位置。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可结合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brushChange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事件，实现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多图表联动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详情展示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等高级交互效果。</a:t>
            </a:r>
          </a:p>
        </p:txBody>
      </p:sp>
    </p:spTree>
    <p:extLst>
      <p:ext uri="{BB962C8B-B14F-4D97-AF65-F5344CB8AC3E}">
        <p14:creationId xmlns:p14="http://schemas.microsoft.com/office/powerpoint/2010/main" val="2965933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C336-D3F7-4DF1-7E18-CC829D56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34340-8F55-7A2F-1DC1-9B2A2775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Brush-</a:t>
            </a:r>
            <a:r>
              <a:rPr lang="zh-CN" altLang="en-US" dirty="0"/>
              <a:t>快速上手示例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BA90318-84A2-2BB2-B3B8-2BB62270E204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1C8A50-0D40-EBBD-63DC-9AC6E6D512A7}"/>
              </a:ext>
            </a:extLst>
          </p:cNvPr>
          <p:cNvSpPr txBox="1"/>
          <p:nvPr/>
        </p:nvSpPr>
        <p:spPr>
          <a:xfrm>
            <a:off x="6707186" y="1272147"/>
            <a:ext cx="500856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424E66"/>
                </a:solidFill>
                <a:latin typeface="Menlo"/>
              </a:rPr>
              <a:t>const spec = {</a:t>
            </a:r>
          </a:p>
          <a:p>
            <a:r>
              <a:rPr lang="en-US" altLang="zh-CN" dirty="0">
                <a:solidFill>
                  <a:srgbClr val="424E66"/>
                </a:solidFill>
                <a:latin typeface="Menlo"/>
              </a:rPr>
              <a:t>  type: ‘scatter‘,</a:t>
            </a:r>
          </a:p>
          <a:p>
            <a:r>
              <a:rPr lang="en-US" altLang="zh-CN" dirty="0">
                <a:solidFill>
                  <a:srgbClr val="424E66"/>
                </a:solidFill>
                <a:latin typeface="Menlo"/>
              </a:rPr>
              <a:t>  // ... </a:t>
            </a:r>
            <a:r>
              <a:rPr lang="zh-CN" altLang="en-US" dirty="0">
                <a:solidFill>
                  <a:srgbClr val="424E66"/>
                </a:solidFill>
                <a:latin typeface="Menlo"/>
              </a:rPr>
              <a:t>数据、轴等配置 </a:t>
            </a:r>
            <a:r>
              <a:rPr lang="en-US" altLang="zh-CN" dirty="0">
                <a:solidFill>
                  <a:srgbClr val="424E66"/>
                </a:solidFill>
                <a:latin typeface="Menlo"/>
              </a:rPr>
              <a:t>...</a:t>
            </a:r>
          </a:p>
          <a:p>
            <a:r>
              <a:rPr lang="en-US" altLang="zh-CN" dirty="0">
                <a:solidFill>
                  <a:srgbClr val="424E66"/>
                </a:solidFill>
                <a:latin typeface="Menlo"/>
              </a:rPr>
              <a:t>  components: [{</a:t>
            </a:r>
          </a:p>
          <a:p>
            <a:r>
              <a:rPr lang="en-US" altLang="zh-CN" dirty="0">
                <a:solidFill>
                  <a:srgbClr val="424E66"/>
                </a:solidFill>
                <a:latin typeface="Menlo"/>
              </a:rPr>
              <a:t>    type: ‘brush‘,</a:t>
            </a:r>
          </a:p>
          <a:p>
            <a:r>
              <a:rPr lang="en-US" altLang="zh-CN" dirty="0">
                <a:solidFill>
                  <a:srgbClr val="424E66"/>
                </a:solidFill>
                <a:latin typeface="Menlo"/>
              </a:rPr>
              <a:t>    </a:t>
            </a:r>
            <a:r>
              <a:rPr lang="en-US" altLang="zh-CN" dirty="0" err="1">
                <a:solidFill>
                  <a:srgbClr val="424E66"/>
                </a:solidFill>
                <a:latin typeface="Menlo"/>
              </a:rPr>
              <a:t>brushType</a:t>
            </a:r>
            <a:r>
              <a:rPr lang="en-US" altLang="zh-CN" dirty="0">
                <a:solidFill>
                  <a:srgbClr val="424E66"/>
                </a:solidFill>
                <a:latin typeface="Menlo"/>
              </a:rPr>
              <a:t>: ‘</a:t>
            </a:r>
            <a:r>
              <a:rPr lang="en-US" altLang="zh-CN" dirty="0" err="1">
                <a:solidFill>
                  <a:srgbClr val="424E66"/>
                </a:solidFill>
                <a:latin typeface="Menlo"/>
              </a:rPr>
              <a:t>rect</a:t>
            </a:r>
            <a:r>
              <a:rPr lang="en-US" altLang="zh-CN" dirty="0">
                <a:solidFill>
                  <a:srgbClr val="424E66"/>
                </a:solidFill>
                <a:latin typeface="Menlo"/>
              </a:rPr>
              <a:t>‘,</a:t>
            </a:r>
          </a:p>
          <a:p>
            <a:r>
              <a:rPr lang="en-US" altLang="zh-CN" dirty="0">
                <a:solidFill>
                  <a:srgbClr val="424E66"/>
                </a:solidFill>
                <a:latin typeface="Menlo"/>
              </a:rPr>
              <a:t>    // style: { ... } // </a:t>
            </a:r>
            <a:r>
              <a:rPr lang="zh-CN" altLang="en-US" dirty="0">
                <a:solidFill>
                  <a:srgbClr val="424E66"/>
                </a:solidFill>
                <a:latin typeface="Menlo"/>
              </a:rPr>
              <a:t>自定义样式</a:t>
            </a:r>
          </a:p>
          <a:p>
            <a:r>
              <a:rPr lang="zh-CN" altLang="en-US" dirty="0">
                <a:solidFill>
                  <a:srgbClr val="424E66"/>
                </a:solidFill>
                <a:latin typeface="Menlo"/>
              </a:rPr>
              <a:t>  </a:t>
            </a:r>
            <a:r>
              <a:rPr lang="en-US" altLang="zh-CN" dirty="0">
                <a:solidFill>
                  <a:srgbClr val="424E66"/>
                </a:solidFill>
                <a:latin typeface="Menlo"/>
              </a:rPr>
              <a:t>}]</a:t>
            </a:r>
          </a:p>
          <a:p>
            <a:r>
              <a:rPr lang="en-US" altLang="zh-CN" dirty="0">
                <a:solidFill>
                  <a:srgbClr val="424E66"/>
                </a:solidFill>
                <a:latin typeface="Menlo"/>
              </a:rPr>
              <a:t>};</a:t>
            </a:r>
          </a:p>
          <a:p>
            <a:r>
              <a:rPr lang="en-US" altLang="zh-CN" dirty="0">
                <a:solidFill>
                  <a:srgbClr val="424E66"/>
                </a:solidFill>
                <a:latin typeface="Menlo"/>
              </a:rPr>
              <a:t>// </a:t>
            </a:r>
            <a:r>
              <a:rPr lang="zh-CN" altLang="en-US" dirty="0">
                <a:solidFill>
                  <a:srgbClr val="424E66"/>
                </a:solidFill>
                <a:latin typeface="Menlo"/>
              </a:rPr>
              <a:t>通过</a:t>
            </a:r>
            <a:r>
              <a:rPr lang="en-US" altLang="zh-CN" dirty="0" err="1">
                <a:solidFill>
                  <a:srgbClr val="424E66"/>
                </a:solidFill>
                <a:latin typeface="Menlo"/>
              </a:rPr>
              <a:t>VChart</a:t>
            </a:r>
            <a:r>
              <a:rPr lang="zh-CN" altLang="en-US" dirty="0">
                <a:solidFill>
                  <a:srgbClr val="424E66"/>
                </a:solidFill>
                <a:latin typeface="Menlo"/>
              </a:rPr>
              <a:t>实例监听事件</a:t>
            </a:r>
          </a:p>
          <a:p>
            <a:r>
              <a:rPr lang="en-US" altLang="zh-CN" dirty="0" err="1">
                <a:solidFill>
                  <a:srgbClr val="424E66"/>
                </a:solidFill>
                <a:latin typeface="Menlo"/>
              </a:rPr>
              <a:t>chart.on</a:t>
            </a:r>
            <a:r>
              <a:rPr lang="en-US" altLang="zh-CN" dirty="0">
                <a:solidFill>
                  <a:srgbClr val="424E66"/>
                </a:solidFill>
                <a:latin typeface="Menlo"/>
              </a:rPr>
              <a:t>(‘</a:t>
            </a:r>
            <a:r>
              <a:rPr lang="en-US" altLang="zh-CN" dirty="0" err="1">
                <a:solidFill>
                  <a:srgbClr val="424E66"/>
                </a:solidFill>
                <a:latin typeface="Menlo"/>
              </a:rPr>
              <a:t>brushChange</a:t>
            </a:r>
            <a:r>
              <a:rPr lang="en-US" altLang="zh-CN" dirty="0">
                <a:solidFill>
                  <a:srgbClr val="424E66"/>
                </a:solidFill>
                <a:latin typeface="Menlo"/>
              </a:rPr>
              <a:t>‘, (event) =&gt; {</a:t>
            </a:r>
          </a:p>
          <a:p>
            <a:r>
              <a:rPr lang="en-US" altLang="zh-CN" dirty="0">
                <a:solidFill>
                  <a:srgbClr val="424E66"/>
                </a:solidFill>
                <a:latin typeface="Menlo"/>
              </a:rPr>
              <a:t>  console.log(‘</a:t>
            </a:r>
            <a:r>
              <a:rPr lang="zh-CN" altLang="en-US" dirty="0">
                <a:solidFill>
                  <a:srgbClr val="424E66"/>
                </a:solidFill>
                <a:latin typeface="Menlo"/>
              </a:rPr>
              <a:t>选中的数据：‘</a:t>
            </a:r>
            <a:r>
              <a:rPr lang="en-US" altLang="zh-CN" dirty="0">
                <a:solidFill>
                  <a:srgbClr val="424E66"/>
                </a:solidFill>
                <a:latin typeface="Menlo"/>
              </a:rPr>
              <a:t>, </a:t>
            </a:r>
            <a:r>
              <a:rPr lang="en-US" altLang="zh-CN" dirty="0" err="1">
                <a:solidFill>
                  <a:srgbClr val="424E66"/>
                </a:solidFill>
                <a:latin typeface="Menlo"/>
              </a:rPr>
              <a:t>event.detail.value</a:t>
            </a:r>
            <a:r>
              <a:rPr lang="en-US" altLang="zh-CN" dirty="0">
                <a:solidFill>
                  <a:srgbClr val="424E66"/>
                </a:solidFill>
                <a:latin typeface="Menlo"/>
              </a:rPr>
              <a:t>);</a:t>
            </a:r>
          </a:p>
          <a:p>
            <a:r>
              <a:rPr lang="en-US" altLang="zh-CN" dirty="0">
                <a:solidFill>
                  <a:srgbClr val="424E66"/>
                </a:solidFill>
                <a:latin typeface="Menlo"/>
              </a:rPr>
              <a:t>});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5F2C83-59E4-1118-5A52-BF84394833D1}"/>
              </a:ext>
            </a:extLst>
          </p:cNvPr>
          <p:cNvSpPr txBox="1"/>
          <p:nvPr/>
        </p:nvSpPr>
        <p:spPr>
          <a:xfrm>
            <a:off x="669924" y="1272147"/>
            <a:ext cx="6096000" cy="2741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场景：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在一个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散点图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中启用矩形框选功能。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关键步骤：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在图表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spec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的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components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数组中定义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Brush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组件。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配置类型为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‘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rect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’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可选：配置选框样式。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监听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brushChange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事件，处理选中数据。</a:t>
            </a:r>
          </a:p>
        </p:txBody>
      </p:sp>
    </p:spTree>
    <p:extLst>
      <p:ext uri="{BB962C8B-B14F-4D97-AF65-F5344CB8AC3E}">
        <p14:creationId xmlns:p14="http://schemas.microsoft.com/office/powerpoint/2010/main" val="1479874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E0140-3436-1DBB-A433-3271041C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DBEF2-709C-597C-DAB2-51C9270CD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总结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B719FA-B0D8-CFCC-9EB2-5BCE65043760}"/>
              </a:ext>
            </a:extLst>
          </p:cNvPr>
          <p:cNvSpPr txBox="1"/>
          <p:nvPr/>
        </p:nvSpPr>
        <p:spPr>
          <a:xfrm>
            <a:off x="669924" y="1337402"/>
            <a:ext cx="9217026" cy="3629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核心要点回顾：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Brush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是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基于绘制的数据选取交互组件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提供 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4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种选择类型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x / y /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rect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（矩形）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 / polygon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（多边形）），满足不同场景。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支持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样式自定义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与丰富的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交互事件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下一步行动：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查阅配置项文档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：了解所有可配置参数。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浏览官方示例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：查看各种类型的实战代码和效果。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集成到项目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：尝试在图表中增加框选功能，提升用户体验。</a:t>
            </a:r>
          </a:p>
        </p:txBody>
      </p:sp>
    </p:spTree>
    <p:extLst>
      <p:ext uri="{BB962C8B-B14F-4D97-AF65-F5344CB8AC3E}">
        <p14:creationId xmlns:p14="http://schemas.microsoft.com/office/powerpoint/2010/main" val="2722630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502" y="1825625"/>
            <a:ext cx="2431473" cy="24967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027324" y="4428156"/>
            <a:ext cx="3174076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u="sng" dirty="0" err="1">
                <a:latin typeface="+mn-ea"/>
              </a:rPr>
              <a:t>微信</a:t>
            </a: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</TotalTime>
  <Words>631</Words>
  <Application>Microsoft Office PowerPoint</Application>
  <PresentationFormat>宽屏</PresentationFormat>
  <Paragraphs>73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-apple-system</vt:lpstr>
      <vt:lpstr>Menlo</vt:lpstr>
      <vt:lpstr>Nunito for Arco</vt:lpstr>
      <vt:lpstr>quote-cjk-patch</vt:lpstr>
      <vt:lpstr>var(--ds-font-family-code)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大纲</vt:lpstr>
      <vt:lpstr>Brush-是什么？</vt:lpstr>
      <vt:lpstr>Brush 的核心组成与特性</vt:lpstr>
      <vt:lpstr>Brush-框选类型</vt:lpstr>
      <vt:lpstr>Brush-样式与交互</vt:lpstr>
      <vt:lpstr>Brush-快速上手示例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275</cp:revision>
  <dcterms:created xsi:type="dcterms:W3CDTF">2025-10-28T10:07:16Z</dcterms:created>
  <dcterms:modified xsi:type="dcterms:W3CDTF">2026-01-19T04:59:13Z</dcterms:modified>
</cp:coreProperties>
</file>