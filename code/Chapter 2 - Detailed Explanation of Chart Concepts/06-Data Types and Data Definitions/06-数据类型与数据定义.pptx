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  <p:sldMasterId id="2147483736" r:id="rId3"/>
  </p:sldMasterIdLst>
  <p:notesMasterIdLst>
    <p:notesMasterId r:id="rId16"/>
  </p:notesMasterIdLst>
  <p:sldIdLst>
    <p:sldId id="262" r:id="rId4"/>
    <p:sldId id="276" r:id="rId5"/>
    <p:sldId id="264" r:id="rId6"/>
    <p:sldId id="277" r:id="rId7"/>
    <p:sldId id="278" r:id="rId8"/>
    <p:sldId id="279" r:id="rId9"/>
    <p:sldId id="280" r:id="rId10"/>
    <p:sldId id="281" r:id="rId11"/>
    <p:sldId id="282" r:id="rId12"/>
    <p:sldId id="271" r:id="rId13"/>
    <p:sldId id="283" r:id="rId14"/>
    <p:sldId id="2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81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521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906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834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8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6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0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3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336" y="49524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8" y="382166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 err="1"/>
              <a:t>VChart</a:t>
            </a:r>
            <a:r>
              <a:rPr lang="en-US" altLang="zh-CN" dirty="0"/>
              <a:t> </a:t>
            </a:r>
            <a:r>
              <a:rPr lang="zh-CN" altLang="en-US" dirty="0"/>
              <a:t>数据类型与数据定义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D4CA8F-8F50-5D97-EFFC-EAF2312172D9}"/>
              </a:ext>
            </a:extLst>
          </p:cNvPr>
          <p:cNvSpPr txBox="1"/>
          <p:nvPr/>
        </p:nvSpPr>
        <p:spPr>
          <a:xfrm>
            <a:off x="670336" y="4481800"/>
            <a:ext cx="2934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可视化图表的核心基础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555E-BE60-F3B1-D80C-8C615FDB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23574-8FB0-DBC7-26A5-65CED086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课程引言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90FA1D6-E7C1-4CD4-AAB6-9B752AE44C19}"/>
              </a:ext>
            </a:extLst>
          </p:cNvPr>
          <p:cNvSpPr txBox="1">
            <a:spLocks/>
          </p:cNvSpPr>
          <p:nvPr/>
        </p:nvSpPr>
        <p:spPr>
          <a:xfrm>
            <a:off x="669923" y="1123258"/>
            <a:ext cx="10850563" cy="5198029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400" dirty="0"/>
              <a:t>核心说明</a:t>
            </a:r>
            <a:r>
              <a:rPr lang="zh-CN" altLang="en-US" sz="2400" dirty="0">
                <a:latin typeface="+mn-ea"/>
              </a:rPr>
              <a:t>：</a:t>
            </a:r>
            <a:endParaRPr lang="en-US" altLang="zh-CN" sz="2400" dirty="0"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在可视化图表中，数据是基础，了解 </a:t>
            </a:r>
            <a:r>
              <a:rPr lang="en-US" altLang="zh-CN" sz="2000" dirty="0" err="1">
                <a:solidFill>
                  <a:srgbClr val="FF0000"/>
                </a:solidFill>
              </a:rPr>
              <a:t>VChart</a:t>
            </a:r>
            <a:r>
              <a:rPr lang="en-US" altLang="zh-CN" sz="2000" dirty="0">
                <a:solidFill>
                  <a:srgbClr val="FF0000"/>
                </a:solidFill>
              </a:rPr>
              <a:t> </a:t>
            </a:r>
            <a:r>
              <a:rPr lang="zh-CN" altLang="en-US" sz="2000" dirty="0">
                <a:solidFill>
                  <a:srgbClr val="FF0000"/>
                </a:solidFill>
              </a:rPr>
              <a:t>支持的数据类型和数据配置方法，对于创建高效、准确 的图表至关重要。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400" dirty="0"/>
              <a:t>学习目标：</a:t>
            </a:r>
            <a:endParaRPr lang="en-US" altLang="zh-CN" sz="2400" dirty="0">
              <a:solidFill>
                <a:srgbClr val="0070C0"/>
              </a:solidFill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dirty="0">
                <a:latin typeface="+mn-ea"/>
              </a:rPr>
              <a:t>1. </a:t>
            </a:r>
            <a:r>
              <a:rPr lang="zh-CN" altLang="en-US" sz="2000" dirty="0">
                <a:latin typeface="+mn-ea"/>
              </a:rPr>
              <a:t>掌握 </a:t>
            </a:r>
            <a:r>
              <a:rPr lang="en-US" altLang="zh-CN" sz="2000" dirty="0" err="1">
                <a:latin typeface="+mn-ea"/>
              </a:rPr>
              <a:t>VChart</a:t>
            </a:r>
            <a:r>
              <a:rPr lang="en-US" altLang="zh-CN" sz="2000" dirty="0">
                <a:latin typeface="+mn-ea"/>
              </a:rPr>
              <a:t> </a:t>
            </a:r>
            <a:r>
              <a:rPr lang="zh-CN" altLang="en-US" sz="2000" dirty="0">
                <a:latin typeface="+mn-ea"/>
              </a:rPr>
              <a:t>支持的三种核心数据类型 </a:t>
            </a:r>
            <a:endParaRPr lang="en-US" altLang="zh-CN" sz="20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dirty="0">
                <a:latin typeface="+mn-ea"/>
              </a:rPr>
              <a:t>2. </a:t>
            </a:r>
            <a:r>
              <a:rPr lang="zh-CN" altLang="en-US" sz="2000" dirty="0">
                <a:latin typeface="+mn-ea"/>
              </a:rPr>
              <a:t>理解数据对象的完整配置结构 </a:t>
            </a:r>
            <a:endParaRPr lang="en-US" altLang="zh-CN" sz="20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dirty="0">
                <a:latin typeface="+mn-ea"/>
              </a:rPr>
              <a:t>3. </a:t>
            </a:r>
            <a:r>
              <a:rPr lang="zh-CN" altLang="en-US" sz="2000" dirty="0">
                <a:latin typeface="+mn-ea"/>
              </a:rPr>
              <a:t>学会使用 </a:t>
            </a:r>
            <a:r>
              <a:rPr lang="en-US" altLang="zh-CN" sz="2000" dirty="0">
                <a:latin typeface="+mn-ea"/>
              </a:rPr>
              <a:t>transforms </a:t>
            </a:r>
            <a:r>
              <a:rPr lang="zh-CN" altLang="en-US" sz="2000" dirty="0">
                <a:latin typeface="+mn-ea"/>
              </a:rPr>
              <a:t>进行数据处理 </a:t>
            </a:r>
            <a:endParaRPr lang="en-US" altLang="zh-CN" sz="20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2000" dirty="0">
                <a:latin typeface="+mn-ea"/>
              </a:rPr>
              <a:t>4. </a:t>
            </a:r>
            <a:r>
              <a:rPr lang="zh-CN" altLang="en-US" sz="2000" dirty="0">
                <a:latin typeface="+mn-ea"/>
              </a:rPr>
              <a:t>能独立完成数据准备与图表适配</a:t>
            </a:r>
          </a:p>
        </p:txBody>
      </p:sp>
    </p:spTree>
    <p:extLst>
      <p:ext uri="{BB962C8B-B14F-4D97-AF65-F5344CB8AC3E}">
        <p14:creationId xmlns:p14="http://schemas.microsoft.com/office/powerpoint/2010/main" val="274946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343327-4A69-CD8A-F344-65B68B11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VChart</a:t>
            </a:r>
            <a:r>
              <a:rPr lang="en-US" altLang="zh-CN" dirty="0"/>
              <a:t> </a:t>
            </a:r>
            <a:r>
              <a:rPr lang="zh-CN" altLang="en-US" dirty="0"/>
              <a:t>支持的数据类型（</a:t>
            </a:r>
            <a:r>
              <a:rPr lang="en-US" altLang="zh-CN" dirty="0"/>
              <a:t>1/3</a:t>
            </a:r>
            <a:r>
              <a:rPr lang="zh-CN" altLang="en-US" dirty="0"/>
              <a:t>） 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E78CD11-B6E2-096D-0112-EA5071E07DE3}"/>
              </a:ext>
            </a:extLst>
          </p:cNvPr>
          <p:cNvSpPr txBox="1">
            <a:spLocks/>
          </p:cNvSpPr>
          <p:nvPr/>
        </p:nvSpPr>
        <p:spPr>
          <a:xfrm>
            <a:off x="838200" y="1258957"/>
            <a:ext cx="10363199" cy="4918006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、展平的数据对象（最常用）</a:t>
            </a:r>
            <a:endParaRPr lang="en-US" altLang="zh-CN" sz="2400" dirty="0"/>
          </a:p>
          <a:p>
            <a:pPr marL="914353" lvl="2" indent="0">
              <a:lnSpc>
                <a:spcPct val="150000"/>
              </a:lnSpc>
              <a:buNone/>
            </a:pPr>
            <a:r>
              <a:rPr lang="zh-CN" altLang="en-US" sz="2000" b="1" dirty="0"/>
              <a:t>概念</a:t>
            </a:r>
            <a:r>
              <a:rPr lang="zh-CN" altLang="en-US" sz="2000" dirty="0"/>
              <a:t>：每条数据记录对应一个图形元素，实现数据与图形的一对一映射</a:t>
            </a:r>
            <a:endParaRPr lang="en-US" altLang="zh-CN" sz="2000" dirty="0">
              <a:solidFill>
                <a:srgbClr val="0070C0"/>
              </a:solidFill>
              <a:latin typeface="+mn-ea"/>
            </a:endParaRPr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000" dirty="0"/>
              <a:t>代码对比：</a:t>
            </a:r>
            <a:endParaRPr lang="en-US" altLang="zh-CN" sz="2000" dirty="0"/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18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676222D-D957-7E71-ED3D-C0943C5FE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82" y="2855014"/>
            <a:ext cx="5077675" cy="306968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29BA379-062A-619A-6211-3BB9E53E60B0}"/>
              </a:ext>
            </a:extLst>
          </p:cNvPr>
          <p:cNvSpPr txBox="1"/>
          <p:nvPr/>
        </p:nvSpPr>
        <p:spPr>
          <a:xfrm>
            <a:off x="6965239" y="371796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优势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r>
              <a:rPr lang="zh-CN" altLang="en-US" sz="2000" dirty="0"/>
              <a:t>可视化表达更直观、灵活，支持多维度数</a:t>
            </a:r>
            <a:endParaRPr lang="en-US" altLang="zh-CN" sz="2000" dirty="0"/>
          </a:p>
          <a:p>
            <a:r>
              <a:rPr lang="zh-CN" altLang="en-US" sz="2000" dirty="0"/>
              <a:t>据编码</a:t>
            </a:r>
          </a:p>
        </p:txBody>
      </p:sp>
    </p:spTree>
    <p:extLst>
      <p:ext uri="{BB962C8B-B14F-4D97-AF65-F5344CB8AC3E}">
        <p14:creationId xmlns:p14="http://schemas.microsoft.com/office/powerpoint/2010/main" val="387391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AA03-ED59-71B5-A292-9F875259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F9F06-4776-E6F9-F905-BC9AD508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VChart</a:t>
            </a:r>
            <a:r>
              <a:rPr lang="en-US" altLang="zh-CN" dirty="0"/>
              <a:t> </a:t>
            </a:r>
            <a:r>
              <a:rPr lang="zh-CN" altLang="en-US" dirty="0"/>
              <a:t>支持的数据类型（</a:t>
            </a:r>
            <a:r>
              <a:rPr lang="en-US" altLang="zh-CN" dirty="0"/>
              <a:t>2/3</a:t>
            </a:r>
            <a:r>
              <a:rPr lang="zh-CN" altLang="en-US" dirty="0"/>
              <a:t>） 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9B258C8-2E23-6408-DE11-259CF213DA24}"/>
              </a:ext>
            </a:extLst>
          </p:cNvPr>
          <p:cNvSpPr txBox="1">
            <a:spLocks/>
          </p:cNvSpPr>
          <p:nvPr/>
        </p:nvSpPr>
        <p:spPr>
          <a:xfrm>
            <a:off x="838201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CSV </a:t>
            </a:r>
            <a:r>
              <a:rPr lang="zh-CN" altLang="en-US" sz="2400" dirty="0"/>
              <a:t>数据对象</a:t>
            </a:r>
            <a:endParaRPr lang="en-US" altLang="zh-CN" sz="2400" dirty="0"/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000" b="1" dirty="0"/>
              <a:t>特点</a:t>
            </a:r>
            <a:r>
              <a:rPr lang="zh-CN" altLang="en-US" sz="2000" dirty="0"/>
              <a:t>：支持 </a:t>
            </a:r>
            <a:r>
              <a:rPr lang="en-US" altLang="zh-CN" sz="2000" dirty="0"/>
              <a:t>CSV </a:t>
            </a:r>
            <a:r>
              <a:rPr lang="zh-CN" altLang="en-US" sz="2000" dirty="0"/>
              <a:t>格式字符串数据，通过 </a:t>
            </a:r>
            <a:r>
              <a:rPr lang="en-US" altLang="zh-CN" sz="2000" dirty="0"/>
              <a:t>parser </a:t>
            </a:r>
            <a:r>
              <a:rPr lang="zh-CN" altLang="en-US" sz="2000" dirty="0"/>
              <a:t>配置自动解析代码对比：</a:t>
            </a:r>
            <a:endParaRPr lang="en-US" altLang="zh-CN" sz="2000" dirty="0"/>
          </a:p>
          <a:p>
            <a:pPr marL="457177" lvl="1" indent="0">
              <a:lnSpc>
                <a:spcPct val="150000"/>
              </a:lnSpc>
              <a:buNone/>
            </a:pPr>
            <a:endParaRPr lang="zh-CN" altLang="en-US" sz="18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595FE1C-D5D9-C43E-00CD-D5629C3A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117" y="2573132"/>
            <a:ext cx="5457054" cy="3452422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61569751-7004-539F-947A-5F0BF4AA1A8B}"/>
              </a:ext>
            </a:extLst>
          </p:cNvPr>
          <p:cNvSpPr txBox="1"/>
          <p:nvPr/>
        </p:nvSpPr>
        <p:spPr>
          <a:xfrm>
            <a:off x="6866038" y="352990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适用场景：</a:t>
            </a:r>
            <a:endParaRPr lang="en-US" altLang="zh-CN" sz="2400" b="1" dirty="0"/>
          </a:p>
          <a:p>
            <a:r>
              <a:rPr lang="zh-CN" altLang="en-US" sz="2000" dirty="0"/>
              <a:t>已有 </a:t>
            </a:r>
            <a:r>
              <a:rPr lang="en-US" altLang="zh-CN" sz="2000" dirty="0"/>
              <a:t>CSV </a:t>
            </a:r>
            <a:r>
              <a:rPr lang="zh-CN" altLang="en-US" sz="2000" dirty="0"/>
              <a:t>格式数据源，无需手动转换 </a:t>
            </a:r>
            <a:r>
              <a:rPr lang="en-US" altLang="zh-CN" sz="2000" dirty="0"/>
              <a:t>JSON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7921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27BB9-D61A-9C48-0FD2-87DAEB9A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FF980-DF48-02B9-56CE-6FFE79F9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VChart</a:t>
            </a:r>
            <a:r>
              <a:rPr lang="en-US" altLang="zh-CN" dirty="0"/>
              <a:t> </a:t>
            </a:r>
            <a:r>
              <a:rPr lang="zh-CN" altLang="en-US" dirty="0"/>
              <a:t>支持的数据类型（</a:t>
            </a:r>
            <a:r>
              <a:rPr lang="en-US" altLang="zh-CN" dirty="0"/>
              <a:t>3/3</a:t>
            </a:r>
            <a:r>
              <a:rPr lang="zh-CN" altLang="en-US" dirty="0"/>
              <a:t>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137950A-06C2-3E3C-54A4-D339E187B079}"/>
              </a:ext>
            </a:extLst>
          </p:cNvPr>
          <p:cNvSpPr txBox="1">
            <a:spLocks/>
          </p:cNvSpPr>
          <p:nvPr/>
        </p:nvSpPr>
        <p:spPr>
          <a:xfrm>
            <a:off x="838201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、树形结构的数据对象</a:t>
            </a:r>
            <a:endParaRPr lang="en-US" altLang="zh-CN" sz="2400" dirty="0"/>
          </a:p>
          <a:p>
            <a:pPr marL="457177" lvl="1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/>
              <a:t>适用图表</a:t>
            </a:r>
            <a:r>
              <a:rPr lang="zh-CN" altLang="en-US" sz="2000" dirty="0"/>
              <a:t>：旭日图、矩形树图、组织架构图等层级类图表</a:t>
            </a:r>
            <a:endParaRPr lang="en-US" altLang="zh-CN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/>
              <a:t>核心价值</a:t>
            </a:r>
            <a:r>
              <a:rPr lang="zh-CN" altLang="en-US" sz="2000" dirty="0"/>
              <a:t>：完美呈现层级关系，适用于组织架构、文件系统、知识图谱 等场景</a:t>
            </a:r>
            <a:endParaRPr lang="en-US" altLang="zh-CN" sz="2000" b="1" kern="100" spc="100" dirty="0">
              <a:solidFill>
                <a:srgbClr val="404E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177" lvl="1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7834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4CA1-6702-F263-08D8-1E25E708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F6CEA-D2DD-D62A-9D80-A6013681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数据配置详解（</a:t>
            </a:r>
            <a:r>
              <a:rPr lang="en-US" altLang="zh-CN" dirty="0"/>
              <a:t>1/4</a:t>
            </a:r>
            <a:r>
              <a:rPr lang="zh-CN" altLang="en-US" dirty="0"/>
              <a:t>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682067A-048E-A986-0733-DC69DD1F54FA}"/>
              </a:ext>
            </a:extLst>
          </p:cNvPr>
          <p:cNvSpPr txBox="1">
            <a:spLocks/>
          </p:cNvSpPr>
          <p:nvPr/>
        </p:nvSpPr>
        <p:spPr>
          <a:xfrm>
            <a:off x="278296" y="1028700"/>
            <a:ext cx="10363200" cy="5041452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、数据对象的基本结构</a:t>
            </a:r>
            <a:endParaRPr lang="en-US" altLang="zh-CN" sz="2400" dirty="0"/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400" dirty="0"/>
              <a:t>完整配置示例：</a:t>
            </a:r>
            <a:endParaRPr lang="en-US" altLang="zh-CN" sz="2400" dirty="0"/>
          </a:p>
          <a:p>
            <a:pPr marL="457177" lvl="1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04115D-FB32-3FF1-4EA2-D2B8C2456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77" y="2339070"/>
            <a:ext cx="8095238" cy="217985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8B286D2-1AEA-B9B6-E00F-C112D7693A1B}"/>
              </a:ext>
            </a:extLst>
          </p:cNvPr>
          <p:cNvSpPr txBox="1"/>
          <p:nvPr/>
        </p:nvSpPr>
        <p:spPr>
          <a:xfrm>
            <a:off x="802676" y="4518929"/>
            <a:ext cx="6181219" cy="1730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关键说明：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id</a:t>
            </a:r>
            <a:r>
              <a:rPr lang="zh-CN" altLang="en-US" sz="2000" dirty="0"/>
              <a:t>和</a:t>
            </a:r>
            <a:r>
              <a:rPr lang="en-US" altLang="zh-CN" sz="2000" dirty="0"/>
              <a:t>values</a:t>
            </a:r>
            <a:r>
              <a:rPr lang="zh-CN" altLang="en-US" sz="2000" dirty="0"/>
              <a:t>是最基本的必填项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parser </a:t>
            </a:r>
            <a:r>
              <a:rPr lang="zh-CN" altLang="en-US" sz="2000" dirty="0"/>
              <a:t>仅在非 </a:t>
            </a:r>
            <a:r>
              <a:rPr lang="en-US" altLang="zh-CN" sz="2000" dirty="0"/>
              <a:t>JSON </a:t>
            </a:r>
            <a:r>
              <a:rPr lang="zh-CN" altLang="en-US" sz="2000" dirty="0"/>
              <a:t>数据时需要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transforms </a:t>
            </a:r>
            <a:r>
              <a:rPr lang="zh-CN" altLang="en-US" sz="2000" dirty="0"/>
              <a:t>是高级数据处理核心</a:t>
            </a:r>
          </a:p>
        </p:txBody>
      </p:sp>
    </p:spTree>
    <p:extLst>
      <p:ext uri="{BB962C8B-B14F-4D97-AF65-F5344CB8AC3E}">
        <p14:creationId xmlns:p14="http://schemas.microsoft.com/office/powerpoint/2010/main" val="345126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E8B9-ACB2-A8F5-4017-7790C1CE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05F95-BE10-FD7D-B674-57EC0C8F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数据配置详解（</a:t>
            </a:r>
            <a:r>
              <a:rPr lang="en-US" altLang="zh-CN" dirty="0"/>
              <a:t>2/4</a:t>
            </a:r>
            <a:r>
              <a:rPr lang="zh-CN" altLang="en-US" dirty="0"/>
              <a:t>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92C7CAA-2342-DFD4-E6A3-BDFF687B70DF}"/>
              </a:ext>
            </a:extLst>
          </p:cNvPr>
          <p:cNvSpPr txBox="1">
            <a:spLocks/>
          </p:cNvSpPr>
          <p:nvPr/>
        </p:nvSpPr>
        <p:spPr>
          <a:xfrm>
            <a:off x="838201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、</a:t>
            </a:r>
            <a:r>
              <a:rPr lang="en-US" altLang="zh-CN" sz="2400" dirty="0"/>
              <a:t>transforms </a:t>
            </a:r>
            <a:r>
              <a:rPr lang="zh-CN" altLang="en-US" sz="2400" dirty="0"/>
              <a:t>数据处理工具（核心功能）</a:t>
            </a:r>
            <a:endParaRPr lang="en-US" altLang="zh-CN" sz="2400" dirty="0"/>
          </a:p>
          <a:p>
            <a:pPr marL="457177" lvl="1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/>
              <a:t>定义</a:t>
            </a:r>
            <a:r>
              <a:rPr lang="zh-CN" altLang="en-US" sz="2000" dirty="0"/>
              <a:t>：图表渲染前对数据进行转换的内置工具</a:t>
            </a:r>
            <a:endParaRPr lang="en-US" altLang="zh-CN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/>
              <a:t>常用场景</a:t>
            </a:r>
            <a:r>
              <a:rPr lang="zh-CN" altLang="en-US" sz="2000" dirty="0"/>
              <a:t>：数据展平、过滤、排序、计算新字段</a:t>
            </a:r>
            <a:endParaRPr lang="en-US" altLang="zh-CN" sz="2000" b="1" kern="100" spc="100" dirty="0">
              <a:solidFill>
                <a:srgbClr val="404E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177" lvl="1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779128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34414-6A3E-A52A-9A4B-44006412E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DC24A-76E3-9677-2AFC-0F5028F0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数据配置详解（</a:t>
            </a:r>
            <a:r>
              <a:rPr lang="en-US" altLang="zh-CN" dirty="0"/>
              <a:t>3/4</a:t>
            </a:r>
            <a:r>
              <a:rPr lang="zh-CN" altLang="en-US" dirty="0"/>
              <a:t>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5077C4F-18EA-2754-257D-821199881D09}"/>
              </a:ext>
            </a:extLst>
          </p:cNvPr>
          <p:cNvSpPr txBox="1">
            <a:spLocks/>
          </p:cNvSpPr>
          <p:nvPr/>
        </p:nvSpPr>
        <p:spPr>
          <a:xfrm>
            <a:off x="838201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en-US" altLang="zh-CN" sz="2400" dirty="0"/>
              <a:t>6</a:t>
            </a:r>
            <a:r>
              <a:rPr lang="zh-CN" altLang="en-US" sz="2400" dirty="0"/>
              <a:t>、基于原始数据生成新数据</a:t>
            </a:r>
            <a:endParaRPr lang="en-US" altLang="zh-CN" sz="2400" dirty="0"/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400" dirty="0"/>
              <a:t>核心配置项：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000" dirty="0" err="1"/>
              <a:t>fromDataIndex</a:t>
            </a:r>
            <a:r>
              <a:rPr lang="zh-CN" altLang="en-US" sz="2000" dirty="0"/>
              <a:t>：原始数据在 </a:t>
            </a:r>
            <a:r>
              <a:rPr lang="en-US" altLang="zh-CN" sz="2000" dirty="0"/>
              <a:t>data </a:t>
            </a:r>
            <a:r>
              <a:rPr lang="zh-CN" altLang="en-US" sz="2000" dirty="0"/>
              <a:t>数组中的索引 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 err="1"/>
              <a:t>fromDataId</a:t>
            </a:r>
            <a:r>
              <a:rPr lang="zh-CN" altLang="en-US" sz="2000" dirty="0"/>
              <a:t>：原始数据的 </a:t>
            </a:r>
            <a:r>
              <a:rPr lang="en-US" altLang="zh-CN" sz="2000" dirty="0"/>
              <a:t>id</a:t>
            </a:r>
            <a:r>
              <a:rPr lang="zh-CN" altLang="en-US" sz="2000" dirty="0"/>
              <a:t>（优先级高于 </a:t>
            </a:r>
            <a:r>
              <a:rPr lang="en-US" altLang="zh-CN" sz="2000" dirty="0" err="1"/>
              <a:t>fromDataIndex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endParaRPr lang="en-US" altLang="zh-CN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altLang="zh-CN" sz="2000" b="1" dirty="0"/>
              <a:t>       </a:t>
            </a:r>
            <a:r>
              <a:rPr lang="zh-CN" altLang="en-US" sz="2400" b="1" dirty="0"/>
              <a:t>规则：配置后 </a:t>
            </a:r>
            <a:r>
              <a:rPr lang="en-US" altLang="zh-CN" sz="2400" b="1" dirty="0"/>
              <a:t>values</a:t>
            </a:r>
            <a:r>
              <a:rPr lang="zh-CN" altLang="en-US" sz="2400" b="1" dirty="0"/>
              <a:t>失效，新数据源自依赖的原始数据 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956400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0BB6F-8B86-CB88-DB90-B791B821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0C5CA-EE8B-37B7-D848-D6C71C80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实践案例：数据展平 </a:t>
            </a:r>
            <a:r>
              <a:rPr lang="en-US" altLang="zh-CN" dirty="0"/>
              <a:t>+ </a:t>
            </a:r>
            <a:r>
              <a:rPr lang="zh-CN" altLang="en-US" dirty="0"/>
              <a:t>分组柱状图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DDA0773-86C2-9656-F0E3-61402D126D0F}"/>
              </a:ext>
            </a:extLst>
          </p:cNvPr>
          <p:cNvSpPr txBox="1">
            <a:spLocks/>
          </p:cNvSpPr>
          <p:nvPr/>
        </p:nvSpPr>
        <p:spPr>
          <a:xfrm>
            <a:off x="838201" y="125333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400" b="1" dirty="0"/>
              <a:t>需求：</a:t>
            </a:r>
            <a:r>
              <a:rPr lang="zh-CN" altLang="en-US" sz="2400" dirty="0"/>
              <a:t>将非展平数据转换为分组柱状图 </a:t>
            </a:r>
            <a:endParaRPr lang="en-US" altLang="zh-CN" sz="2400" dirty="0"/>
          </a:p>
          <a:p>
            <a:pPr marL="457177" lvl="1" indent="0">
              <a:lnSpc>
                <a:spcPct val="150000"/>
              </a:lnSpc>
              <a:buNone/>
            </a:pPr>
            <a:r>
              <a:rPr lang="zh-CN" altLang="en-US" sz="2400" b="1" dirty="0"/>
              <a:t>效果：</a:t>
            </a:r>
            <a:r>
              <a:rPr lang="en-US" altLang="zh-CN" sz="2400" dirty="0"/>
              <a:t>4 </a:t>
            </a:r>
            <a:r>
              <a:rPr lang="zh-CN" altLang="en-US" sz="2400" dirty="0"/>
              <a:t>条展平数据对应 </a:t>
            </a:r>
            <a:r>
              <a:rPr lang="en-US" altLang="zh-CN" sz="2400" dirty="0"/>
              <a:t>4 </a:t>
            </a:r>
            <a:r>
              <a:rPr lang="zh-CN" altLang="en-US" sz="2400" dirty="0"/>
              <a:t>个柱子，自动分组展示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228592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D317-E21F-128D-E15A-7A321E1A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785BA-E9D3-190A-037F-F75044D7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0D448D8-E89C-3A3B-E4B8-1698F97238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4400" dirty="0"/>
              <a:t>核心知识点：</a:t>
            </a:r>
            <a:endParaRPr lang="en-US" altLang="zh-CN" sz="4400" dirty="0"/>
          </a:p>
          <a:p>
            <a:pPr marL="1200127" lvl="1" indent="-742950">
              <a:lnSpc>
                <a:spcPct val="170000"/>
              </a:lnSpc>
              <a:buFont typeface="+mj-lt"/>
              <a:buAutoNum type="arabicPeriod"/>
            </a:pPr>
            <a:r>
              <a:rPr lang="zh-CN" altLang="en-US" sz="3600" b="1" dirty="0"/>
              <a:t>三种数据类型</a:t>
            </a:r>
            <a:r>
              <a:rPr lang="zh-CN" altLang="en-US" sz="3600" dirty="0"/>
              <a:t>：展平数据（推荐）、</a:t>
            </a:r>
            <a:r>
              <a:rPr lang="en-US" altLang="zh-CN" sz="3600" dirty="0"/>
              <a:t>CSV </a:t>
            </a:r>
            <a:r>
              <a:rPr lang="zh-CN" altLang="en-US" sz="3600" dirty="0"/>
              <a:t>数据、树形数据 </a:t>
            </a:r>
            <a:endParaRPr lang="en-US" altLang="zh-CN" sz="3600" dirty="0"/>
          </a:p>
          <a:p>
            <a:pPr marL="1200127" lvl="1" indent="-742950">
              <a:lnSpc>
                <a:spcPct val="170000"/>
              </a:lnSpc>
              <a:buFont typeface="+mj-lt"/>
              <a:buAutoNum type="arabicPeriod"/>
            </a:pPr>
            <a:r>
              <a:rPr lang="zh-CN" altLang="en-US" sz="3600" b="1" dirty="0"/>
              <a:t>展平数据优势</a:t>
            </a:r>
            <a:r>
              <a:rPr lang="zh-CN" altLang="en-US" sz="3600" dirty="0"/>
              <a:t>：数据与图形一对一映射，灵活适配多图表类型 </a:t>
            </a:r>
            <a:endParaRPr lang="en-US" altLang="zh-CN" sz="3600" dirty="0"/>
          </a:p>
          <a:p>
            <a:pPr marL="1200127" lvl="1" indent="-742950">
              <a:lnSpc>
                <a:spcPct val="170000"/>
              </a:lnSpc>
              <a:buFont typeface="+mj-lt"/>
              <a:buAutoNum type="arabicPeriod"/>
            </a:pPr>
            <a:r>
              <a:rPr lang="en-US" altLang="zh-CN" sz="3600" b="1" dirty="0"/>
              <a:t>transforms </a:t>
            </a:r>
            <a:r>
              <a:rPr lang="zh-CN" altLang="en-US" sz="3600" b="1" dirty="0"/>
              <a:t>能力</a:t>
            </a:r>
            <a:r>
              <a:rPr lang="zh-CN" altLang="en-US" sz="3600" dirty="0"/>
              <a:t>：支持 </a:t>
            </a:r>
            <a:r>
              <a:rPr lang="en-US" altLang="zh-CN" sz="3600" dirty="0"/>
              <a:t>fold</a:t>
            </a:r>
            <a:r>
              <a:rPr lang="zh-CN" altLang="en-US" sz="3600" dirty="0"/>
              <a:t>（展平）、</a:t>
            </a:r>
            <a:r>
              <a:rPr lang="en-US" altLang="zh-CN" sz="3600" dirty="0"/>
              <a:t>filter</a:t>
            </a:r>
            <a:r>
              <a:rPr lang="zh-CN" altLang="en-US" sz="3600" dirty="0"/>
              <a:t>（过滤）等数据转换 </a:t>
            </a:r>
            <a:endParaRPr lang="en-US" altLang="zh-CN" sz="3600" dirty="0"/>
          </a:p>
          <a:p>
            <a:pPr marL="1200127" lvl="1" indent="-742950">
              <a:lnSpc>
                <a:spcPct val="170000"/>
              </a:lnSpc>
              <a:buFont typeface="+mj-lt"/>
              <a:buAutoNum type="arabicPeriod"/>
            </a:pPr>
            <a:r>
              <a:rPr lang="zh-CN" altLang="en-US" sz="3600" b="1" dirty="0"/>
              <a:t>数据复用</a:t>
            </a:r>
            <a:r>
              <a:rPr lang="zh-CN" altLang="en-US" sz="3600" dirty="0"/>
              <a:t>：通过 </a:t>
            </a:r>
            <a:r>
              <a:rPr lang="en-US" altLang="zh-CN" sz="3600" dirty="0" err="1"/>
              <a:t>fromDataId</a:t>
            </a:r>
            <a:r>
              <a:rPr lang="en-US" altLang="zh-CN" sz="3600" dirty="0"/>
              <a:t>/</a:t>
            </a:r>
            <a:r>
              <a:rPr lang="en-US" altLang="zh-CN" sz="3600" dirty="0" err="1"/>
              <a:t>fromDataIndex</a:t>
            </a:r>
            <a:r>
              <a:rPr lang="en-US" altLang="zh-CN" sz="3600" dirty="0"/>
              <a:t> </a:t>
            </a:r>
            <a:r>
              <a:rPr lang="zh-CN" altLang="en-US" sz="3600" dirty="0"/>
              <a:t>基于原始数据生成新数据 </a:t>
            </a:r>
            <a:endParaRPr lang="en-US" altLang="zh-CN" sz="3600" dirty="0"/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4400" dirty="0"/>
              <a:t>关键原则： </a:t>
            </a:r>
            <a:endParaRPr lang="en-US" altLang="zh-CN" sz="4400" dirty="0"/>
          </a:p>
          <a:p>
            <a:pPr marL="457177" lvl="1" indent="0">
              <a:lnSpc>
                <a:spcPct val="170000"/>
              </a:lnSpc>
              <a:buNone/>
            </a:pPr>
            <a:r>
              <a:rPr lang="zh-CN" altLang="en-US" sz="4400" dirty="0"/>
              <a:t>正确准备和处理数据是创建高质量图表的前提</a:t>
            </a:r>
            <a:endParaRPr lang="zh-CN" altLang="en-US" sz="3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278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557</Words>
  <Application>Microsoft Office PowerPoint</Application>
  <PresentationFormat>宽屏</PresentationFormat>
  <Paragraphs>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微软雅黑</vt:lpstr>
      <vt:lpstr>Arial</vt:lpstr>
      <vt:lpstr>Impact</vt:lpstr>
      <vt:lpstr>1_Office 主题​​</vt:lpstr>
      <vt:lpstr>5_OfficePLUS-V2-ee79b56c-44bf-4999-8350-9727f0739207</vt:lpstr>
      <vt:lpstr>OfficePLUS-V2-ee79b56c-44bf-4999-8350-9727f0739207</vt:lpstr>
      <vt:lpstr>PowerPoint 演示文稿</vt:lpstr>
      <vt:lpstr>课程引言</vt:lpstr>
      <vt:lpstr>VChart 支持的数据类型（1/3） </vt:lpstr>
      <vt:lpstr>VChart 支持的数据类型（2/3） </vt:lpstr>
      <vt:lpstr>VChart 支持的数据类型（3/3）</vt:lpstr>
      <vt:lpstr>数据配置详解（1/4）</vt:lpstr>
      <vt:lpstr>数据配置详解（2/4）</vt:lpstr>
      <vt:lpstr>数据配置详解（3/4）</vt:lpstr>
      <vt:lpstr>实践案例：数据展平 + 分组柱状图</vt:lpstr>
      <vt:lpstr>重点总结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yabao guo</cp:lastModifiedBy>
  <cp:revision>79</cp:revision>
  <dcterms:created xsi:type="dcterms:W3CDTF">2025-10-28T10:07:16Z</dcterms:created>
  <dcterms:modified xsi:type="dcterms:W3CDTF">2025-11-21T13:50:32Z</dcterms:modified>
</cp:coreProperties>
</file>