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4" r:id="rId2"/>
    <p:sldMasterId id="2147483736" r:id="rId3"/>
  </p:sldMasterIdLst>
  <p:notesMasterIdLst>
    <p:notesMasterId r:id="rId17"/>
  </p:notesMasterIdLst>
  <p:sldIdLst>
    <p:sldId id="262" r:id="rId4"/>
    <p:sldId id="287" r:id="rId5"/>
    <p:sldId id="276" r:id="rId6"/>
    <p:sldId id="288" r:id="rId7"/>
    <p:sldId id="285" r:id="rId8"/>
    <p:sldId id="286" r:id="rId9"/>
    <p:sldId id="289" r:id="rId10"/>
    <p:sldId id="290" r:id="rId11"/>
    <p:sldId id="291" r:id="rId12"/>
    <p:sldId id="292" r:id="rId13"/>
    <p:sldId id="284" r:id="rId14"/>
    <p:sldId id="283" r:id="rId15"/>
    <p:sldId id="26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5817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85215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99068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3834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778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56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604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23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visactor.com/vchart/demo/axis/symlog-axi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336" y="49524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670335" y="3762511"/>
            <a:ext cx="5579403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dirty="0"/>
              <a:t>标题和坐标轴配置</a:t>
            </a:r>
          </a:p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AD386-27D6-961E-46F3-B4C25B748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09540-9754-82C7-2DB2-4AFC019D6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60D255D-A4A7-B24E-3BFA-BEAEBEC4C8C6}"/>
              </a:ext>
            </a:extLst>
          </p:cNvPr>
          <p:cNvSpPr txBox="1">
            <a:spLocks/>
          </p:cNvSpPr>
          <p:nvPr/>
        </p:nvSpPr>
        <p:spPr>
          <a:xfrm>
            <a:off x="669923" y="1364327"/>
            <a:ext cx="10850563" cy="5198029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077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 dirty="0"/>
              <a:t>Title</a:t>
            </a:r>
            <a:r>
              <a:rPr lang="zh-CN" altLang="en-US" sz="2000" dirty="0"/>
              <a:t>标题组件基础</a:t>
            </a:r>
            <a:endParaRPr lang="en-US" altLang="zh-CN" sz="2000" dirty="0">
              <a:latin typeface="+mn-ea"/>
            </a:endParaRPr>
          </a:p>
          <a:p>
            <a:pPr marL="800077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 dirty="0"/>
              <a:t>Title</a:t>
            </a:r>
            <a:r>
              <a:rPr lang="zh-CN" altLang="en-US" sz="2000" dirty="0"/>
              <a:t>标题布局与位置调整</a:t>
            </a:r>
            <a:endParaRPr lang="en-US" altLang="zh-CN" sz="2000" dirty="0">
              <a:latin typeface="+mn-ea"/>
            </a:endParaRPr>
          </a:p>
          <a:p>
            <a:pPr marL="800077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 dirty="0"/>
              <a:t>Title</a:t>
            </a:r>
            <a:r>
              <a:rPr lang="zh-CN" altLang="en-US" sz="2000" dirty="0"/>
              <a:t>标题样式控制</a:t>
            </a:r>
          </a:p>
          <a:p>
            <a:pPr marL="800077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dirty="0"/>
              <a:t>坐标轴组成和类型</a:t>
            </a:r>
            <a:endParaRPr lang="en-US" altLang="zh-CN" sz="2000" dirty="0"/>
          </a:p>
          <a:p>
            <a:pPr marL="800077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dirty="0"/>
              <a:t>坐标轴样式与高级配置</a:t>
            </a:r>
            <a:endParaRPr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88399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4555E-BE60-F3B1-D80C-8C615FDB6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23574-8FB0-DBC7-26A5-65CED086E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坐标轴组成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90FA1D6-E7C1-4CD4-AAB6-9B752AE44C19}"/>
              </a:ext>
            </a:extLst>
          </p:cNvPr>
          <p:cNvSpPr txBox="1">
            <a:spLocks/>
          </p:cNvSpPr>
          <p:nvPr/>
        </p:nvSpPr>
        <p:spPr>
          <a:xfrm>
            <a:off x="669923" y="1364327"/>
            <a:ext cx="10850563" cy="5198029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  <a:p>
            <a:r>
              <a:rPr lang="zh-CN" altLang="en-US" dirty="0"/>
              <a:t>轴标题 </a:t>
            </a:r>
            <a:r>
              <a:rPr lang="en-US" altLang="zh-CN" dirty="0"/>
              <a:t>title</a:t>
            </a:r>
          </a:p>
          <a:p>
            <a:r>
              <a:rPr lang="zh-CN" altLang="en-US" dirty="0"/>
              <a:t>轴线 </a:t>
            </a:r>
            <a:r>
              <a:rPr lang="en-US" altLang="zh-CN" dirty="0" err="1"/>
              <a:t>domainLine</a:t>
            </a:r>
            <a:endParaRPr lang="en-US" altLang="zh-CN" dirty="0"/>
          </a:p>
          <a:p>
            <a:r>
              <a:rPr lang="zh-CN" altLang="en-US" dirty="0"/>
              <a:t>轴刻度（包含子刻度线）</a:t>
            </a:r>
            <a:r>
              <a:rPr lang="en-US" altLang="zh-CN" dirty="0"/>
              <a:t>tick &amp; </a:t>
            </a:r>
            <a:r>
              <a:rPr lang="en-US" altLang="zh-CN" dirty="0" err="1"/>
              <a:t>subTick</a:t>
            </a:r>
            <a:endParaRPr lang="en-US" altLang="zh-CN" dirty="0"/>
          </a:p>
          <a:p>
            <a:r>
              <a:rPr lang="zh-CN" altLang="en-US" dirty="0"/>
              <a:t>轴标签 </a:t>
            </a:r>
            <a:r>
              <a:rPr lang="en-US" altLang="zh-CN" dirty="0"/>
              <a:t>label</a:t>
            </a:r>
          </a:p>
          <a:p>
            <a:r>
              <a:rPr lang="zh-CN" altLang="en-US" dirty="0"/>
              <a:t>网格线（包含子网格线） </a:t>
            </a:r>
            <a:r>
              <a:rPr lang="en-US" altLang="zh-CN" dirty="0"/>
              <a:t>grid &amp; </a:t>
            </a:r>
            <a:r>
              <a:rPr lang="en-US" altLang="zh-CN" dirty="0" err="1"/>
              <a:t>subGrid</a:t>
            </a:r>
            <a:endParaRPr lang="en-US" altLang="zh-CN" dirty="0"/>
          </a:p>
          <a:p>
            <a:pPr marL="0" indent="0">
              <a:buNone/>
            </a:pPr>
            <a:endParaRPr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49462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AC9AB-B8D9-1572-9509-4BADF6BAE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0957B0-E02D-D996-451B-7FC9D121F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坐标轴类型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4135634-006F-CB1F-4973-72BF8463973E}"/>
              </a:ext>
            </a:extLst>
          </p:cNvPr>
          <p:cNvSpPr txBox="1">
            <a:spLocks/>
          </p:cNvSpPr>
          <p:nvPr/>
        </p:nvSpPr>
        <p:spPr>
          <a:xfrm>
            <a:off x="669923" y="1364327"/>
            <a:ext cx="10850563" cy="5198029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线性轴（</a:t>
            </a:r>
            <a:r>
              <a:rPr lang="en-US" altLang="zh-CN" dirty="0"/>
              <a:t>type: 'linear'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离散轴（</a:t>
            </a:r>
            <a:r>
              <a:rPr lang="en-US" altLang="zh-CN" dirty="0"/>
              <a:t>type: 'band'</a:t>
            </a:r>
            <a:r>
              <a:rPr lang="zh-CN" altLang="en-US" dirty="0"/>
              <a:t>）；</a:t>
            </a:r>
          </a:p>
          <a:p>
            <a:r>
              <a:rPr lang="zh-CN" altLang="en-US" dirty="0"/>
              <a:t>时间轴（</a:t>
            </a:r>
            <a:r>
              <a:rPr lang="en-US" altLang="zh-CN" dirty="0"/>
              <a:t>type: 'time'</a:t>
            </a:r>
            <a:r>
              <a:rPr lang="zh-CN" altLang="en-US" dirty="0"/>
              <a:t>）。</a:t>
            </a:r>
          </a:p>
          <a:p>
            <a:r>
              <a:rPr lang="en-US" altLang="zh-CN" dirty="0"/>
              <a:t>log </a:t>
            </a:r>
            <a:r>
              <a:rPr lang="zh-CN" altLang="en-US" dirty="0"/>
              <a:t>轴（</a:t>
            </a:r>
            <a:r>
              <a:rPr lang="en-US" altLang="zh-CN" dirty="0"/>
              <a:t>type: 'log'</a:t>
            </a:r>
            <a:r>
              <a:rPr lang="zh-CN" altLang="en-US" dirty="0"/>
              <a:t>），</a:t>
            </a:r>
          </a:p>
          <a:p>
            <a:r>
              <a:rPr lang="en-US" altLang="zh-CN" dirty="0" err="1"/>
              <a:t>symlog</a:t>
            </a:r>
            <a:r>
              <a:rPr lang="en-US" altLang="zh-CN" dirty="0"/>
              <a:t> </a:t>
            </a:r>
            <a:r>
              <a:rPr lang="zh-CN" altLang="en-US" dirty="0"/>
              <a:t>轴（</a:t>
            </a:r>
            <a:r>
              <a:rPr lang="en-US" altLang="zh-CN" dirty="0"/>
              <a:t>type: '</a:t>
            </a:r>
            <a:r>
              <a:rPr lang="en-US" altLang="zh-CN" dirty="0" err="1"/>
              <a:t>symlog</a:t>
            </a:r>
            <a:r>
              <a:rPr lang="en-US" altLang="zh-CN" dirty="0"/>
              <a:t>'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379894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9131F-7523-D0FC-F6B2-96900B292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41215-CF98-63C2-640B-8E28C722E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直角坐标系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坐标轴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6FA3A0B-95F9-F973-D989-75E307A1C103}"/>
              </a:ext>
            </a:extLst>
          </p:cNvPr>
          <p:cNvSpPr txBox="1">
            <a:spLocks/>
          </p:cNvSpPr>
          <p:nvPr/>
        </p:nvSpPr>
        <p:spPr>
          <a:xfrm>
            <a:off x="669923" y="1364327"/>
            <a:ext cx="10850563" cy="5198029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endParaRPr lang="zh-CN" altLang="en-US" sz="20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B83CF6-CAF1-0623-ABC9-ECD417684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1" y="1594901"/>
            <a:ext cx="9897064" cy="50972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A88F608-843A-6E26-F73F-6535A9D20BE9}"/>
              </a:ext>
            </a:extLst>
          </p:cNvPr>
          <p:cNvSpPr txBox="1"/>
          <p:nvPr/>
        </p:nvSpPr>
        <p:spPr>
          <a:xfrm>
            <a:off x="500184" y="1139823"/>
            <a:ext cx="110203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X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轴默认为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'band'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类型，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Y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轴为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'linear'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类型。当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direction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为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'horizontal'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时，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X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默认为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'linear'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类型，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Y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轴默认为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'band'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 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类型。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7726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E1CE2-487E-06F1-E2A6-3785DF400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C6D04-4300-A887-FD26-796857299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极坐标系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坐标轴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9DA4F60-5AA7-070F-1CDE-8BB89FE03A6E}"/>
              </a:ext>
            </a:extLst>
          </p:cNvPr>
          <p:cNvSpPr txBox="1">
            <a:spLocks/>
          </p:cNvSpPr>
          <p:nvPr/>
        </p:nvSpPr>
        <p:spPr>
          <a:xfrm>
            <a:off x="669923" y="1364327"/>
            <a:ext cx="10850563" cy="5198029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endParaRPr lang="zh-CN" altLang="en-US" sz="2000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1452F1-0E11-5883-6E29-EE6536716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07" y="1248814"/>
            <a:ext cx="6786805" cy="560918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5859FAA-39CE-BB73-5FDB-077F361CCD8D}"/>
              </a:ext>
            </a:extLst>
          </p:cNvPr>
          <p:cNvSpPr txBox="1"/>
          <p:nvPr/>
        </p:nvSpPr>
        <p:spPr>
          <a:xfrm>
            <a:off x="7163492" y="1364327"/>
            <a:ext cx="4233257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在极坐标系下，半径轴默认为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'linear'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 类型，角度轴默认为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'band'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 类型。</a:t>
            </a:r>
          </a:p>
          <a:p>
            <a:pPr>
              <a:buNone/>
            </a:pPr>
            <a:br>
              <a:rPr lang="zh-CN" altLang="en-US" b="0" i="0" dirty="0">
                <a:solidFill>
                  <a:srgbClr val="24292F"/>
                </a:solidFill>
                <a:effectLst/>
                <a:latin typeface="Menlo"/>
              </a:rPr>
            </a:b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9EE297-41AC-30E6-0CC1-8967D9B70792}"/>
              </a:ext>
            </a:extLst>
          </p:cNvPr>
          <p:cNvSpPr txBox="1"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, </a:t>
            </a:r>
            <a:r>
              <a:rPr lang="zh-CN" altLang="en-US" dirty="0"/>
              <a:t>与 </a:t>
            </a:r>
            <a:r>
              <a:rPr lang="en-US" altLang="zh-CN" dirty="0"/>
              <a:t>log </a:t>
            </a:r>
            <a:r>
              <a:rPr lang="zh-CN" altLang="en-US" dirty="0"/>
              <a:t>轴不同的是，</a:t>
            </a:r>
            <a:r>
              <a:rPr lang="en-US" altLang="zh-CN" dirty="0" err="1"/>
              <a:t>symlog</a:t>
            </a:r>
            <a:r>
              <a:rPr lang="en-US" altLang="zh-CN" dirty="0"/>
              <a:t> </a:t>
            </a:r>
            <a:r>
              <a:rPr lang="zh-CN" altLang="en-US" dirty="0"/>
              <a:t>可以支持负数的情况，具体的使用可以查看 </a:t>
            </a:r>
            <a:r>
              <a:rPr lang="en-US" altLang="zh-CN" dirty="0" err="1">
                <a:hlinkClick r:id="rId3"/>
              </a:rPr>
              <a:t>symlog</a:t>
            </a:r>
            <a:r>
              <a:rPr lang="en-US" altLang="zh-CN" dirty="0">
                <a:hlinkClick r:id="rId3"/>
              </a:rPr>
              <a:t> </a:t>
            </a:r>
            <a:r>
              <a:rPr lang="zh-CN" altLang="en-US" dirty="0">
                <a:hlinkClick r:id="rId3"/>
              </a:rPr>
              <a:t>轴 </a:t>
            </a:r>
            <a:r>
              <a:rPr lang="en-US" altLang="zh-CN" dirty="0">
                <a:hlinkClick r:id="rId3"/>
              </a:rPr>
              <a:t>demo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6517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25A10-E799-5ACD-95F2-91059EAC6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1B0B23-0C28-98B5-7F4F-A39A410EC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718" y="340823"/>
            <a:ext cx="10850563" cy="1028699"/>
          </a:xfrm>
        </p:spPr>
        <p:txBody>
          <a:bodyPr>
            <a:normAutofit/>
          </a:bodyPr>
          <a:lstStyle/>
          <a:p>
            <a:r>
              <a:rPr lang="zh-CN" altLang="en-US" dirty="0"/>
              <a:t>轴范围配置</a:t>
            </a:r>
            <a:br>
              <a:rPr lang="zh-CN" altLang="en-US" dirty="0"/>
            </a:b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61DBB52-A33B-19CA-3BA2-7096C3594DB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70000"/>
              </a:lnSpc>
              <a:buNone/>
            </a:pPr>
            <a:r>
              <a:rPr lang="en-US" altLang="zh-CN" dirty="0"/>
              <a:t>1</a:t>
            </a:r>
            <a:r>
              <a:rPr lang="zh-CN" altLang="en-US" dirty="0"/>
              <a:t>、线性轴（</a:t>
            </a:r>
            <a:r>
              <a:rPr lang="en-US" altLang="zh-CN" dirty="0"/>
              <a:t>type: 'linear'/'time'/'log'/'</a:t>
            </a:r>
            <a:r>
              <a:rPr lang="en-US" altLang="zh-CN" dirty="0" err="1"/>
              <a:t>symlog</a:t>
            </a:r>
            <a:r>
              <a:rPr lang="en-US" altLang="zh-CN" dirty="0"/>
              <a:t>’</a:t>
            </a:r>
            <a:r>
              <a:rPr lang="zh-CN" altLang="en-US" dirty="0"/>
              <a:t>）</a:t>
            </a:r>
            <a:endParaRPr lang="en-US" altLang="zh-CN" dirty="0"/>
          </a:p>
          <a:p>
            <a:pPr marL="457177" lvl="1" indent="0">
              <a:lnSpc>
                <a:spcPct val="170000"/>
              </a:lnSpc>
              <a:buNone/>
            </a:pPr>
            <a:r>
              <a:rPr lang="en-US" altLang="zh-CN" dirty="0"/>
              <a:t>min</a:t>
            </a:r>
            <a:r>
              <a:rPr lang="zh-CN" altLang="en-US" dirty="0"/>
              <a:t>、</a:t>
            </a:r>
            <a:r>
              <a:rPr lang="en-US" altLang="zh-CN" dirty="0"/>
              <a:t>max</a:t>
            </a:r>
            <a:r>
              <a:rPr lang="zh-CN" altLang="en-US" dirty="0"/>
              <a:t>、</a:t>
            </a:r>
            <a:r>
              <a:rPr lang="en-US" altLang="zh-CN" dirty="0"/>
              <a:t>nice</a:t>
            </a:r>
            <a:r>
              <a:rPr lang="zh-CN" altLang="en-US" dirty="0"/>
              <a:t>、</a:t>
            </a:r>
            <a:r>
              <a:rPr lang="en-US" altLang="zh-CN" dirty="0" err="1"/>
              <a:t>niceType</a:t>
            </a:r>
            <a:r>
              <a:rPr lang="zh-CN" altLang="en-US" dirty="0"/>
              <a:t>、</a:t>
            </a:r>
            <a:r>
              <a:rPr lang="en-US" altLang="zh-CN" dirty="0"/>
              <a:t>zero</a:t>
            </a:r>
            <a:r>
              <a:rPr lang="zh-CN" altLang="en-US" dirty="0"/>
              <a:t>、</a:t>
            </a:r>
            <a:r>
              <a:rPr lang="en-US" altLang="zh-CN" dirty="0"/>
              <a:t>expand</a:t>
            </a:r>
          </a:p>
          <a:p>
            <a:pPr marL="0" indent="0">
              <a:buNone/>
            </a:pPr>
            <a:r>
              <a:rPr lang="zh-CN" altLang="en-US" sz="1600" dirty="0"/>
              <a:t>        </a:t>
            </a:r>
            <a:r>
              <a:rPr lang="en-US" altLang="zh-CN" sz="1600" dirty="0"/>
              <a:t>2</a:t>
            </a:r>
            <a:r>
              <a:rPr lang="zh-CN" altLang="en-US" sz="1600" dirty="0"/>
              <a:t>、 离散轴（</a:t>
            </a:r>
            <a:r>
              <a:rPr lang="en-US" altLang="zh-CN" sz="1600" dirty="0"/>
              <a:t>type: 'band'</a:t>
            </a:r>
            <a:r>
              <a:rPr lang="zh-CN" altLang="en-US" sz="1600" dirty="0"/>
              <a:t>）</a:t>
            </a:r>
            <a:r>
              <a:rPr lang="en-US" altLang="zh-CN" sz="1600" dirty="0"/>
              <a:t>domain: </a:t>
            </a:r>
            <a:r>
              <a:rPr lang="zh-CN" altLang="en-US" sz="1600" dirty="0"/>
              <a:t>配置离散轴的数值范围</a:t>
            </a:r>
            <a:r>
              <a:rPr lang="zh-CN" altLang="en-US" dirty="0"/>
              <a:t>。</a:t>
            </a:r>
          </a:p>
          <a:p>
            <a:pPr marL="457177" lvl="1" indent="0">
              <a:lnSpc>
                <a:spcPct val="170000"/>
              </a:lnSpc>
              <a:buNone/>
            </a:pPr>
            <a:endParaRPr lang="zh-CN" altLang="en-US" sz="3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00391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2C963-F68D-BEFE-52D5-2213DEC14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AEA15-FDDE-E6DB-2EB7-4BED77C2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718" y="338668"/>
            <a:ext cx="10850563" cy="1028699"/>
          </a:xfrm>
        </p:spPr>
        <p:txBody>
          <a:bodyPr>
            <a:normAutofit/>
          </a:bodyPr>
          <a:lstStyle/>
          <a:p>
            <a:r>
              <a:rPr lang="zh-CN" altLang="en-US" dirty="0"/>
              <a:t>轴</a:t>
            </a:r>
            <a:r>
              <a:rPr lang="en-US" altLang="zh-CN" dirty="0"/>
              <a:t>tick</a:t>
            </a:r>
            <a:r>
              <a:rPr lang="zh-CN" altLang="en-US" dirty="0"/>
              <a:t>配置</a:t>
            </a:r>
            <a:br>
              <a:rPr lang="zh-CN" altLang="en-US" dirty="0"/>
            </a:b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17E4A26-6E87-D1AE-68AF-728E9C54C0D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/>
              <a:t>tickStep</a:t>
            </a:r>
            <a:r>
              <a:rPr lang="en-US" altLang="zh-CN" dirty="0"/>
              <a:t> tick </a:t>
            </a:r>
            <a:r>
              <a:rPr lang="zh-CN" altLang="en-US" dirty="0"/>
              <a:t>步长。</a:t>
            </a:r>
          </a:p>
          <a:p>
            <a:r>
              <a:rPr lang="en-US" altLang="zh-CN" dirty="0" err="1"/>
              <a:t>tickCount</a:t>
            </a:r>
            <a:r>
              <a:rPr lang="en-US" altLang="zh-CN" dirty="0"/>
              <a:t> </a:t>
            </a:r>
            <a:r>
              <a:rPr lang="zh-CN" altLang="en-US" dirty="0"/>
              <a:t>建议的 </a:t>
            </a:r>
            <a:r>
              <a:rPr lang="en-US" altLang="zh-CN" dirty="0"/>
              <a:t>tick </a:t>
            </a:r>
            <a:r>
              <a:rPr lang="zh-CN" altLang="en-US" dirty="0"/>
              <a:t>数量，并不保证结果一定是配置值。</a:t>
            </a:r>
          </a:p>
          <a:p>
            <a:r>
              <a:rPr lang="en-US" altLang="zh-CN" dirty="0" err="1"/>
              <a:t>forceTickCount</a:t>
            </a:r>
            <a:r>
              <a:rPr lang="en-US" altLang="zh-CN" dirty="0"/>
              <a:t> </a:t>
            </a:r>
            <a:r>
              <a:rPr lang="zh-CN" altLang="en-US" dirty="0"/>
              <a:t>强制设置的 </a:t>
            </a:r>
            <a:r>
              <a:rPr lang="en-US" altLang="zh-CN" dirty="0"/>
              <a:t>tick </a:t>
            </a:r>
            <a:r>
              <a:rPr lang="zh-CN" altLang="en-US" dirty="0"/>
              <a:t>数量，可以保证 </a:t>
            </a:r>
            <a:r>
              <a:rPr lang="en-US" altLang="zh-CN" dirty="0"/>
              <a:t>tick </a:t>
            </a:r>
            <a:r>
              <a:rPr lang="zh-CN" altLang="en-US" dirty="0"/>
              <a:t>的数量于设置的数值匹配，但是可能由于数据范围导致 </a:t>
            </a:r>
            <a:r>
              <a:rPr lang="en-US" altLang="zh-CN" dirty="0"/>
              <a:t>tick </a:t>
            </a:r>
            <a:r>
              <a:rPr lang="zh-CN" altLang="en-US" dirty="0"/>
              <a:t>值为小数。</a:t>
            </a:r>
          </a:p>
          <a:p>
            <a:r>
              <a:rPr lang="en-US" altLang="zh-CN" dirty="0" err="1"/>
              <a:t>tickMode</a:t>
            </a:r>
            <a:r>
              <a:rPr lang="en-US" altLang="zh-CN" dirty="0"/>
              <a:t> </a:t>
            </a:r>
            <a:r>
              <a:rPr lang="zh-CN" altLang="en-US" dirty="0"/>
              <a:t>连续轴 </a:t>
            </a:r>
            <a:r>
              <a:rPr lang="en-US" altLang="zh-CN" dirty="0"/>
              <a:t>tick </a:t>
            </a:r>
            <a:r>
              <a:rPr lang="zh-CN" altLang="en-US" dirty="0"/>
              <a:t>生成算法，自 </a:t>
            </a:r>
            <a:r>
              <a:rPr lang="en-US" altLang="zh-CN" dirty="0"/>
              <a:t>1.3.0</a:t>
            </a:r>
            <a:r>
              <a:rPr lang="zh-CN" altLang="en-US" dirty="0"/>
              <a:t>版本开始支持，仅当轴为线性轴时生效。</a:t>
            </a:r>
          </a:p>
          <a:p>
            <a:r>
              <a:rPr lang="en-US" altLang="zh-CN" dirty="0" err="1"/>
              <a:t>noDecimals</a:t>
            </a:r>
            <a:r>
              <a:rPr lang="en-US" altLang="zh-CN" dirty="0"/>
              <a:t> </a:t>
            </a:r>
            <a:r>
              <a:rPr lang="zh-CN" altLang="en-US" dirty="0"/>
              <a:t>是否避免小数 </a:t>
            </a:r>
            <a:r>
              <a:rPr lang="en-US" altLang="zh-CN" dirty="0"/>
              <a:t>tick</a:t>
            </a:r>
            <a:r>
              <a:rPr lang="zh-CN" altLang="en-US" dirty="0"/>
              <a:t>，自 </a:t>
            </a:r>
            <a:r>
              <a:rPr lang="en-US" altLang="zh-CN" dirty="0"/>
              <a:t>1.3.0</a:t>
            </a:r>
            <a:r>
              <a:rPr lang="zh-CN" altLang="en-US" dirty="0"/>
              <a:t> 版本开始支持，仅当轴为线性轴时生效。</a:t>
            </a:r>
          </a:p>
        </p:txBody>
      </p:sp>
    </p:spTree>
    <p:extLst>
      <p:ext uri="{BB962C8B-B14F-4D97-AF65-F5344CB8AC3E}">
        <p14:creationId xmlns:p14="http://schemas.microsoft.com/office/powerpoint/2010/main" val="4198040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A636D-1DCD-5D30-A838-5D4A959B9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04BC3-F01A-9A9A-6665-4EBC4FA03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190" y="829734"/>
            <a:ext cx="10850563" cy="512233"/>
          </a:xfrm>
        </p:spPr>
        <p:txBody>
          <a:bodyPr>
            <a:normAutofit fontScale="90000"/>
          </a:bodyPr>
          <a:lstStyle/>
          <a:p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轴标签布局配置</a:t>
            </a:r>
            <a:br>
              <a:rPr lang="zh-CN" altLang="en-US" dirty="0"/>
            </a:b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9FEE7B3-ABD6-6628-0FEF-AFCCED61A58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轴采样</a:t>
            </a:r>
          </a:p>
          <a:p>
            <a:r>
              <a:rPr lang="zh-CN" altLang="en-US" b="1"/>
              <a:t>标签布局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0244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4C254-0B3E-CEBE-538D-867C6B9BF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8F6C84-2CB8-7E6F-2C42-13D7D2683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绘制多个坐标轴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E304C7E-917B-F44B-32B5-D41B359757D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99392F-74B2-00A3-AE7D-655DAE281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1210"/>
            <a:ext cx="4657725" cy="34194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0A6E83A-F40E-CE69-3062-CB7E7A6C3476}"/>
              </a:ext>
            </a:extLst>
          </p:cNvPr>
          <p:cNvSpPr txBox="1"/>
          <p:nvPr/>
        </p:nvSpPr>
        <p:spPr>
          <a:xfrm>
            <a:off x="6453809" y="166125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b="1" i="0" dirty="0">
                <a:solidFill>
                  <a:srgbClr val="1A2233"/>
                </a:solidFill>
                <a:effectLst/>
                <a:latin typeface="-apple-system"/>
              </a:rPr>
              <a:t>1</a:t>
            </a:r>
            <a:r>
              <a:rPr lang="zh-CN" altLang="en-US" b="1" i="0" dirty="0">
                <a:solidFill>
                  <a:srgbClr val="1A2233"/>
                </a:solidFill>
                <a:effectLst/>
                <a:latin typeface="-apple-system"/>
              </a:rPr>
              <a:t>、轴与系列绑定</a:t>
            </a: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E344027-8C6A-807F-5C34-1ADE5F14FE2E}"/>
              </a:ext>
            </a:extLst>
          </p:cNvPr>
          <p:cNvSpPr txBox="1"/>
          <p:nvPr/>
        </p:nvSpPr>
        <p:spPr>
          <a:xfrm>
            <a:off x="6453809" y="2458176"/>
            <a:ext cx="62749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b="1" i="0" dirty="0">
                <a:solidFill>
                  <a:srgbClr val="1A2233"/>
                </a:solidFill>
                <a:effectLst/>
                <a:latin typeface="-apple-system"/>
              </a:rPr>
              <a:t>2</a:t>
            </a:r>
            <a:r>
              <a:rPr lang="zh-CN" altLang="en-US" b="1" i="0" dirty="0">
                <a:solidFill>
                  <a:srgbClr val="1A2233"/>
                </a:solidFill>
                <a:effectLst/>
                <a:latin typeface="-apple-system"/>
              </a:rPr>
              <a:t>、多轴同步</a:t>
            </a: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9545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2085-6C1E-0D15-1DC2-CA199408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277A5-6950-9361-2308-058A1A23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重点总结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D18CE36-D0B6-BE5D-D94C-E68C10F8B31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掌握</a:t>
            </a:r>
            <a:r>
              <a:rPr lang="en-US" altLang="zh-CN" dirty="0" err="1"/>
              <a:t>VChart</a:t>
            </a:r>
            <a:r>
              <a:rPr lang="zh-CN" altLang="en-US" dirty="0"/>
              <a:t>中</a:t>
            </a:r>
            <a:r>
              <a:rPr lang="en-US" altLang="zh-CN" dirty="0"/>
              <a:t>Title</a:t>
            </a:r>
            <a:r>
              <a:rPr lang="zh-CN" altLang="en-US" dirty="0"/>
              <a:t>标题组件和坐标轴的配置方法</a:t>
            </a:r>
            <a:endParaRPr lang="en-US" altLang="zh-CN" dirty="0"/>
          </a:p>
          <a:p>
            <a:r>
              <a:rPr lang="zh-CN" altLang="en-US"/>
              <a:t>坐标轴的基础</a:t>
            </a:r>
            <a:r>
              <a:rPr lang="zh-CN" altLang="en-US" dirty="0"/>
              <a:t>配置、布局调整、样式控制以及</a:t>
            </a:r>
            <a:r>
              <a:rPr lang="zh-CN" altLang="en-US"/>
              <a:t>高级配置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65752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502" y="1825625"/>
            <a:ext cx="2431473" cy="24967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027324" y="4428156"/>
            <a:ext cx="3174076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u="sng" dirty="0" err="1">
                <a:latin typeface="+mn-ea"/>
              </a:rPr>
              <a:t>微信</a:t>
            </a: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474</Words>
  <Application>Microsoft Office PowerPoint</Application>
  <PresentationFormat>宽屏</PresentationFormat>
  <Paragraphs>58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-apple-system</vt:lpstr>
      <vt:lpstr>Menlo</vt:lpstr>
      <vt:lpstr>Nunito for Arco</vt:lpstr>
      <vt:lpstr>ui-monospace</vt:lpstr>
      <vt:lpstr>等线</vt:lpstr>
      <vt:lpstr>Arial</vt:lpstr>
      <vt:lpstr>Impact</vt:lpstr>
      <vt:lpstr>1_Office 主题​​</vt:lpstr>
      <vt:lpstr>5_OfficePLUS-V2-ee79b56c-44bf-4999-8350-9727f0739207</vt:lpstr>
      <vt:lpstr>OfficePLUS-V2-ee79b56c-44bf-4999-8350-9727f0739207</vt:lpstr>
      <vt:lpstr>PowerPoint 演示文稿</vt:lpstr>
      <vt:lpstr>学习目标</vt:lpstr>
      <vt:lpstr>坐标轴组成</vt:lpstr>
      <vt:lpstr>坐标轴类型</vt:lpstr>
      <vt:lpstr>直角坐标系-坐标轴</vt:lpstr>
      <vt:lpstr>极坐标系-坐标轴</vt:lpstr>
      <vt:lpstr>轴范围配置 </vt:lpstr>
      <vt:lpstr>轴tick配置 </vt:lpstr>
      <vt:lpstr>  轴标签布局配置 </vt:lpstr>
      <vt:lpstr>绘制多个坐标轴</vt:lpstr>
      <vt:lpstr>重点总结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z ml</cp:lastModifiedBy>
  <cp:revision>103</cp:revision>
  <dcterms:created xsi:type="dcterms:W3CDTF">2025-10-28T10:07:16Z</dcterms:created>
  <dcterms:modified xsi:type="dcterms:W3CDTF">2025-12-06T13:33:01Z</dcterms:modified>
</cp:coreProperties>
</file>