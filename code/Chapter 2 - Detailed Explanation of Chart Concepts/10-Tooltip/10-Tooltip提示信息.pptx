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36" r:id="rId2"/>
  </p:sldMasterIdLst>
  <p:notesMasterIdLst>
    <p:notesMasterId r:id="rId15"/>
  </p:notesMasterIdLst>
  <p:sldIdLst>
    <p:sldId id="262" r:id="rId3"/>
    <p:sldId id="284" r:id="rId4"/>
    <p:sldId id="286" r:id="rId5"/>
    <p:sldId id="287" r:id="rId6"/>
    <p:sldId id="288" r:id="rId7"/>
    <p:sldId id="289" r:id="rId8"/>
    <p:sldId id="290" r:id="rId9"/>
    <p:sldId id="293" r:id="rId10"/>
    <p:sldId id="291" r:id="rId11"/>
    <p:sldId id="292" r:id="rId12"/>
    <p:sldId id="283" r:id="rId13"/>
    <p:sldId id="265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45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56D83-8A9A-44A3-8DF8-A2089DA75AD7}" type="datetimeFigureOut">
              <a:rPr lang="zh-CN" altLang="en-US" smtClean="0"/>
              <a:t>2025/12/26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CF908-1C26-48E2-87DA-1AF51B1E77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39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A074C-FC59-1687-EF38-E58D64A9D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5E2F59-0152-88EF-849C-6DDEE08A8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55B4D-E731-6FF6-ECA5-56801375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DA09C3-C7EA-BFC5-8E9D-A7FEDA452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C8C91-7EA7-3405-4F3E-6BB0C708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26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9F9D3-E97E-9A97-724B-7617CC6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9959AE-85FC-18D0-1C99-4B434B51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87162-02C5-AA26-372F-F080D16A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66A089-BFC7-961B-7A6F-F4579EFF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83054-F8C1-9D22-FEB6-A7D56CE7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40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C26E5-68DD-199A-C9DB-0DCB330E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131F37-860D-F188-71DD-C910534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F94C4-CAAB-641B-EDEF-E610923E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F86C9A-35CA-A3AA-D38A-BE842C29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063D8-7146-85BC-2C4F-4D1AC930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0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9DD69-D641-5506-6EAD-7547482F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25C0F0-9F27-F36B-C76C-D035B59C6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9DD2C5-C67F-899A-67FE-60393AA27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680EE8-C0A8-DF63-4E4F-AAEF5ED7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AE1E17-08B5-BA85-37A7-4D73A7A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ABAEA-8CDE-4BBA-7953-E0EAB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84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1C3F3-35FB-3EFD-E50F-E91969C72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08565-CE8C-25C2-F502-577BD6A4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CA03FA-D079-05A3-77E3-1F7A7C9F2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6AE57E-0D55-EF96-BE76-FAAFD586D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C70729-A9D1-7B9C-2A67-540A15606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106C07-AE7B-BB2B-B1A4-318A9E26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70B1EC-6E58-4DBC-4E4D-824C46C8A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67DDE0-E5BC-E402-1D39-BA434C70B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48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DC668-B104-9549-9F37-7C0BE684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7C1EC8-D095-CFCC-06D0-AB93F871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DA2B43-0F9A-3A1F-AFD7-E88DD978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3D36DA-BC6A-0193-9084-B4977B6A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953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D5AA3B-61EA-3739-09D8-F75C5938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5B13EC-F704-2CB9-6407-601C12FDA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45C8CF-BB62-33BF-D0D6-FFBEDF76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60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C1573-3232-2085-CEC9-4D0F158D1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5ECDB6-16D7-B8FA-82F2-190EC99F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DC45E2-6F54-277E-B223-080369AB6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B1A6A-BD86-1AC6-FF55-671E4B21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59237D-544C-30D0-6399-57F3293C7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658955-F589-0F92-6FB1-3874BB78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66253-757C-5E12-8FC5-69C37414A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BC2C7D-0F28-AB90-4C67-0A3476E91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BD7C4B-B874-23C3-EEEE-D40ADF1E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5494BB-803A-5732-6664-782BE09F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6B5F3-3770-1FF2-3A43-532EA58A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02D97D-7D1E-92A7-B62E-17598B7C5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004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F3661F-EA66-E168-CB21-1B982A7C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73E507-4B83-A7CA-8415-9B8510D27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7E8E0-DD64-9A4B-F7BA-C5E42299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26AC7-F6B9-1DDF-92A0-C2F39036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0527A7-E0D4-0F85-1FEB-81288C01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A09A4-C5E1-B719-9BFB-DF36BCA0C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93829-DAF3-DD7D-646F-3B8C5FA42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8ADFE-4FAE-898B-E5D9-8E73B5EE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9CA8BC-06D0-4B00-5097-AA534037E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A6F4D4-EF63-B01B-0F7A-27957C45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7327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9947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19332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44283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2025/12/26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158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2025/12/26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0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593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7680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7FE64D-B6B2-6026-B03E-E67CC1C09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1356D8-6EEA-79A0-9669-32265A9AA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BE655F-F951-7C5A-E5CB-8672F1445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2025/12/26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32DC5-7D61-7E45-6BE1-DA4A417B1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E2E88D-CF29-00CB-8057-C4D310A7E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10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2025/12/26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21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visactor.com/zh/api.html#VChart.%E6%96%B9%E6%B3%95.setTooltipHandler" TargetMode="Externa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Actor/VChart" TargetMode="External"/><Relationship Id="rId2" Type="http://schemas.openxmlformats.org/officeDocument/2006/relationships/hyperlink" Target="https://www.visactor.com/vchart" TargetMode="Externa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08CDDE5B-5E10-4B9F-F28E-F8449760D1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0336" y="4952472"/>
            <a:ext cx="5579403" cy="558799"/>
          </a:xfrm>
        </p:spPr>
        <p:txBody>
          <a:bodyPr>
            <a:normAutofit/>
          </a:bodyPr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讲师：小林</a:t>
            </a:r>
            <a:endParaRPr lang="en-US" altLang="zh-CN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6" name="标题 2">
            <a:extLst>
              <a:ext uri="{FF2B5EF4-FFF2-40B4-BE49-F238E27FC236}">
                <a16:creationId xmlns:a16="http://schemas.microsoft.com/office/drawing/2014/main" id="{167893B9-016C-7B66-C92D-EAC30C277D2F}"/>
              </a:ext>
            </a:extLst>
          </p:cNvPr>
          <p:cNvSpPr txBox="1">
            <a:spLocks/>
          </p:cNvSpPr>
          <p:nvPr/>
        </p:nvSpPr>
        <p:spPr>
          <a:xfrm>
            <a:off x="670334" y="3762511"/>
            <a:ext cx="8332349" cy="11899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第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10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课：</a:t>
            </a:r>
            <a:r>
              <a:rPr lang="en-US" altLang="zh-CN" dirty="0"/>
              <a:t>Tooltip</a:t>
            </a:r>
            <a:r>
              <a:rPr lang="zh-CN" altLang="en-US" dirty="0"/>
              <a:t>的运用</a:t>
            </a:r>
          </a:p>
        </p:txBody>
      </p:sp>
    </p:spTree>
    <p:extLst>
      <p:ext uri="{BB962C8B-B14F-4D97-AF65-F5344CB8AC3E}">
        <p14:creationId xmlns:p14="http://schemas.microsoft.com/office/powerpoint/2010/main" val="1538108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B2085-6C1E-0D15-1DC2-CA199408F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B277A5-6950-9361-2308-058A1A234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大纲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AD18CE36-D0B6-BE5D-D94C-E68C10F8B31B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Tooltip</a:t>
            </a:r>
            <a:r>
              <a:rPr lang="zh-CN" altLang="en-US" dirty="0"/>
              <a:t>提示信息的配置</a:t>
            </a:r>
          </a:p>
          <a:p>
            <a:r>
              <a:rPr lang="en-US" altLang="zh-CN" dirty="0"/>
              <a:t>Tooltip</a:t>
            </a:r>
            <a:r>
              <a:rPr lang="zh-CN" altLang="en-US" dirty="0"/>
              <a:t>自定义</a:t>
            </a:r>
          </a:p>
          <a:p>
            <a:r>
              <a:rPr lang="en-US" altLang="zh-CN" dirty="0"/>
              <a:t>Tooltip</a:t>
            </a:r>
            <a:r>
              <a:rPr lang="zh-CN" altLang="en-US" dirty="0"/>
              <a:t>样式配置</a:t>
            </a:r>
          </a:p>
          <a:p>
            <a:pPr marL="0" indent="0">
              <a:buNone/>
            </a:pPr>
            <a:br>
              <a:rPr lang="zh-CN" altLang="en-US" dirty="0"/>
            </a:b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65752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574F7-F2A6-465B-6477-11D587DE4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42DE8E-7BB9-BFB4-F3B8-9EFF709BA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tooltip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6BE714B4-E229-EB53-E11D-00980E5A517E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5" name="图片 4" descr="图形用户界面, 图表, 折线图&#10;&#10;AI 生成的内容可能不正确。">
            <a:extLst>
              <a:ext uri="{FF2B5EF4-FFF2-40B4-BE49-F238E27FC236}">
                <a16:creationId xmlns:a16="http://schemas.microsoft.com/office/drawing/2014/main" id="{2EBDCB96-7153-161D-2CFD-73ECE96CB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9993" y="1301199"/>
            <a:ext cx="7343688" cy="4769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2757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BEE2B-65B9-C9C2-6CFE-D6801FABB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80BA75-BDD1-B335-F3E1-24BBF5521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Tooltip</a:t>
            </a:r>
            <a:r>
              <a:rPr lang="zh-CN" altLang="en-US" dirty="0"/>
              <a:t>组成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CA656AD4-F569-A2B6-86CB-BF02F6ED2852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6" name="图片 5" descr="图表, 条形图&#10;&#10;AI 生成的内容可能不正确。">
            <a:extLst>
              <a:ext uri="{FF2B5EF4-FFF2-40B4-BE49-F238E27FC236}">
                <a16:creationId xmlns:a16="http://schemas.microsoft.com/office/drawing/2014/main" id="{5779ACBA-84E4-2746-C1B6-CC38093063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548" y="1886133"/>
            <a:ext cx="11830452" cy="3956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508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26224-F08F-4B7A-8A82-9586299BA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8AAC04-3D1E-F694-0031-6FF98D5DC8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0" dirty="0">
                <a:solidFill>
                  <a:srgbClr val="424E66"/>
                </a:solidFill>
                <a:latin typeface="Nunito for Arco"/>
              </a:rPr>
              <a:t>实例方法 </a:t>
            </a:r>
            <a:r>
              <a:rPr lang="en-US" altLang="zh-CN" b="0" dirty="0" err="1">
                <a:latin typeface="ui-monospace"/>
                <a:hlinkClick r:id="rId2"/>
              </a:rPr>
              <a:t>setTooltipHandler</a:t>
            </a:r>
            <a:r>
              <a:rPr lang="en-US" altLang="zh-CN" b="0" dirty="0">
                <a:solidFill>
                  <a:srgbClr val="424E66"/>
                </a:solidFill>
                <a:latin typeface="Nunito for Arco"/>
              </a:rPr>
              <a:t> </a:t>
            </a:r>
            <a:r>
              <a:rPr lang="zh-CN" altLang="en-US" b="0" dirty="0">
                <a:solidFill>
                  <a:srgbClr val="424E66"/>
                </a:solidFill>
                <a:latin typeface="Nunito for Arco"/>
              </a:rPr>
              <a:t>的使用。</a:t>
            </a:r>
            <a:endParaRPr lang="zh-CN" altLang="en-US" dirty="0"/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E2E50F5-AC99-5477-95BC-A8237FB6DF97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6D01E2F-9529-FE72-7655-CC7855EA59BD}"/>
              </a:ext>
            </a:extLst>
          </p:cNvPr>
          <p:cNvSpPr txBox="1"/>
          <p:nvPr/>
        </p:nvSpPr>
        <p:spPr>
          <a:xfrm>
            <a:off x="669924" y="137334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+mn-ea"/>
              </a:rPr>
              <a:t>showTooltip</a:t>
            </a:r>
            <a:r>
              <a:rPr lang="zh-CN" altLang="en-US" dirty="0">
                <a:latin typeface="+mn-ea"/>
              </a:rPr>
              <a:t>：</a:t>
            </a:r>
            <a:r>
              <a:rPr lang="zh-CN" altLang="en-US" dirty="0">
                <a:solidFill>
                  <a:srgbClr val="424E66"/>
                </a:solidFill>
                <a:latin typeface="+mn-ea"/>
              </a:rPr>
              <a:t>显示 </a:t>
            </a:r>
            <a:r>
              <a:rPr lang="en-US" altLang="zh-CN" dirty="0">
                <a:solidFill>
                  <a:srgbClr val="424E66"/>
                </a:solidFill>
                <a:latin typeface="+mn-ea"/>
              </a:rPr>
              <a:t>tooltip</a:t>
            </a:r>
            <a:r>
              <a:rPr lang="zh-CN" altLang="en-US" dirty="0">
                <a:solidFill>
                  <a:srgbClr val="424E66"/>
                </a:solidFill>
                <a:latin typeface="+mn-ea"/>
              </a:rPr>
              <a:t>，可以选择返回是否遇到异常</a:t>
            </a:r>
            <a:endParaRPr lang="zh-CN" altLang="en-US" dirty="0">
              <a:latin typeface="+mn-ea"/>
            </a:endParaRPr>
          </a:p>
          <a:p>
            <a:endParaRPr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EB7A913-82E8-C973-33C2-09308C65FC14}"/>
              </a:ext>
            </a:extLst>
          </p:cNvPr>
          <p:cNvSpPr txBox="1"/>
          <p:nvPr/>
        </p:nvSpPr>
        <p:spPr>
          <a:xfrm>
            <a:off x="669924" y="201967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+mn-ea"/>
              </a:rPr>
              <a:t>hideTooltip</a:t>
            </a:r>
            <a:r>
              <a:rPr lang="en-US" altLang="zh-CN" dirty="0">
                <a:latin typeface="+mn-ea"/>
              </a:rPr>
              <a:t>:</a:t>
            </a:r>
            <a:r>
              <a:rPr lang="zh-CN" altLang="en-US" dirty="0">
                <a:latin typeface="+mn-ea"/>
              </a:rPr>
              <a:t>隐藏 </a:t>
            </a:r>
            <a:r>
              <a:rPr lang="en-US" altLang="zh-CN" dirty="0">
                <a:latin typeface="+mn-ea"/>
              </a:rPr>
              <a:t>tooltip</a:t>
            </a:r>
            <a:endParaRPr lang="zh-CN" altLang="en-US" dirty="0">
              <a:latin typeface="+mn-ea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CA907C3-56EA-368A-027A-4193E745C5EC}"/>
              </a:ext>
            </a:extLst>
          </p:cNvPr>
          <p:cNvSpPr txBox="1"/>
          <p:nvPr/>
        </p:nvSpPr>
        <p:spPr>
          <a:xfrm>
            <a:off x="669924" y="273364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+mn-ea"/>
              </a:rPr>
              <a:t>release</a:t>
            </a:r>
            <a:r>
              <a:rPr lang="zh-CN" altLang="en-US" dirty="0">
                <a:latin typeface="+mn-ea"/>
              </a:rPr>
              <a:t>：释放 </a:t>
            </a:r>
            <a:r>
              <a:rPr lang="en-US" altLang="zh-CN" dirty="0">
                <a:latin typeface="+mn-ea"/>
              </a:rPr>
              <a:t>tooltip</a:t>
            </a:r>
            <a:endParaRPr lang="zh-CN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44827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5AE63-AD94-573B-DC28-5112FA9CE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1E13A3-9722-C5FE-7B84-EB70ED2A5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0" dirty="0" err="1"/>
              <a:t>showTooltip</a:t>
            </a:r>
            <a:endParaRPr lang="zh-CN" altLang="en-US" dirty="0"/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F65711C9-BF8C-3ED7-A6B6-AAB16DDE4EF8}"/>
              </a:ext>
            </a:extLst>
          </p:cNvPr>
          <p:cNvSpPr txBox="1">
            <a:spLocks/>
          </p:cNvSpPr>
          <p:nvPr/>
        </p:nvSpPr>
        <p:spPr>
          <a:xfrm>
            <a:off x="669924" y="1373341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00"/>
              </a:lnSpc>
              <a:spcAft>
                <a:spcPts val="1200"/>
              </a:spcAft>
              <a:buNone/>
            </a:pPr>
            <a:r>
              <a:rPr lang="en-US" altLang="zh-CN" sz="2000" dirty="0" err="1">
                <a:solidFill>
                  <a:srgbClr val="424E66"/>
                </a:solidFill>
                <a:latin typeface="+mn-ea"/>
              </a:rPr>
              <a:t>showTooltip</a:t>
            </a:r>
            <a:r>
              <a:rPr lang="zh-CN" altLang="en-US" sz="2000" dirty="0">
                <a:solidFill>
                  <a:srgbClr val="424E66"/>
                </a:solidFill>
                <a:latin typeface="+mn-ea"/>
              </a:rPr>
              <a:t>有三个参数，意义分别为：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346AC89-5143-B1CA-9DCB-F03ADC120D3A}"/>
              </a:ext>
            </a:extLst>
          </p:cNvPr>
          <p:cNvSpPr txBox="1"/>
          <p:nvPr/>
        </p:nvSpPr>
        <p:spPr>
          <a:xfrm>
            <a:off x="669924" y="2328163"/>
            <a:ext cx="10694762" cy="1220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Aft>
                <a:spcPts val="1200"/>
              </a:spcAft>
              <a:buNone/>
            </a:pPr>
            <a:r>
              <a:rPr lang="en-US" altLang="zh-CN" b="0" i="0" dirty="0" err="1">
                <a:solidFill>
                  <a:srgbClr val="424E66"/>
                </a:solidFill>
                <a:effectLst/>
                <a:latin typeface="+mn-ea"/>
              </a:rPr>
              <a:t>activeType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+mn-ea"/>
              </a:rPr>
              <a:t>: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+mn-ea"/>
              </a:rPr>
              <a:t>透出本次触发的 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+mn-ea"/>
              </a:rPr>
              <a:t>tooltip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+mn-ea"/>
              </a:rPr>
              <a:t>类型，值为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+mn-ea"/>
              </a:rPr>
              <a:t>'mark'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+mn-ea"/>
              </a:rPr>
              <a:t>或</a:t>
            </a:r>
            <a:r>
              <a:rPr lang="en-US" altLang="zh-CN" dirty="0">
                <a:solidFill>
                  <a:srgbClr val="424E66"/>
                </a:solidFill>
                <a:latin typeface="+mn-ea"/>
              </a:rPr>
              <a:t> 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+mn-ea"/>
              </a:rPr>
              <a:t>dimension’</a:t>
            </a:r>
          </a:p>
          <a:p>
            <a:pPr algn="l">
              <a:lnSpc>
                <a:spcPts val="195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424E66"/>
                </a:solidFill>
                <a:effectLst/>
                <a:latin typeface="+mn-ea"/>
              </a:rPr>
              <a:t> data: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+mn-ea"/>
              </a:rPr>
              <a:t>透出本次触发的 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+mn-ea"/>
              </a:rPr>
              <a:t>tooltip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+mn-ea"/>
              </a:rPr>
              <a:t>原始数据</a:t>
            </a:r>
          </a:p>
          <a:p>
            <a:pPr algn="l">
              <a:lnSpc>
                <a:spcPts val="195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b="0" i="0" dirty="0">
                <a:solidFill>
                  <a:srgbClr val="424E66"/>
                </a:solidFill>
                <a:effectLst/>
                <a:latin typeface="+mn-ea"/>
              </a:rPr>
              <a:t> params: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+mn-ea"/>
              </a:rPr>
              <a:t>透出本次触发的 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+mn-ea"/>
              </a:rPr>
              <a:t>tooltip </a:t>
            </a:r>
            <a:r>
              <a:rPr lang="zh-CN" altLang="en-US" b="0" i="0" dirty="0">
                <a:solidFill>
                  <a:srgbClr val="424E66"/>
                </a:solidFill>
                <a:effectLst/>
                <a:latin typeface="+mn-ea"/>
              </a:rPr>
              <a:t>的鼠标事件</a:t>
            </a:r>
          </a:p>
        </p:txBody>
      </p:sp>
    </p:spTree>
    <p:extLst>
      <p:ext uri="{BB962C8B-B14F-4D97-AF65-F5344CB8AC3E}">
        <p14:creationId xmlns:p14="http://schemas.microsoft.com/office/powerpoint/2010/main" val="2787948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2718F-5612-AA35-C989-F52BE55AE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461977-D052-5FDF-B9DD-673E21C8E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0" dirty="0"/>
              <a:t>data</a:t>
            </a:r>
            <a:r>
              <a:rPr lang="zh-CN" altLang="en-US" b="0" dirty="0"/>
              <a:t>参数类型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88F20E1-7B06-0A7E-AF59-47C80E75ECF9}"/>
              </a:ext>
            </a:extLst>
          </p:cNvPr>
          <p:cNvSpPr txBox="1"/>
          <p:nvPr/>
        </p:nvSpPr>
        <p:spPr>
          <a:xfrm>
            <a:off x="669923" y="1380645"/>
            <a:ext cx="10850563" cy="384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Aft>
                <a:spcPts val="1200"/>
              </a:spcAft>
            </a:pPr>
            <a:r>
              <a:rPr lang="en-US" altLang="zh-CN" dirty="0" err="1"/>
              <a:t>activeType</a:t>
            </a:r>
            <a:r>
              <a:rPr lang="en-US" altLang="zh-CN" dirty="0"/>
              <a:t> = mark </a:t>
            </a:r>
            <a:r>
              <a:rPr lang="zh-CN" altLang="en-US" dirty="0"/>
              <a:t>时，</a:t>
            </a:r>
            <a:r>
              <a:rPr lang="en-US" altLang="zh-CN" dirty="0"/>
              <a:t> </a:t>
            </a:r>
            <a:r>
              <a:rPr lang="en-US" altLang="zh-CN" dirty="0" err="1"/>
              <a:t>TooltipData</a:t>
            </a:r>
            <a:r>
              <a:rPr lang="en-US" altLang="zh-CN" dirty="0"/>
              <a:t> </a:t>
            </a:r>
            <a:r>
              <a:rPr lang="zh-CN" altLang="en-US" dirty="0"/>
              <a:t>便为 </a:t>
            </a:r>
            <a:r>
              <a:rPr lang="en-US" altLang="zh-CN" dirty="0" err="1"/>
              <a:t>IDimensionData</a:t>
            </a:r>
            <a:r>
              <a:rPr lang="en-US" altLang="zh-CN" dirty="0"/>
              <a:t> [] </a:t>
            </a:r>
            <a:r>
              <a:rPr lang="zh-CN" altLang="en-US" dirty="0"/>
              <a:t>类型</a:t>
            </a:r>
            <a:endParaRPr lang="en-US" altLang="zh-CN" b="0" i="0" dirty="0">
              <a:solidFill>
                <a:srgbClr val="24292F"/>
              </a:solidFill>
              <a:effectLst/>
              <a:latin typeface="Menlo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15DC47F-C9AD-BFCE-3CDF-F15661727505}"/>
              </a:ext>
            </a:extLst>
          </p:cNvPr>
          <p:cNvSpPr txBox="1"/>
          <p:nvPr/>
        </p:nvSpPr>
        <p:spPr>
          <a:xfrm>
            <a:off x="669923" y="2265004"/>
            <a:ext cx="60994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IDimensionData</a:t>
            </a:r>
            <a:r>
              <a:rPr lang="zh-CN" altLang="en-US" sz="2000" b="0" i="0" dirty="0">
                <a:solidFill>
                  <a:srgbClr val="424E66"/>
                </a:solidFill>
                <a:effectLst/>
                <a:latin typeface="+mn-ea"/>
              </a:rPr>
              <a:t>的类型定义为：</a:t>
            </a:r>
            <a:endParaRPr lang="zh-CN" altLang="en-US" sz="2000" dirty="0">
              <a:latin typeface="+mn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3867AC3-544F-4A89-D8E5-55C789FF3DF2}"/>
              </a:ext>
            </a:extLst>
          </p:cNvPr>
          <p:cNvSpPr txBox="1"/>
          <p:nvPr/>
        </p:nvSpPr>
        <p:spPr>
          <a:xfrm>
            <a:off x="669922" y="2967335"/>
            <a:ext cx="88477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+mn-ea"/>
              </a:rPr>
              <a:t>- </a:t>
            </a:r>
            <a:r>
              <a:rPr lang="en-US" altLang="zh-CN" dirty="0"/>
              <a:t>datum: Datum[]</a:t>
            </a:r>
            <a:r>
              <a:rPr lang="zh-CN" altLang="en-US" dirty="0">
                <a:latin typeface="+mn-ea"/>
              </a:rPr>
              <a:t>：</a:t>
            </a:r>
            <a:r>
              <a:rPr lang="zh-CN" altLang="en-US" dirty="0"/>
              <a:t>图元上的原始数据（考虑到有多个图元的情况，实际为数组类型）</a:t>
            </a:r>
            <a:endParaRPr lang="zh-CN" altLang="en-US" dirty="0">
              <a:latin typeface="+mn-ea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4F3003B-71B6-88CA-0AC7-CFB4B70DEFCD}"/>
              </a:ext>
            </a:extLst>
          </p:cNvPr>
          <p:cNvSpPr txBox="1"/>
          <p:nvPr/>
        </p:nvSpPr>
        <p:spPr>
          <a:xfrm>
            <a:off x="669923" y="3731221"/>
            <a:ext cx="6099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424E66"/>
                </a:solidFill>
                <a:latin typeface="+mn-ea"/>
              </a:rPr>
              <a:t>- </a:t>
            </a:r>
            <a:r>
              <a:rPr lang="en-US" altLang="zh-CN" dirty="0"/>
              <a:t>series:</a:t>
            </a:r>
            <a:r>
              <a:rPr lang="zh-CN" altLang="en-US" dirty="0"/>
              <a:t>图元所在的系列实例</a:t>
            </a:r>
            <a:endParaRPr lang="zh-CN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640765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76DB0-E603-16A5-FF22-920171E06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BB9173-2C09-A7FF-54C4-F01CA5A4D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0" dirty="0"/>
              <a:t>data</a:t>
            </a:r>
            <a:r>
              <a:rPr lang="zh-CN" altLang="en-US" b="0" dirty="0"/>
              <a:t>参数类型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4C51440-091A-044F-2F82-C236FDD638D0}"/>
              </a:ext>
            </a:extLst>
          </p:cNvPr>
          <p:cNvSpPr txBox="1"/>
          <p:nvPr/>
        </p:nvSpPr>
        <p:spPr>
          <a:xfrm>
            <a:off x="669923" y="1380645"/>
            <a:ext cx="10850563" cy="384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spcAft>
                <a:spcPts val="1200"/>
              </a:spcAft>
            </a:pPr>
            <a:r>
              <a:rPr lang="en-US" altLang="zh-CN" dirty="0" err="1"/>
              <a:t>activeType</a:t>
            </a:r>
            <a:r>
              <a:rPr lang="en-US" altLang="zh-CN" dirty="0"/>
              <a:t> = dimension </a:t>
            </a:r>
            <a:r>
              <a:rPr lang="zh-CN" altLang="en-US" dirty="0"/>
              <a:t>时，</a:t>
            </a:r>
            <a:r>
              <a:rPr lang="en-US" altLang="zh-CN" dirty="0"/>
              <a:t> </a:t>
            </a:r>
            <a:r>
              <a:rPr lang="en-US" altLang="zh-CN" dirty="0" err="1"/>
              <a:t>TooltipData</a:t>
            </a:r>
            <a:r>
              <a:rPr lang="en-US" altLang="zh-CN" dirty="0"/>
              <a:t> </a:t>
            </a:r>
            <a:r>
              <a:rPr lang="zh-CN" altLang="en-US" dirty="0"/>
              <a:t>便为 </a:t>
            </a:r>
            <a:r>
              <a:rPr lang="en-US" altLang="zh-CN" dirty="0" err="1"/>
              <a:t>IDimensionInfo</a:t>
            </a:r>
            <a:r>
              <a:rPr lang="en-US" altLang="zh-CN" dirty="0"/>
              <a:t> [] </a:t>
            </a:r>
            <a:r>
              <a:rPr lang="zh-CN" altLang="en-US" dirty="0"/>
              <a:t>类型</a:t>
            </a:r>
            <a:endParaRPr lang="en-US" altLang="zh-CN" b="0" i="0" dirty="0">
              <a:solidFill>
                <a:srgbClr val="24292F"/>
              </a:solidFill>
              <a:effectLst/>
              <a:latin typeface="Menlo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0964FC7-35A2-FF64-EE0A-CCE7D349AB03}"/>
              </a:ext>
            </a:extLst>
          </p:cNvPr>
          <p:cNvSpPr txBox="1"/>
          <p:nvPr/>
        </p:nvSpPr>
        <p:spPr>
          <a:xfrm>
            <a:off x="669923" y="2265004"/>
            <a:ext cx="60994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IDimensionInfo</a:t>
            </a:r>
            <a:r>
              <a:rPr lang="zh-CN" altLang="en-US" sz="2000" b="0" i="0" dirty="0">
                <a:solidFill>
                  <a:srgbClr val="424E66"/>
                </a:solidFill>
                <a:effectLst/>
                <a:latin typeface="+mn-ea"/>
              </a:rPr>
              <a:t>的类型定义为：</a:t>
            </a:r>
            <a:endParaRPr lang="zh-CN" altLang="en-US" sz="2000" dirty="0">
              <a:latin typeface="+mn-ea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5E1C230-F186-A2B3-0ABB-E5F26FB415C8}"/>
              </a:ext>
            </a:extLst>
          </p:cNvPr>
          <p:cNvSpPr txBox="1"/>
          <p:nvPr/>
        </p:nvSpPr>
        <p:spPr>
          <a:xfrm>
            <a:off x="669923" y="2967335"/>
            <a:ext cx="6099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+mn-ea"/>
              </a:rPr>
              <a:t>- </a:t>
            </a:r>
            <a:r>
              <a:rPr lang="en-US" altLang="zh-CN" dirty="0"/>
              <a:t>index?: number</a:t>
            </a:r>
            <a:r>
              <a:rPr lang="zh-CN" altLang="en-US" dirty="0">
                <a:latin typeface="+mn-ea"/>
              </a:rPr>
              <a:t>：</a:t>
            </a:r>
            <a:r>
              <a:rPr lang="zh-CN" altLang="en-US" dirty="0"/>
              <a:t>维度项索引</a:t>
            </a:r>
            <a:endParaRPr lang="zh-CN" altLang="en-US" dirty="0">
              <a:latin typeface="+mn-ea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43C0051-71E2-6724-3A0D-1FF88DE086FD}"/>
              </a:ext>
            </a:extLst>
          </p:cNvPr>
          <p:cNvSpPr txBox="1"/>
          <p:nvPr/>
        </p:nvSpPr>
        <p:spPr>
          <a:xfrm>
            <a:off x="669923" y="3731221"/>
            <a:ext cx="6099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424E66"/>
                </a:solidFill>
                <a:latin typeface="+mn-ea"/>
              </a:rPr>
              <a:t>- </a:t>
            </a:r>
            <a:r>
              <a:rPr lang="en-US" altLang="zh-CN" dirty="0"/>
              <a:t>value: string</a:t>
            </a:r>
            <a:r>
              <a:rPr lang="en-US" altLang="zh-CN" b="0" i="0" dirty="0">
                <a:solidFill>
                  <a:srgbClr val="424E66"/>
                </a:solidFill>
                <a:effectLst/>
                <a:latin typeface="+mn-ea"/>
              </a:rPr>
              <a:t>:</a:t>
            </a:r>
            <a:r>
              <a:rPr lang="zh-CN" altLang="en-US" dirty="0"/>
              <a:t>维度项标题</a:t>
            </a:r>
            <a:endParaRPr lang="zh-CN" altLang="en-US" dirty="0">
              <a:latin typeface="+mn-ea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ED65846-D473-9782-E3D4-19184E5DF447}"/>
              </a:ext>
            </a:extLst>
          </p:cNvPr>
          <p:cNvSpPr txBox="1"/>
          <p:nvPr/>
        </p:nvSpPr>
        <p:spPr>
          <a:xfrm>
            <a:off x="669923" y="4356169"/>
            <a:ext cx="6099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424E66"/>
                </a:solidFill>
                <a:latin typeface="+mn-ea"/>
              </a:rPr>
              <a:t>- </a:t>
            </a:r>
            <a:r>
              <a:rPr lang="en-US" altLang="zh-CN" dirty="0"/>
              <a:t>axis?: </a:t>
            </a:r>
            <a:r>
              <a:rPr lang="en-US" altLang="zh-CN" dirty="0" err="1"/>
              <a:t>AxisComponent</a:t>
            </a:r>
            <a:r>
              <a:rPr lang="en-US" altLang="zh-CN" dirty="0"/>
              <a:t>;:</a:t>
            </a:r>
            <a:r>
              <a:rPr lang="zh-CN" altLang="en-US" dirty="0"/>
              <a:t>维度项所在轴</a:t>
            </a:r>
            <a:endParaRPr lang="zh-CN" altLang="en-US" dirty="0">
              <a:latin typeface="+mn-ea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FB44C1A-4CF3-9EE4-3345-22CECB8A3BC6}"/>
              </a:ext>
            </a:extLst>
          </p:cNvPr>
          <p:cNvSpPr txBox="1"/>
          <p:nvPr/>
        </p:nvSpPr>
        <p:spPr>
          <a:xfrm>
            <a:off x="669923" y="5009927"/>
            <a:ext cx="6099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rgbClr val="424E66"/>
                </a:solidFill>
                <a:latin typeface="+mn-ea"/>
              </a:rPr>
              <a:t>-</a:t>
            </a:r>
            <a:r>
              <a:rPr lang="en-US" altLang="zh-CN" dirty="0"/>
              <a:t>data: </a:t>
            </a:r>
            <a:r>
              <a:rPr lang="en-US" altLang="zh-CN" dirty="0" err="1"/>
              <a:t>IDimensionData</a:t>
            </a:r>
            <a:r>
              <a:rPr lang="en-US" altLang="zh-CN" dirty="0"/>
              <a:t>[]:</a:t>
            </a:r>
            <a:r>
              <a:rPr lang="zh-CN" altLang="en-US" dirty="0"/>
              <a:t>维度项对应数据</a:t>
            </a:r>
            <a:endParaRPr lang="zh-CN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96665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5F001-8052-E2C4-1BCF-445EB8D78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F7D31A-8E32-8B42-B392-F61FA890C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0" dirty="0"/>
              <a:t>params</a:t>
            </a:r>
            <a:r>
              <a:rPr lang="zh-CN" altLang="en-US" b="0" dirty="0"/>
              <a:t>参数类型</a:t>
            </a:r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47E6482-6006-ED32-7CC3-2F9DC2372FFF}"/>
              </a:ext>
            </a:extLst>
          </p:cNvPr>
          <p:cNvSpPr txBox="1"/>
          <p:nvPr/>
        </p:nvSpPr>
        <p:spPr>
          <a:xfrm>
            <a:off x="669923" y="2265004"/>
            <a:ext cx="108505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暴露了一个很有用的参数：</a:t>
            </a:r>
            <a:r>
              <a:rPr lang="en-US" altLang="zh-CN" dirty="0" err="1"/>
              <a:t>changePositionOnly</a:t>
            </a:r>
            <a:r>
              <a:rPr lang="zh-CN" altLang="en-US" dirty="0"/>
              <a:t>，</a:t>
            </a:r>
            <a:r>
              <a:rPr lang="zh-CN" altLang="en-US" b="1" dirty="0"/>
              <a:t>代表这个 </a:t>
            </a:r>
            <a:r>
              <a:rPr lang="en-US" altLang="zh-CN" b="1" dirty="0"/>
              <a:t>tooltip </a:t>
            </a:r>
            <a:r>
              <a:rPr lang="zh-CN" altLang="en-US" b="1" dirty="0"/>
              <a:t>是否仅仅是上一个 </a:t>
            </a:r>
            <a:r>
              <a:rPr lang="en-US" altLang="zh-CN" b="1" dirty="0"/>
              <a:t>tooltip </a:t>
            </a:r>
            <a:r>
              <a:rPr lang="zh-CN" altLang="en-US" b="1" dirty="0"/>
              <a:t>挪用了下位置，而数据相同</a:t>
            </a:r>
            <a:r>
              <a:rPr lang="zh-CN" altLang="en-US" dirty="0"/>
              <a:t>。这个参数将帮助用户对 </a:t>
            </a:r>
            <a:r>
              <a:rPr lang="en-US" altLang="zh-CN" dirty="0"/>
              <a:t>tooltip </a:t>
            </a:r>
            <a:r>
              <a:rPr lang="zh-CN" altLang="en-US" dirty="0"/>
              <a:t>渲染进行优化。</a:t>
            </a:r>
            <a:endParaRPr lang="zh-CN" altLang="en-US" sz="2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303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E0140-3436-1DBB-A433-3271041C5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CDBEF2-709C-597C-DAB2-51C9270CD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0" dirty="0"/>
              <a:t>总结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DAAE41-8DF1-FA66-B3B7-48BC1C73FC8D}"/>
              </a:ext>
            </a:extLst>
          </p:cNvPr>
          <p:cNvSpPr txBox="1"/>
          <p:nvPr/>
        </p:nvSpPr>
        <p:spPr>
          <a:xfrm>
            <a:off x="669924" y="137696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Tooltip</a:t>
            </a:r>
            <a:r>
              <a:rPr lang="zh-CN" altLang="en-US" dirty="0"/>
              <a:t>提示信息的基本使用</a:t>
            </a:r>
          </a:p>
          <a:p>
            <a:r>
              <a:rPr lang="en-US" altLang="zh-CN" dirty="0"/>
              <a:t>Tooltip</a:t>
            </a:r>
            <a:r>
              <a:rPr lang="zh-CN" altLang="en-US" dirty="0"/>
              <a:t>自定义使用</a:t>
            </a:r>
          </a:p>
        </p:txBody>
      </p:sp>
    </p:spTree>
    <p:extLst>
      <p:ext uri="{BB962C8B-B14F-4D97-AF65-F5344CB8AC3E}">
        <p14:creationId xmlns:p14="http://schemas.microsoft.com/office/powerpoint/2010/main" val="27226307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n-ea"/>
              </a:rPr>
              <a:t>案例仓库</a:t>
            </a:r>
            <a:r>
              <a:rPr lang="zh-CN" altLang="en-US">
                <a:latin typeface="+mn-ea"/>
              </a:rPr>
              <a:t>和资料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buNone/>
            </a:pPr>
            <a:r>
              <a:rPr lang="en-US" altLang="zh-CN" sz="1800" b="1" dirty="0" err="1">
                <a:latin typeface="+mn-ea"/>
              </a:rPr>
              <a:t>配套实践案例仓库</a:t>
            </a:r>
            <a:r>
              <a:rPr lang="en-US" altLang="zh-CN" sz="1800" b="1" dirty="0">
                <a:latin typeface="+mn-ea"/>
              </a:rPr>
              <a:t>：</a:t>
            </a:r>
            <a:endParaRPr lang="en-US" altLang="zh-CN" sz="1800" b="1" u="sng" dirty="0">
              <a:latin typeface="+mn-ea"/>
            </a:endParaRPr>
          </a:p>
          <a:p>
            <a:pPr lvl="1"/>
            <a:r>
              <a:rPr lang="zh-CN" altLang="en-US" u="sng" dirty="0">
                <a:latin typeface="+mn-ea"/>
              </a:rPr>
              <a:t>码云：   </a:t>
            </a:r>
            <a:r>
              <a:rPr lang="en-US" altLang="zh-CN" u="sng" dirty="0">
                <a:latin typeface="+mn-ea"/>
              </a:rPr>
              <a:t>https://gitee.com/menglin1997/vchart.git</a:t>
            </a:r>
          </a:p>
          <a:p>
            <a:pPr lvl="1"/>
            <a:r>
              <a:rPr lang="en-US" altLang="zh-CN" u="sng" dirty="0" err="1">
                <a:latin typeface="+mn-ea"/>
              </a:rPr>
              <a:t>Github</a:t>
            </a:r>
            <a:r>
              <a:rPr lang="en-US" altLang="zh-CN" u="sng" dirty="0">
                <a:latin typeface="+mn-ea"/>
              </a:rPr>
              <a:t>:   https://github.com/menglin1997/vchartCourse.git</a:t>
            </a:r>
            <a:endParaRPr lang="zh-CN" altLang="zh-CN" dirty="0">
              <a:latin typeface="+mn-ea"/>
            </a:endParaRPr>
          </a:p>
          <a:p>
            <a:endParaRPr lang="zh-CN" altLang="en-US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A78CED-5845-B8E5-5A5D-4FAD539FBBB9}"/>
              </a:ext>
            </a:extLst>
          </p:cNvPr>
          <p:cNvSpPr txBox="1"/>
          <p:nvPr/>
        </p:nvSpPr>
        <p:spPr>
          <a:xfrm>
            <a:off x="838200" y="3008452"/>
            <a:ext cx="6098720" cy="1503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zh-CN" altLang="en-US" b="1" dirty="0">
                <a:latin typeface="+mn-ea"/>
              </a:rPr>
              <a:t>官方资料：</a:t>
            </a:r>
            <a:endParaRPr lang="en-US" altLang="zh-CN" b="1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官网：</a:t>
            </a:r>
            <a:r>
              <a:rPr lang="en-US" altLang="zh-CN" sz="1600" u="sng" dirty="0" err="1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://www.visactor.com/vchart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GitHub：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://github.com/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VisActor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微信</a:t>
            </a:r>
            <a:r>
              <a:rPr lang="zh-CN" altLang="en-US" sz="1600" u="sng" dirty="0">
                <a:latin typeface="+mn-ea"/>
              </a:rPr>
              <a:t>公众号</a:t>
            </a:r>
            <a:r>
              <a:rPr lang="en-US" altLang="zh-CN" sz="1600" u="sng" dirty="0">
                <a:latin typeface="+mn-ea"/>
              </a:rPr>
              <a:t>：</a:t>
            </a:r>
            <a:r>
              <a:rPr lang="en-US" altLang="zh-CN" sz="1600" u="sng" dirty="0" err="1">
                <a:latin typeface="+mn-ea"/>
              </a:rPr>
              <a:t>VisActor</a:t>
            </a:r>
            <a:r>
              <a:rPr lang="en-US" altLang="zh-CN" sz="1600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4508B13-EE38-8F23-87BB-843600E85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502" y="1825625"/>
            <a:ext cx="2431473" cy="2496797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F6BC153-0BFB-D61A-CC38-273E49A4520C}"/>
              </a:ext>
            </a:extLst>
          </p:cNvPr>
          <p:cNvSpPr txBox="1"/>
          <p:nvPr/>
        </p:nvSpPr>
        <p:spPr>
          <a:xfrm>
            <a:off x="8027324" y="4428156"/>
            <a:ext cx="3174076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u="sng" dirty="0" err="1">
                <a:latin typeface="+mn-ea"/>
              </a:rPr>
              <a:t>微信</a:t>
            </a:r>
            <a:r>
              <a:rPr lang="zh-CN" altLang="en-US" u="sng" dirty="0">
                <a:latin typeface="+mn-ea"/>
              </a:rPr>
              <a:t>公众号</a:t>
            </a:r>
            <a:r>
              <a:rPr lang="en-US" altLang="zh-CN" u="sng" dirty="0">
                <a:latin typeface="+mn-ea"/>
              </a:rPr>
              <a:t>：</a:t>
            </a:r>
            <a:r>
              <a:rPr lang="en-US" altLang="zh-CN" u="sng" dirty="0" err="1">
                <a:latin typeface="+mn-ea"/>
              </a:rPr>
              <a:t>VisActor</a:t>
            </a:r>
            <a:r>
              <a:rPr lang="en-US" altLang="zh-CN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73551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27E049-6D0C-3CB1-30FB-E6D1C33754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感谢观看，我们下节课再见！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783128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820</TotalTime>
  <Words>343</Words>
  <Application>Microsoft Office PowerPoint</Application>
  <PresentationFormat>宽屏</PresentationFormat>
  <Paragraphs>45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Menlo</vt:lpstr>
      <vt:lpstr>Nunito for Arco</vt:lpstr>
      <vt:lpstr>ui-monospace</vt:lpstr>
      <vt:lpstr>等线</vt:lpstr>
      <vt:lpstr>Arial</vt:lpstr>
      <vt:lpstr>Impact</vt:lpstr>
      <vt:lpstr>1_Office 主题​​</vt:lpstr>
      <vt:lpstr>OfficePLUS-V2-ee79b56c-44bf-4999-8350-9727f0739207</vt:lpstr>
      <vt:lpstr>PowerPoint 演示文稿</vt:lpstr>
      <vt:lpstr>大纲</vt:lpstr>
      <vt:lpstr>tooltip</vt:lpstr>
      <vt:lpstr>Tooltip组成</vt:lpstr>
      <vt:lpstr>实例方法 setTooltipHandler 的使用。</vt:lpstr>
      <vt:lpstr>showTooltip</vt:lpstr>
      <vt:lpstr>data参数类型</vt:lpstr>
      <vt:lpstr>data参数类型</vt:lpstr>
      <vt:lpstr>params参数类型</vt:lpstr>
      <vt:lpstr>总结</vt:lpstr>
      <vt:lpstr>案例仓库和资料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 ml</dc:creator>
  <cp:lastModifiedBy>i y</cp:lastModifiedBy>
  <cp:revision>164</cp:revision>
  <dcterms:created xsi:type="dcterms:W3CDTF">2025-10-28T10:07:16Z</dcterms:created>
  <dcterms:modified xsi:type="dcterms:W3CDTF">2025-12-26T14:26:30Z</dcterms:modified>
</cp:coreProperties>
</file>