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5"/>
  </p:notesMasterIdLst>
  <p:sldIdLst>
    <p:sldId id="262" r:id="rId3"/>
    <p:sldId id="284" r:id="rId4"/>
    <p:sldId id="286" r:id="rId5"/>
    <p:sldId id="287" r:id="rId6"/>
    <p:sldId id="288" r:id="rId7"/>
    <p:sldId id="289" r:id="rId8"/>
    <p:sldId id="290" r:id="rId9"/>
    <p:sldId id="293" r:id="rId10"/>
    <p:sldId id="291" r:id="rId11"/>
    <p:sldId id="292" r:id="rId12"/>
    <p:sldId id="283" r:id="rId13"/>
    <p:sldId id="26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isactor.com/zh/api.html#VChart.%E6%96%B9%E6%B3%95.setTooltipHandler" TargetMode="Externa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336" y="49524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670334" y="376251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en-US" altLang="zh-CN" dirty="0"/>
              <a:t>Tooltip</a:t>
            </a:r>
            <a:r>
              <a:rPr lang="zh-CN" altLang="en-US" dirty="0"/>
              <a:t>的运用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2085-6C1E-0D15-1DC2-CA199408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277A5-6950-9361-2308-058A1A23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大纲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D18CE36-D0B6-BE5D-D94C-E68C10F8B31B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Tooltip</a:t>
            </a:r>
            <a:r>
              <a:rPr lang="zh-CN" altLang="en-US" dirty="0"/>
              <a:t>提示信息的配置</a:t>
            </a:r>
          </a:p>
          <a:p>
            <a:r>
              <a:rPr lang="en-US" altLang="zh-CN" dirty="0"/>
              <a:t>Tooltip</a:t>
            </a:r>
            <a:r>
              <a:rPr lang="zh-CN" altLang="en-US" dirty="0"/>
              <a:t>自定义</a:t>
            </a:r>
          </a:p>
          <a:p>
            <a:r>
              <a:rPr lang="en-US" altLang="zh-CN" dirty="0"/>
              <a:t>Tooltip</a:t>
            </a:r>
            <a:r>
              <a:rPr lang="zh-CN" altLang="en-US" dirty="0"/>
              <a:t>样式配置</a:t>
            </a:r>
          </a:p>
          <a:p>
            <a:pPr marL="0" indent="0">
              <a:buNone/>
            </a:pP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575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tooltip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 descr="图形用户界面, 图表, 折线图&#10;&#10;AI 生成的内容可能不正确。">
            <a:extLst>
              <a:ext uri="{FF2B5EF4-FFF2-40B4-BE49-F238E27FC236}">
                <a16:creationId xmlns:a16="http://schemas.microsoft.com/office/drawing/2014/main" id="{2EBDCB96-7153-161D-2CFD-73ECE96CB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993" y="1301199"/>
            <a:ext cx="7343688" cy="476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BEE2B-65B9-C9C2-6CFE-D6801FABB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80BA75-BDD1-B335-F3E1-24BBF5521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Tooltip</a:t>
            </a:r>
            <a:r>
              <a:rPr lang="zh-CN" altLang="en-US" dirty="0"/>
              <a:t>组成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A656AD4-F569-A2B6-86CB-BF02F6ED2852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图片 5" descr="图表, 条形图&#10;&#10;AI 生成的内容可能不正确。">
            <a:extLst>
              <a:ext uri="{FF2B5EF4-FFF2-40B4-BE49-F238E27FC236}">
                <a16:creationId xmlns:a16="http://schemas.microsoft.com/office/drawing/2014/main" id="{5779ACBA-84E4-2746-C1B6-CC3809306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48" y="1886133"/>
            <a:ext cx="11830452" cy="395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08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26224-F08F-4B7A-8A82-9586299BA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8AAC04-3D1E-F694-0031-6FF98D5DC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solidFill>
                  <a:srgbClr val="424E66"/>
                </a:solidFill>
                <a:latin typeface="Nunito for Arco"/>
              </a:rPr>
              <a:t>实例方法 </a:t>
            </a:r>
            <a:r>
              <a:rPr lang="en-US" altLang="zh-CN" b="0" dirty="0" err="1">
                <a:latin typeface="ui-monospace"/>
                <a:hlinkClick r:id="rId2"/>
              </a:rPr>
              <a:t>setTooltipHandler</a:t>
            </a:r>
            <a:r>
              <a:rPr lang="en-US" altLang="zh-CN" b="0" dirty="0">
                <a:solidFill>
                  <a:srgbClr val="424E66"/>
                </a:solidFill>
                <a:latin typeface="Nunito for Arco"/>
              </a:rPr>
              <a:t> </a:t>
            </a:r>
            <a:r>
              <a:rPr lang="zh-CN" altLang="en-US" b="0" dirty="0">
                <a:solidFill>
                  <a:srgbClr val="424E66"/>
                </a:solidFill>
                <a:latin typeface="Nunito for Arco"/>
              </a:rPr>
              <a:t>的使用。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E2E50F5-AC99-5477-95BC-A8237FB6DF97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D01E2F-9529-FE72-7655-CC7855EA59BD}"/>
              </a:ext>
            </a:extLst>
          </p:cNvPr>
          <p:cNvSpPr txBox="1"/>
          <p:nvPr/>
        </p:nvSpPr>
        <p:spPr>
          <a:xfrm>
            <a:off x="669924" y="137334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+mn-ea"/>
              </a:rPr>
              <a:t>showTooltip</a:t>
            </a:r>
            <a:r>
              <a:rPr lang="zh-CN" altLang="en-US" dirty="0">
                <a:latin typeface="+mn-ea"/>
              </a:rPr>
              <a:t>：</a:t>
            </a:r>
            <a:r>
              <a:rPr lang="zh-CN" altLang="en-US" dirty="0">
                <a:solidFill>
                  <a:srgbClr val="424E66"/>
                </a:solidFill>
                <a:latin typeface="+mn-ea"/>
              </a:rPr>
              <a:t>显示 </a:t>
            </a:r>
            <a:r>
              <a:rPr lang="en-US" altLang="zh-CN" dirty="0">
                <a:solidFill>
                  <a:srgbClr val="424E66"/>
                </a:solidFill>
                <a:latin typeface="+mn-ea"/>
              </a:rPr>
              <a:t>tooltip</a:t>
            </a:r>
            <a:r>
              <a:rPr lang="zh-CN" altLang="en-US" dirty="0">
                <a:solidFill>
                  <a:srgbClr val="424E66"/>
                </a:solidFill>
                <a:latin typeface="+mn-ea"/>
              </a:rPr>
              <a:t>，可以选择返回是否遇到异常</a:t>
            </a:r>
            <a:endParaRPr lang="zh-CN" altLang="en-US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EB7A913-82E8-C973-33C2-09308C65FC14}"/>
              </a:ext>
            </a:extLst>
          </p:cNvPr>
          <p:cNvSpPr txBox="1"/>
          <p:nvPr/>
        </p:nvSpPr>
        <p:spPr>
          <a:xfrm>
            <a:off x="669924" y="20196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+mn-ea"/>
              </a:rPr>
              <a:t>hideTooltip</a:t>
            </a:r>
            <a:r>
              <a:rPr lang="en-US" altLang="zh-CN" dirty="0">
                <a:latin typeface="+mn-ea"/>
              </a:rPr>
              <a:t>:</a:t>
            </a:r>
            <a:r>
              <a:rPr lang="zh-CN" altLang="en-US" dirty="0">
                <a:latin typeface="+mn-ea"/>
              </a:rPr>
              <a:t>隐藏 </a:t>
            </a:r>
            <a:r>
              <a:rPr lang="en-US" altLang="zh-CN" dirty="0">
                <a:latin typeface="+mn-ea"/>
              </a:rPr>
              <a:t>tooltip</a:t>
            </a:r>
            <a:endParaRPr lang="zh-CN" altLang="en-US" dirty="0">
              <a:latin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CA907C3-56EA-368A-027A-4193E745C5EC}"/>
              </a:ext>
            </a:extLst>
          </p:cNvPr>
          <p:cNvSpPr txBox="1"/>
          <p:nvPr/>
        </p:nvSpPr>
        <p:spPr>
          <a:xfrm>
            <a:off x="669924" y="27336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release</a:t>
            </a:r>
            <a:r>
              <a:rPr lang="zh-CN" altLang="en-US" dirty="0">
                <a:latin typeface="+mn-ea"/>
              </a:rPr>
              <a:t>：释放 </a:t>
            </a:r>
            <a:r>
              <a:rPr lang="en-US" altLang="zh-CN" dirty="0">
                <a:latin typeface="+mn-ea"/>
              </a:rPr>
              <a:t>tooltip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4827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5AE63-AD94-573B-DC28-5112FA9CE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1E13A3-9722-C5FE-7B84-EB70ED2A5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 err="1"/>
              <a:t>showTooltip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65711C9-BF8C-3ED7-A6B6-AAB16DDE4EF8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0"/>
              </a:lnSpc>
              <a:spcAft>
                <a:spcPts val="1200"/>
              </a:spcAft>
              <a:buNone/>
            </a:pPr>
            <a:r>
              <a:rPr lang="en-US" altLang="zh-CN" sz="2000" dirty="0" err="1">
                <a:solidFill>
                  <a:srgbClr val="424E66"/>
                </a:solidFill>
                <a:latin typeface="+mn-ea"/>
              </a:rPr>
              <a:t>showTooltip</a:t>
            </a:r>
            <a:r>
              <a:rPr lang="zh-CN" altLang="en-US" sz="2000" dirty="0">
                <a:solidFill>
                  <a:srgbClr val="424E66"/>
                </a:solidFill>
                <a:latin typeface="+mn-ea"/>
              </a:rPr>
              <a:t>有三个参数，意义分别为：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46AC89-5143-B1CA-9DCB-F03ADC120D3A}"/>
              </a:ext>
            </a:extLst>
          </p:cNvPr>
          <p:cNvSpPr txBox="1"/>
          <p:nvPr/>
        </p:nvSpPr>
        <p:spPr>
          <a:xfrm>
            <a:off x="669924" y="2328163"/>
            <a:ext cx="10694762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altLang="zh-CN" b="0" i="0" dirty="0" err="1">
                <a:solidFill>
                  <a:srgbClr val="424E66"/>
                </a:solidFill>
                <a:effectLst/>
                <a:latin typeface="+mn-ea"/>
              </a:rPr>
              <a:t>activeType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+mn-ea"/>
              </a:rPr>
              <a:t>: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+mn-ea"/>
              </a:rPr>
              <a:t>透出本次触发的 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+mn-ea"/>
              </a:rPr>
              <a:t>tooltip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+mn-ea"/>
              </a:rPr>
              <a:t>类型，值为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+mn-ea"/>
              </a:rPr>
              <a:t>'mark'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+mn-ea"/>
              </a:rPr>
              <a:t>或</a:t>
            </a:r>
            <a:r>
              <a:rPr lang="en-US" altLang="zh-CN" dirty="0">
                <a:solidFill>
                  <a:srgbClr val="424E66"/>
                </a:solidFill>
                <a:latin typeface="+mn-ea"/>
              </a:rPr>
              <a:t> 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+mn-ea"/>
              </a:rPr>
              <a:t>dimension’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24E66"/>
                </a:solidFill>
                <a:effectLst/>
                <a:latin typeface="+mn-ea"/>
              </a:rPr>
              <a:t> data: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+mn-ea"/>
              </a:rPr>
              <a:t>透出本次触发的 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+mn-ea"/>
              </a:rPr>
              <a:t>tooltip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+mn-ea"/>
              </a:rPr>
              <a:t>原始数据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24E66"/>
                </a:solidFill>
                <a:effectLst/>
                <a:latin typeface="+mn-ea"/>
              </a:rPr>
              <a:t> params: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+mn-ea"/>
              </a:rPr>
              <a:t>透出本次触发的 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+mn-ea"/>
              </a:rPr>
              <a:t>tooltip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+mn-ea"/>
              </a:rPr>
              <a:t>的鼠标事件</a:t>
            </a:r>
          </a:p>
        </p:txBody>
      </p:sp>
    </p:spTree>
    <p:extLst>
      <p:ext uri="{BB962C8B-B14F-4D97-AF65-F5344CB8AC3E}">
        <p14:creationId xmlns:p14="http://schemas.microsoft.com/office/powerpoint/2010/main" val="2787948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2718F-5612-AA35-C989-F52BE55A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461977-D052-5FDF-B9DD-673E21C8E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data</a:t>
            </a:r>
            <a:r>
              <a:rPr lang="zh-CN" altLang="en-US" b="0" dirty="0"/>
              <a:t>参数类型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8F20E1-7B06-0A7E-AF59-47C80E75ECF9}"/>
              </a:ext>
            </a:extLst>
          </p:cNvPr>
          <p:cNvSpPr txBox="1"/>
          <p:nvPr/>
        </p:nvSpPr>
        <p:spPr>
          <a:xfrm>
            <a:off x="669923" y="1380645"/>
            <a:ext cx="10850563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en-US" altLang="zh-CN" dirty="0" err="1"/>
              <a:t>activeType</a:t>
            </a:r>
            <a:r>
              <a:rPr lang="en-US" altLang="zh-CN" dirty="0"/>
              <a:t> = mark </a:t>
            </a:r>
            <a:r>
              <a:rPr lang="zh-CN" altLang="en-US" dirty="0"/>
              <a:t>时，</a:t>
            </a:r>
            <a:r>
              <a:rPr lang="en-US" altLang="zh-CN" dirty="0"/>
              <a:t> </a:t>
            </a:r>
            <a:r>
              <a:rPr lang="en-US" altLang="zh-CN" dirty="0" err="1"/>
              <a:t>TooltipData</a:t>
            </a:r>
            <a:r>
              <a:rPr lang="en-US" altLang="zh-CN" dirty="0"/>
              <a:t> </a:t>
            </a:r>
            <a:r>
              <a:rPr lang="zh-CN" altLang="en-US" dirty="0"/>
              <a:t>便为 </a:t>
            </a:r>
            <a:r>
              <a:rPr lang="en-US" altLang="zh-CN" dirty="0" err="1"/>
              <a:t>IDimensionData</a:t>
            </a:r>
            <a:r>
              <a:rPr lang="en-US" altLang="zh-CN" dirty="0"/>
              <a:t> [] </a:t>
            </a:r>
            <a:r>
              <a:rPr lang="zh-CN" altLang="en-US" dirty="0"/>
              <a:t>类型</a:t>
            </a:r>
            <a:endParaRPr lang="en-US" altLang="zh-CN" b="0" i="0" dirty="0">
              <a:solidFill>
                <a:srgbClr val="24292F"/>
              </a:solidFill>
              <a:effectLst/>
              <a:latin typeface="Menlo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5DC47F-C9AD-BFCE-3CDF-F15661727505}"/>
              </a:ext>
            </a:extLst>
          </p:cNvPr>
          <p:cNvSpPr txBox="1"/>
          <p:nvPr/>
        </p:nvSpPr>
        <p:spPr>
          <a:xfrm>
            <a:off x="669923" y="2265004"/>
            <a:ext cx="6099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IDimensionData</a:t>
            </a:r>
            <a:r>
              <a:rPr lang="zh-CN" altLang="en-US" sz="2000" b="0" i="0" dirty="0">
                <a:solidFill>
                  <a:srgbClr val="424E66"/>
                </a:solidFill>
                <a:effectLst/>
                <a:latin typeface="+mn-ea"/>
              </a:rPr>
              <a:t>的类型定义为：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867AC3-544F-4A89-D8E5-55C789FF3DF2}"/>
              </a:ext>
            </a:extLst>
          </p:cNvPr>
          <p:cNvSpPr txBox="1"/>
          <p:nvPr/>
        </p:nvSpPr>
        <p:spPr>
          <a:xfrm>
            <a:off x="669922" y="2967335"/>
            <a:ext cx="8847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- </a:t>
            </a:r>
            <a:r>
              <a:rPr lang="en-US" altLang="zh-CN" dirty="0"/>
              <a:t>datum: Datum[]</a:t>
            </a:r>
            <a:r>
              <a:rPr lang="zh-CN" altLang="en-US" dirty="0">
                <a:latin typeface="+mn-ea"/>
              </a:rPr>
              <a:t>：</a:t>
            </a:r>
            <a:r>
              <a:rPr lang="zh-CN" altLang="en-US" dirty="0"/>
              <a:t>图元上的原始数据（考虑到有多个图元的情况，实际为数组类型）</a:t>
            </a:r>
            <a:endParaRPr lang="zh-CN" altLang="en-US" dirty="0"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F3003B-71B6-88CA-0AC7-CFB4B70DEFCD}"/>
              </a:ext>
            </a:extLst>
          </p:cNvPr>
          <p:cNvSpPr txBox="1"/>
          <p:nvPr/>
        </p:nvSpPr>
        <p:spPr>
          <a:xfrm>
            <a:off x="669923" y="3731221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424E66"/>
                </a:solidFill>
                <a:latin typeface="+mn-ea"/>
              </a:rPr>
              <a:t>- </a:t>
            </a:r>
            <a:r>
              <a:rPr lang="en-US" altLang="zh-CN" dirty="0"/>
              <a:t>series:</a:t>
            </a:r>
            <a:r>
              <a:rPr lang="zh-CN" altLang="en-US" dirty="0"/>
              <a:t>图元所在的系列实例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64076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76DB0-E603-16A5-FF22-920171E06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B9173-2C09-A7FF-54C4-F01CA5A4D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data</a:t>
            </a:r>
            <a:r>
              <a:rPr lang="zh-CN" altLang="en-US" b="0" dirty="0"/>
              <a:t>参数类型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C51440-091A-044F-2F82-C236FDD638D0}"/>
              </a:ext>
            </a:extLst>
          </p:cNvPr>
          <p:cNvSpPr txBox="1"/>
          <p:nvPr/>
        </p:nvSpPr>
        <p:spPr>
          <a:xfrm>
            <a:off x="669923" y="1380645"/>
            <a:ext cx="10850563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en-US" altLang="zh-CN" dirty="0" err="1"/>
              <a:t>activeType</a:t>
            </a:r>
            <a:r>
              <a:rPr lang="en-US" altLang="zh-CN" dirty="0"/>
              <a:t> = dimension </a:t>
            </a:r>
            <a:r>
              <a:rPr lang="zh-CN" altLang="en-US" dirty="0"/>
              <a:t>时，</a:t>
            </a:r>
            <a:r>
              <a:rPr lang="en-US" altLang="zh-CN" dirty="0"/>
              <a:t> </a:t>
            </a:r>
            <a:r>
              <a:rPr lang="en-US" altLang="zh-CN" dirty="0" err="1"/>
              <a:t>TooltipData</a:t>
            </a:r>
            <a:r>
              <a:rPr lang="en-US" altLang="zh-CN" dirty="0"/>
              <a:t> </a:t>
            </a:r>
            <a:r>
              <a:rPr lang="zh-CN" altLang="en-US" dirty="0"/>
              <a:t>便为 </a:t>
            </a:r>
            <a:r>
              <a:rPr lang="en-US" altLang="zh-CN" dirty="0" err="1"/>
              <a:t>IDimensionInfo</a:t>
            </a:r>
            <a:r>
              <a:rPr lang="en-US" altLang="zh-CN" dirty="0"/>
              <a:t> [] </a:t>
            </a:r>
            <a:r>
              <a:rPr lang="zh-CN" altLang="en-US" dirty="0"/>
              <a:t>类型</a:t>
            </a:r>
            <a:endParaRPr lang="en-US" altLang="zh-CN" b="0" i="0" dirty="0">
              <a:solidFill>
                <a:srgbClr val="24292F"/>
              </a:solidFill>
              <a:effectLst/>
              <a:latin typeface="Menlo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964FC7-35A2-FF64-EE0A-CCE7D349AB03}"/>
              </a:ext>
            </a:extLst>
          </p:cNvPr>
          <p:cNvSpPr txBox="1"/>
          <p:nvPr/>
        </p:nvSpPr>
        <p:spPr>
          <a:xfrm>
            <a:off x="669923" y="2265004"/>
            <a:ext cx="6099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IDimensionInfo</a:t>
            </a:r>
            <a:r>
              <a:rPr lang="zh-CN" altLang="en-US" sz="2000" b="0" i="0" dirty="0">
                <a:solidFill>
                  <a:srgbClr val="424E66"/>
                </a:solidFill>
                <a:effectLst/>
                <a:latin typeface="+mn-ea"/>
              </a:rPr>
              <a:t>的类型定义为：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E1C230-F186-A2B3-0ABB-E5F26FB415C8}"/>
              </a:ext>
            </a:extLst>
          </p:cNvPr>
          <p:cNvSpPr txBox="1"/>
          <p:nvPr/>
        </p:nvSpPr>
        <p:spPr>
          <a:xfrm>
            <a:off x="669923" y="2967335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- </a:t>
            </a:r>
            <a:r>
              <a:rPr lang="en-US" altLang="zh-CN" dirty="0"/>
              <a:t>index?: number</a:t>
            </a:r>
            <a:r>
              <a:rPr lang="zh-CN" altLang="en-US" dirty="0">
                <a:latin typeface="+mn-ea"/>
              </a:rPr>
              <a:t>：</a:t>
            </a:r>
            <a:r>
              <a:rPr lang="zh-CN" altLang="en-US" dirty="0"/>
              <a:t>维度项索引</a:t>
            </a:r>
            <a:endParaRPr lang="zh-CN" altLang="en-US" dirty="0"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43C0051-71E2-6724-3A0D-1FF88DE086FD}"/>
              </a:ext>
            </a:extLst>
          </p:cNvPr>
          <p:cNvSpPr txBox="1"/>
          <p:nvPr/>
        </p:nvSpPr>
        <p:spPr>
          <a:xfrm>
            <a:off x="669923" y="3731221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424E66"/>
                </a:solidFill>
                <a:latin typeface="+mn-ea"/>
              </a:rPr>
              <a:t>- </a:t>
            </a:r>
            <a:r>
              <a:rPr lang="en-US" altLang="zh-CN" dirty="0"/>
              <a:t>value: string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+mn-ea"/>
              </a:rPr>
              <a:t>:</a:t>
            </a:r>
            <a:r>
              <a:rPr lang="zh-CN" altLang="en-US" dirty="0"/>
              <a:t>维度项标题</a:t>
            </a:r>
            <a:endParaRPr lang="zh-CN" altLang="en-US" dirty="0">
              <a:latin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D65846-D473-9782-E3D4-19184E5DF447}"/>
              </a:ext>
            </a:extLst>
          </p:cNvPr>
          <p:cNvSpPr txBox="1"/>
          <p:nvPr/>
        </p:nvSpPr>
        <p:spPr>
          <a:xfrm>
            <a:off x="669923" y="4356169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424E66"/>
                </a:solidFill>
                <a:latin typeface="+mn-ea"/>
              </a:rPr>
              <a:t>- </a:t>
            </a:r>
            <a:r>
              <a:rPr lang="en-US" altLang="zh-CN" dirty="0"/>
              <a:t>axis?: </a:t>
            </a:r>
            <a:r>
              <a:rPr lang="en-US" altLang="zh-CN" dirty="0" err="1"/>
              <a:t>AxisComponent</a:t>
            </a:r>
            <a:r>
              <a:rPr lang="en-US" altLang="zh-CN" dirty="0"/>
              <a:t>;:</a:t>
            </a:r>
            <a:r>
              <a:rPr lang="zh-CN" altLang="en-US" dirty="0"/>
              <a:t>维度项所在轴</a:t>
            </a:r>
            <a:endParaRPr lang="zh-CN" altLang="en-US" dirty="0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FB44C1A-4CF3-9EE4-3345-22CECB8A3BC6}"/>
              </a:ext>
            </a:extLst>
          </p:cNvPr>
          <p:cNvSpPr txBox="1"/>
          <p:nvPr/>
        </p:nvSpPr>
        <p:spPr>
          <a:xfrm>
            <a:off x="669923" y="5009927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424E66"/>
                </a:solidFill>
                <a:latin typeface="+mn-ea"/>
              </a:rPr>
              <a:t>-</a:t>
            </a:r>
            <a:r>
              <a:rPr lang="en-US" altLang="zh-CN" dirty="0"/>
              <a:t>data: </a:t>
            </a:r>
            <a:r>
              <a:rPr lang="en-US" altLang="zh-CN" dirty="0" err="1"/>
              <a:t>IDimensionData</a:t>
            </a:r>
            <a:r>
              <a:rPr lang="en-US" altLang="zh-CN" dirty="0"/>
              <a:t>[]:</a:t>
            </a:r>
            <a:r>
              <a:rPr lang="zh-CN" altLang="en-US" dirty="0"/>
              <a:t>维度项对应数据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96665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5F001-8052-E2C4-1BCF-445EB8D78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F7D31A-8E32-8B42-B392-F61FA890C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params</a:t>
            </a:r>
            <a:r>
              <a:rPr lang="zh-CN" altLang="en-US" b="0" dirty="0"/>
              <a:t>参数类型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7E6482-6006-ED32-7CC3-2F9DC2372FFF}"/>
              </a:ext>
            </a:extLst>
          </p:cNvPr>
          <p:cNvSpPr txBox="1"/>
          <p:nvPr/>
        </p:nvSpPr>
        <p:spPr>
          <a:xfrm>
            <a:off x="669923" y="2265004"/>
            <a:ext cx="10850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暴露了一个很有用的参数：</a:t>
            </a:r>
            <a:r>
              <a:rPr lang="en-US" altLang="zh-CN" dirty="0" err="1"/>
              <a:t>changePositionOnly</a:t>
            </a:r>
            <a:r>
              <a:rPr lang="zh-CN" altLang="en-US" dirty="0"/>
              <a:t>，</a:t>
            </a:r>
            <a:r>
              <a:rPr lang="zh-CN" altLang="en-US" b="1" dirty="0"/>
              <a:t>代表这个 </a:t>
            </a:r>
            <a:r>
              <a:rPr lang="en-US" altLang="zh-CN" b="1" dirty="0"/>
              <a:t>tooltip </a:t>
            </a:r>
            <a:r>
              <a:rPr lang="zh-CN" altLang="en-US" b="1" dirty="0"/>
              <a:t>是否仅仅是上一个 </a:t>
            </a:r>
            <a:r>
              <a:rPr lang="en-US" altLang="zh-CN" b="1" dirty="0"/>
              <a:t>tooltip </a:t>
            </a:r>
            <a:r>
              <a:rPr lang="zh-CN" altLang="en-US" b="1" dirty="0"/>
              <a:t>挪用了下位置，而数据相同</a:t>
            </a:r>
            <a:r>
              <a:rPr lang="zh-CN" altLang="en-US" dirty="0"/>
              <a:t>。这个参数将帮助用户对 </a:t>
            </a:r>
            <a:r>
              <a:rPr lang="en-US" altLang="zh-CN" dirty="0"/>
              <a:t>tooltip </a:t>
            </a:r>
            <a:r>
              <a:rPr lang="zh-CN" altLang="en-US" dirty="0"/>
              <a:t>渲染进行优化。</a:t>
            </a:r>
            <a:endParaRPr lang="zh-CN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303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E0140-3436-1DBB-A433-3271041C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DBEF2-709C-597C-DAB2-51C9270CD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总结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DAAE41-8DF1-FA66-B3B7-48BC1C73FC8D}"/>
              </a:ext>
            </a:extLst>
          </p:cNvPr>
          <p:cNvSpPr txBox="1"/>
          <p:nvPr/>
        </p:nvSpPr>
        <p:spPr>
          <a:xfrm>
            <a:off x="669924" y="137696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Tooltip</a:t>
            </a:r>
            <a:r>
              <a:rPr lang="zh-CN" altLang="en-US" dirty="0"/>
              <a:t>提示信息的基本使用</a:t>
            </a:r>
          </a:p>
          <a:p>
            <a:r>
              <a:rPr lang="en-US" altLang="zh-CN" dirty="0"/>
              <a:t>Tooltip</a:t>
            </a:r>
            <a:r>
              <a:rPr lang="zh-CN" altLang="en-US" dirty="0"/>
              <a:t>自定义使用</a:t>
            </a:r>
          </a:p>
        </p:txBody>
      </p:sp>
    </p:spTree>
    <p:extLst>
      <p:ext uri="{BB962C8B-B14F-4D97-AF65-F5344CB8AC3E}">
        <p14:creationId xmlns:p14="http://schemas.microsoft.com/office/powerpoint/2010/main" val="2722630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502" y="1825625"/>
            <a:ext cx="2431473" cy="24967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027324" y="4428156"/>
            <a:ext cx="3174076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u="sng" dirty="0" err="1">
                <a:latin typeface="+mn-ea"/>
              </a:rPr>
              <a:t>微信</a:t>
            </a: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343</Words>
  <Application>Microsoft Office PowerPoint</Application>
  <PresentationFormat>宽屏</PresentationFormat>
  <Paragraphs>45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Menlo</vt:lpstr>
      <vt:lpstr>Nunito for Arco</vt:lpstr>
      <vt:lpstr>ui-monospace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大纲</vt:lpstr>
      <vt:lpstr>tooltip</vt:lpstr>
      <vt:lpstr>Tooltip组成</vt:lpstr>
      <vt:lpstr>实例方法 setTooltipHandler 的使用。</vt:lpstr>
      <vt:lpstr>showTooltip</vt:lpstr>
      <vt:lpstr>data参数类型</vt:lpstr>
      <vt:lpstr>data参数类型</vt:lpstr>
      <vt:lpstr>params参数类型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163</cp:revision>
  <dcterms:created xsi:type="dcterms:W3CDTF">2025-10-28T10:07:16Z</dcterms:created>
  <dcterms:modified xsi:type="dcterms:W3CDTF">2025-12-21T07:27:55Z</dcterms:modified>
</cp:coreProperties>
</file>