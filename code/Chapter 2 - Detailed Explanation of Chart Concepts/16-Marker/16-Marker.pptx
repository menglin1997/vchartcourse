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7"/>
  </p:notesMasterIdLst>
  <p:sldIdLst>
    <p:sldId id="262" r:id="rId3"/>
    <p:sldId id="286" r:id="rId4"/>
    <p:sldId id="296" r:id="rId5"/>
    <p:sldId id="293" r:id="rId6"/>
    <p:sldId id="299" r:id="rId7"/>
    <p:sldId id="294" r:id="rId8"/>
    <p:sldId id="300" r:id="rId9"/>
    <p:sldId id="295" r:id="rId10"/>
    <p:sldId id="301" r:id="rId11"/>
    <p:sldId id="297" r:id="rId12"/>
    <p:sldId id="298" r:id="rId13"/>
    <p:sldId id="292" r:id="rId14"/>
    <p:sldId id="283" r:id="rId15"/>
    <p:sldId id="26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71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D856C-F6C3-6B4F-6311-7F9FBE63B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4E6C04-4855-6517-457E-13D0CC184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1758FB-12CC-3327-9ED9-572FF96CF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0870B1-47D7-67AE-6712-D007DAA71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331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isactor.com/vchart/example" TargetMode="Externa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en-US" altLang="zh-CN" dirty="0"/>
              <a:t>Marker</a:t>
            </a:r>
            <a:r>
              <a:rPr lang="zh-CN" altLang="en-US" dirty="0"/>
              <a:t>数据标注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什么是</a:t>
            </a:r>
            <a:r>
              <a:rPr lang="en-US" altLang="zh-CN" dirty="0"/>
              <a:t>Marker</a:t>
            </a:r>
            <a:r>
              <a:rPr lang="zh-CN" altLang="en-US" dirty="0"/>
              <a:t>？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7DDA0A-C3F5-343F-0F98-4232621AEF58}"/>
              </a:ext>
            </a:extLst>
          </p:cNvPr>
          <p:cNvSpPr txBox="1"/>
          <p:nvPr/>
        </p:nvSpPr>
        <p:spPr>
          <a:xfrm>
            <a:off x="669924" y="1255785"/>
            <a:ext cx="6096000" cy="4778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核心定义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专门为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增强数据感知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辅助数据叙事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设计的图表辅助组件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通过视觉标注突出关键信息，帮助观众快速理解数据故事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主要特性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✅ 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精准标注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：突出显示特定数据点、范围或趋势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✅ 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叙事辅助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：引导观众关注图表中的关键信息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✅ 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增强可读性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：提供额外的视觉层次和解释说明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适用范围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目前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仅支持直角坐标系图表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（折线图、柱状图、散点图等）</a:t>
            </a:r>
          </a:p>
        </p:txBody>
      </p:sp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808E-BE2A-D38A-0A07-84B9F8DA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9DE32-EF03-E2AD-9A46-0FD5CB786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三种标注类型概览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D8B4BDB-8D8B-302B-E7AF-0A56A94A6C1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5B294F7-42DD-E999-A20D-D3647CB8C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336306"/>
              </p:ext>
            </p:extLst>
          </p:nvPr>
        </p:nvGraphicFramePr>
        <p:xfrm>
          <a:off x="669925" y="2368867"/>
          <a:ext cx="7091871" cy="2529840"/>
        </p:xfrm>
        <a:graphic>
          <a:graphicData uri="http://schemas.openxmlformats.org/drawingml/2006/table">
            <a:tbl>
              <a:tblPr/>
              <a:tblGrid>
                <a:gridCol w="3333179">
                  <a:extLst>
                    <a:ext uri="{9D8B030D-6E8A-4147-A177-3AD203B41FA5}">
                      <a16:colId xmlns:a16="http://schemas.microsoft.com/office/drawing/2014/main" val="1479055031"/>
                    </a:ext>
                  </a:extLst>
                </a:gridCol>
                <a:gridCol w="3758692">
                  <a:extLst>
                    <a:ext uri="{9D8B030D-6E8A-4147-A177-3AD203B41FA5}">
                      <a16:colId xmlns:a16="http://schemas.microsoft.com/office/drawing/2014/main" val="3838116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effectLst/>
                        </a:rPr>
                        <a:t>类型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effectLst/>
                        </a:rPr>
                        <a:t>主要功能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194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</a:rPr>
                        <a:t>MarkPoint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zh-CN" altLang="en-US" dirty="0">
                          <a:effectLst/>
                        </a:rPr>
                        <a:t>数据标注点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标注</a:t>
                      </a:r>
                      <a:r>
                        <a:rPr lang="zh-CN" altLang="en-US" b="1">
                          <a:effectLst/>
                        </a:rPr>
                        <a:t>单个数据点</a:t>
                      </a:r>
                      <a:r>
                        <a:rPr lang="zh-CN" altLang="en-US">
                          <a:effectLst/>
                        </a:rPr>
                        <a:t>的位置和数值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090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MarkLine</a:t>
                      </a:r>
                      <a:br>
                        <a:rPr lang="en-US">
                          <a:effectLst/>
                        </a:rPr>
                      </a:br>
                      <a:r>
                        <a:rPr lang="zh-CN" altLang="en-US">
                          <a:effectLst/>
                        </a:rPr>
                        <a:t>数据标注线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标注</a:t>
                      </a:r>
                      <a:r>
                        <a:rPr lang="zh-CN" altLang="en-US" b="1">
                          <a:effectLst/>
                        </a:rPr>
                        <a:t>特定数值线</a:t>
                      </a:r>
                      <a:r>
                        <a:rPr lang="zh-CN" altLang="en-US">
                          <a:effectLst/>
                        </a:rPr>
                        <a:t>（参考线、阈值线）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458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</a:rPr>
                        <a:t>MarkArea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zh-CN" altLang="en-US" dirty="0">
                          <a:effectLst/>
                        </a:rPr>
                        <a:t>数据标注区域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标注</a:t>
                      </a:r>
                      <a:r>
                        <a:rPr lang="zh-CN" altLang="en-US" b="1" dirty="0">
                          <a:effectLst/>
                        </a:rPr>
                        <a:t>数据区间范围</a:t>
                      </a:r>
                      <a:r>
                        <a:rPr lang="zh-CN" altLang="en-US" dirty="0">
                          <a:effectLst/>
                        </a:rPr>
                        <a:t>或分布区域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42197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4813277-58D5-D2E1-73BF-875292566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1642549"/>
            <a:ext cx="1010602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ea typeface="quote-cjk-patch"/>
              </a:rPr>
              <a:t>根据定位和形状分类</a:t>
            </a: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324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EEA16-C40C-8B47-568A-98621C07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BD3ED-676C-367F-29AE-88ECA16F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MarkPoint</a:t>
            </a:r>
            <a:r>
              <a:rPr lang="en-US" altLang="zh-CN" dirty="0"/>
              <a:t> - </a:t>
            </a:r>
            <a:r>
              <a:rPr lang="zh-CN" altLang="en-US" dirty="0"/>
              <a:t>数据标注点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E1CA0BB-9D89-E0E7-13EA-54EC796581F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9C020F-215F-54D5-8415-A037AA331D85}"/>
              </a:ext>
            </a:extLst>
          </p:cNvPr>
          <p:cNvSpPr txBox="1"/>
          <p:nvPr/>
        </p:nvSpPr>
        <p:spPr>
          <a:xfrm>
            <a:off x="669924" y="1373341"/>
            <a:ext cx="5032376" cy="1726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功能特点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精确标记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单个数据点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在图表中的位置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常用于：突出最大值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最小值、标注特殊事件点、强调关键数据</a:t>
            </a:r>
          </a:p>
        </p:txBody>
      </p:sp>
      <p:pic>
        <p:nvPicPr>
          <p:cNvPr id="9" name="图片 8" descr="图片包含 图示&#10;&#10;AI 生成的内容可能不正确。">
            <a:extLst>
              <a:ext uri="{FF2B5EF4-FFF2-40B4-BE49-F238E27FC236}">
                <a16:creationId xmlns:a16="http://schemas.microsoft.com/office/drawing/2014/main" id="{A7AC1933-45C2-D52E-FAF2-2B5AECF72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762" y="1881187"/>
            <a:ext cx="3571875" cy="454342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56F4D93-F22C-F80F-DDE5-C91FDE9E2382}"/>
              </a:ext>
            </a:extLst>
          </p:cNvPr>
          <p:cNvSpPr txBox="1"/>
          <p:nvPr/>
        </p:nvSpPr>
        <p:spPr>
          <a:xfrm>
            <a:off x="7778750" y="1373341"/>
            <a:ext cx="28765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核心配置示例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789FB2A-EF01-7260-AFD1-B2FBBF287194}"/>
              </a:ext>
            </a:extLst>
          </p:cNvPr>
          <p:cNvSpPr txBox="1"/>
          <p:nvPr/>
        </p:nvSpPr>
        <p:spPr>
          <a:xfrm>
            <a:off x="669924" y="3429000"/>
            <a:ext cx="609600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应用场景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股票图表中的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最高点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标记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销售数据中的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破纪录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日期标注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实验数据的异常值提示</a:t>
            </a:r>
          </a:p>
        </p:txBody>
      </p:sp>
    </p:spTree>
    <p:extLst>
      <p:ext uri="{BB962C8B-B14F-4D97-AF65-F5344CB8AC3E}">
        <p14:creationId xmlns:p14="http://schemas.microsoft.com/office/powerpoint/2010/main" val="13414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7139D-4CE7-A647-5DF0-C074AF3EA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6F40DA-40DE-EE0F-B66C-9167AFAC1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MarkPoint</a:t>
            </a:r>
            <a:r>
              <a:rPr lang="en-US" altLang="zh-CN" dirty="0"/>
              <a:t> - </a:t>
            </a:r>
            <a:r>
              <a:rPr lang="zh-CN" altLang="en-US" dirty="0"/>
              <a:t>数据标注点</a:t>
            </a: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CCD789B2-C9F3-D2F7-113B-6CA28C7F0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05" y="1417637"/>
            <a:ext cx="107442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86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7736-06AC-2ADB-FE58-72F336A9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4F1DE-C8F3-139A-0DE9-7805E8C5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MarkLine</a:t>
            </a:r>
            <a:r>
              <a:rPr lang="en-US" altLang="zh-CN" dirty="0"/>
              <a:t> - </a:t>
            </a:r>
            <a:r>
              <a:rPr lang="zh-CN" altLang="en-US" dirty="0"/>
              <a:t>数据标注线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0A4F189-1BFE-4EEA-86F8-29DFCDCA28A7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5756276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BFFD5A-A948-D785-7B88-6FD43124C1B7}"/>
              </a:ext>
            </a:extLst>
          </p:cNvPr>
          <p:cNvSpPr txBox="1"/>
          <p:nvPr/>
        </p:nvSpPr>
        <p:spPr>
          <a:xfrm>
            <a:off x="625474" y="1373341"/>
            <a:ext cx="6096000" cy="1449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功能特点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在图表中添加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水平或垂直参考线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常用于：显示平均值线、阈值线、目标线、趋势线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15A89F-03DB-8FE2-5850-88FE0A84FE92}"/>
              </a:ext>
            </a:extLst>
          </p:cNvPr>
          <p:cNvSpPr txBox="1"/>
          <p:nvPr/>
        </p:nvSpPr>
        <p:spPr>
          <a:xfrm>
            <a:off x="669924" y="3301506"/>
            <a:ext cx="609600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应用场景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KPI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图表中的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目标线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质量控制图的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上下限线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业绩考核的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及格线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66867B-E4F1-17F9-7F85-0A3422081FD1}"/>
              </a:ext>
            </a:extLst>
          </p:cNvPr>
          <p:cNvSpPr txBox="1"/>
          <p:nvPr/>
        </p:nvSpPr>
        <p:spPr>
          <a:xfrm>
            <a:off x="6946900" y="1373341"/>
            <a:ext cx="17907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核心配置示例：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pic>
        <p:nvPicPr>
          <p:cNvPr id="12" name="图片 11" descr="图片包含 地图&#10;&#10;AI 生成的内容可能不正确。">
            <a:extLst>
              <a:ext uri="{FF2B5EF4-FFF2-40B4-BE49-F238E27FC236}">
                <a16:creationId xmlns:a16="http://schemas.microsoft.com/office/drawing/2014/main" id="{5F6A3E5B-A6FA-B891-4FB3-59D651FC7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350" y="1911950"/>
            <a:ext cx="39052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3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5038D-9C04-304A-5F9C-43AC59EFD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D8060-7845-B47F-EC72-CA79C5CCA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MarkLine</a:t>
            </a:r>
            <a:r>
              <a:rPr lang="en-US" altLang="zh-CN" dirty="0"/>
              <a:t> - </a:t>
            </a:r>
            <a:r>
              <a:rPr lang="zh-CN" altLang="en-US" dirty="0"/>
              <a:t>数据标注线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1489ABB-D930-DF5E-5FE6-18B26913F39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5756276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 descr="图表, 气泡图&#10;&#10;AI 生成的内容可能不正确。">
            <a:extLst>
              <a:ext uri="{FF2B5EF4-FFF2-40B4-BE49-F238E27FC236}">
                <a16:creationId xmlns:a16="http://schemas.microsoft.com/office/drawing/2014/main" id="{BD916B55-D91F-FF72-56C0-F1B79B9E3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12" y="1193800"/>
            <a:ext cx="10125075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19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C336-D3F7-4DF1-7E18-CC829D56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34340-8F55-7A2F-1DC1-9B2A2775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MarkArea</a:t>
            </a:r>
            <a:r>
              <a:rPr lang="en-US" altLang="zh-CN" dirty="0"/>
              <a:t> - </a:t>
            </a:r>
            <a:r>
              <a:rPr lang="zh-CN" altLang="en-US" dirty="0"/>
              <a:t>数据标注区域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BA90318-84A2-2BB2-B3B8-2BB62270E204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07D3BE-55A5-EF74-9F2C-3EEA80A8D959}"/>
              </a:ext>
            </a:extLst>
          </p:cNvPr>
          <p:cNvSpPr txBox="1"/>
          <p:nvPr/>
        </p:nvSpPr>
        <p:spPr>
          <a:xfrm>
            <a:off x="669924" y="1262993"/>
            <a:ext cx="6096000" cy="1449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功能特点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标注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数据区间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或特定区域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常用于：突出显示数据范围、异常区间、时间段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AF07A4-FCF0-D37E-B5E5-F92C37449D96}"/>
              </a:ext>
            </a:extLst>
          </p:cNvPr>
          <p:cNvSpPr txBox="1"/>
          <p:nvPr/>
        </p:nvSpPr>
        <p:spPr>
          <a:xfrm>
            <a:off x="669924" y="3246332"/>
            <a:ext cx="609600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应用场景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温度图的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舒适温度区间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财务图的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盈利区间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时间序列的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关键时间段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AB6598-1E07-1A89-F029-5DC6A8F9FB93}"/>
              </a:ext>
            </a:extLst>
          </p:cNvPr>
          <p:cNvSpPr txBox="1"/>
          <p:nvPr/>
        </p:nvSpPr>
        <p:spPr>
          <a:xfrm>
            <a:off x="6654800" y="1133321"/>
            <a:ext cx="15938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核心配置示例：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pic>
        <p:nvPicPr>
          <p:cNvPr id="13" name="图片 12" descr="图片包含 文本&#10;&#10;AI 生成的内容可能不正确。">
            <a:extLst>
              <a:ext uri="{FF2B5EF4-FFF2-40B4-BE49-F238E27FC236}">
                <a16:creationId xmlns:a16="http://schemas.microsoft.com/office/drawing/2014/main" id="{F9317CD1-60B7-7CE9-37C0-749DCA947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924" y="1552574"/>
            <a:ext cx="397192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87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23D6-B333-77D1-FEA2-343DCFA57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8CD000-41E0-A611-FAA9-A8DD4DD8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MarkArea</a:t>
            </a:r>
            <a:r>
              <a:rPr lang="en-US" altLang="zh-CN" dirty="0"/>
              <a:t> - </a:t>
            </a:r>
            <a:r>
              <a:rPr lang="zh-CN" altLang="en-US" dirty="0"/>
              <a:t>数据标注区域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7B46CA6-7492-4A6C-91C0-18D29C5FFC5E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FD9A44C4-C962-B8CD-79D3-BF1201DBC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4" y="1133321"/>
            <a:ext cx="100965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827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0BE2B-19B5-DE87-1352-376CA75B3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9AD3D-83BE-2CAD-B80B-41635DB2A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配置要素总结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D3A8A03-953E-30CB-9D3F-86BC6A6F29E9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E99426-AD7D-7056-058D-232C406220BC}"/>
              </a:ext>
            </a:extLst>
          </p:cNvPr>
          <p:cNvSpPr txBox="1"/>
          <p:nvPr/>
        </p:nvSpPr>
        <p:spPr>
          <a:xfrm>
            <a:off x="6654800" y="1133321"/>
            <a:ext cx="4378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三大组件的通用配置结构：</a:t>
            </a:r>
            <a:endParaRPr lang="zh-CN" altLang="en-US" dirty="0"/>
          </a:p>
          <a:p>
            <a:br>
              <a:rPr lang="zh-CN" altLang="en-US" dirty="0"/>
            </a:br>
            <a:endParaRPr lang="zh-CN" altLang="en-US" dirty="0"/>
          </a:p>
        </p:txBody>
      </p:sp>
      <p:pic>
        <p:nvPicPr>
          <p:cNvPr id="6" name="图片 5" descr="文本, 信件&#10;&#10;AI 生成的内容可能不正确。">
            <a:extLst>
              <a:ext uri="{FF2B5EF4-FFF2-40B4-BE49-F238E27FC236}">
                <a16:creationId xmlns:a16="http://schemas.microsoft.com/office/drawing/2014/main" id="{96A37025-8399-D3FC-88EC-19BA74AA0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924" y="1824985"/>
            <a:ext cx="4095750" cy="34480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FC2CA00-4D0D-F31B-FD05-BF7D3DBC312A}"/>
              </a:ext>
            </a:extLst>
          </p:cNvPr>
          <p:cNvSpPr txBox="1"/>
          <p:nvPr/>
        </p:nvSpPr>
        <p:spPr>
          <a:xfrm>
            <a:off x="669924" y="1268720"/>
            <a:ext cx="5724526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样式自定义能力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📍 标注位置精确控制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🎨 线条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区域颜色、粗细、透明度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🔤 文本内容、字体、颜色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🔗 引导线样式和连接方式</a:t>
            </a:r>
          </a:p>
        </p:txBody>
      </p:sp>
    </p:spTree>
    <p:extLst>
      <p:ext uri="{BB962C8B-B14F-4D97-AF65-F5344CB8AC3E}">
        <p14:creationId xmlns:p14="http://schemas.microsoft.com/office/powerpoint/2010/main" val="188104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4CB76-4CFB-E46E-D367-76FAF68D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82064-8DDB-9ACA-E645-FDCEB2125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最佳实践建议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AC0CE72-E5A7-EB3B-AECA-BAF43F9113D1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3364C0-8F44-5730-FF5D-DF1BC785935B}"/>
              </a:ext>
            </a:extLst>
          </p:cNvPr>
          <p:cNvSpPr txBox="1"/>
          <p:nvPr/>
        </p:nvSpPr>
        <p:spPr>
          <a:xfrm>
            <a:off x="669924" y="1484878"/>
            <a:ext cx="5349877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使用时机建议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突出重点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：数据中的关键点、异常值、里程碑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提供参考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：平均值、目标值、标准范围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划分区域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：不同数据阶段或状态区间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216D046-361B-4759-D2FC-254DA665052E}"/>
              </a:ext>
            </a:extLst>
          </p:cNvPr>
          <p:cNvSpPr txBox="1"/>
          <p:nvPr/>
        </p:nvSpPr>
        <p:spPr>
          <a:xfrm>
            <a:off x="6172200" y="1460136"/>
            <a:ext cx="5348287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设计原则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克制使用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：避免过度标注导致图表混乱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视觉区分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：标注样式应与主图表有明显区分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信息清晰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：标注文本简洁明了，指向明确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保持协调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：标注风格与图表整体设计保持一致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5087B5-6248-82A3-1B98-768B5B8F5A60}"/>
              </a:ext>
            </a:extLst>
          </p:cNvPr>
          <p:cNvSpPr txBox="1"/>
          <p:nvPr/>
        </p:nvSpPr>
        <p:spPr>
          <a:xfrm>
            <a:off x="723900" y="454613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更多 </a:t>
            </a:r>
            <a:r>
              <a:rPr lang="en-US" altLang="zh-CN" dirty="0"/>
              <a:t>Marker </a:t>
            </a:r>
            <a:r>
              <a:rPr lang="zh-CN" altLang="en-US" dirty="0"/>
              <a:t>组件使用可以参考 </a:t>
            </a:r>
            <a:r>
              <a:rPr lang="en-US" altLang="zh-CN" dirty="0">
                <a:hlinkClick r:id="rId2"/>
              </a:rPr>
              <a:t>Marker </a:t>
            </a:r>
            <a:r>
              <a:rPr lang="zh-CN" altLang="en-US" dirty="0">
                <a:hlinkClick r:id="rId2"/>
              </a:rPr>
              <a:t>示例</a:t>
            </a:r>
            <a:r>
              <a:rPr lang="zh-CN" altLang="en-US" dirty="0"/>
              <a:t>页面。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2106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0140-3436-1DBB-A433-3271041C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DBEF2-709C-597C-DAB2-51C9270C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总结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30FCFD-6B84-C75A-78B2-9C88DC9CDEA6}"/>
              </a:ext>
            </a:extLst>
          </p:cNvPr>
          <p:cNvSpPr txBox="1"/>
          <p:nvPr/>
        </p:nvSpPr>
        <p:spPr>
          <a:xfrm>
            <a:off x="669924" y="1611879"/>
            <a:ext cx="609600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核心价值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将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静态图表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升级为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数据故事板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通过视觉标注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降低数据理解成本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提供专业级的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数据分析和演示能力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F490DF-4D9A-F7EA-DA79-5E28E6F5968F}"/>
              </a:ext>
            </a:extLst>
          </p:cNvPr>
          <p:cNvSpPr txBox="1"/>
          <p:nvPr/>
        </p:nvSpPr>
        <p:spPr>
          <a:xfrm>
            <a:off x="6845300" y="1611879"/>
            <a:ext cx="609600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下一步行动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📚 查看详细配置文档，探索更多参数选项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🎯 在项目图表中添加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1-2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个标注，测试效果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🔍 分析优秀图表案例中的标注使用技巧</a:t>
            </a:r>
          </a:p>
        </p:txBody>
      </p:sp>
    </p:spTree>
    <p:extLst>
      <p:ext uri="{BB962C8B-B14F-4D97-AF65-F5344CB8AC3E}">
        <p14:creationId xmlns:p14="http://schemas.microsoft.com/office/powerpoint/2010/main" val="2722630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612</Words>
  <Application>Microsoft Office PowerPoint</Application>
  <PresentationFormat>宽屏</PresentationFormat>
  <Paragraphs>96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quote-cjk-patch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什么是Marker？</vt:lpstr>
      <vt:lpstr>三种标注类型概览</vt:lpstr>
      <vt:lpstr>MarkPoint - 数据标注点</vt:lpstr>
      <vt:lpstr>MarkPoint - 数据标注点</vt:lpstr>
      <vt:lpstr>MarkLine - 数据标注线</vt:lpstr>
      <vt:lpstr>MarkLine - 数据标注线</vt:lpstr>
      <vt:lpstr>MarkArea - 数据标注区域</vt:lpstr>
      <vt:lpstr>MarkArea - 数据标注区域</vt:lpstr>
      <vt:lpstr>配置要素总结</vt:lpstr>
      <vt:lpstr>最佳实践建议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292</cp:revision>
  <dcterms:created xsi:type="dcterms:W3CDTF">2025-10-28T10:07:16Z</dcterms:created>
  <dcterms:modified xsi:type="dcterms:W3CDTF">2026-01-24T14:02:29Z</dcterms:modified>
</cp:coreProperties>
</file>