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5"/>
  </p:notesMasterIdLst>
  <p:sldIdLst>
    <p:sldId id="262" r:id="rId3"/>
    <p:sldId id="291" r:id="rId4"/>
    <p:sldId id="293" r:id="rId5"/>
    <p:sldId id="294" r:id="rId6"/>
    <p:sldId id="295" r:id="rId7"/>
    <p:sldId id="296" r:id="rId8"/>
    <p:sldId id="292" r:id="rId9"/>
    <p:sldId id="298" r:id="rId10"/>
    <p:sldId id="299" r:id="rId11"/>
    <p:sldId id="297" r:id="rId12"/>
    <p:sldId id="283" r:id="rId13"/>
    <p:sldId id="26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4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isactor.com/vchart/guide/tutorial_docs/extend/Richtext_and_Dom" TargetMode="Externa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55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zh-CN" dirty="0"/>
              <a:t>富文本和 Dom 扩展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9F62-4F11-A3B1-7633-1EB263A92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EC732-E578-6499-38EE-3B0BCC27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 什么是 RichText？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C0C4D1-815C-D76B-3D37-4183EBC76077}"/>
              </a:ext>
            </a:extLst>
          </p:cNvPr>
          <p:cNvSpPr txBox="1"/>
          <p:nvPr/>
        </p:nvSpPr>
        <p:spPr>
          <a:xfrm>
            <a:off x="669924" y="1851579"/>
            <a:ext cx="109813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dirty="0"/>
              <a:t>- </a:t>
            </a:r>
            <a:r>
              <a:rPr lang="zh-CN" altLang="zh-CN" dirty="0"/>
              <a:t>标签里需要同时显示不同颜色、不同字号的文字，甚至还要带上小图标</a:t>
            </a:r>
          </a:p>
          <a:p>
            <a:pPr lvl="0"/>
            <a:r>
              <a:rPr lang="en-US" altLang="zh-CN" dirty="0"/>
              <a:t>- </a:t>
            </a:r>
            <a:r>
              <a:rPr lang="zh-CN" altLang="zh-CN" dirty="0"/>
              <a:t>图表上需要嵌入原生的 HTML 元素，比如按钮、输入框、下拉选择器等</a:t>
            </a:r>
            <a:endParaRPr lang="en-US" altLang="zh-CN" dirty="0"/>
          </a:p>
          <a:p>
            <a:pPr lvl="0"/>
            <a:r>
              <a:rPr lang="zh-CN" altLang="zh-CN" dirty="0"/>
              <a:t>官方文档地址：</a:t>
            </a:r>
            <a:r>
              <a:rPr lang="zh-CN" altLang="zh-CN" dirty="0">
                <a:hlinkClick r:id="rId2"/>
              </a:rPr>
              <a:t>https://www.visactor.com/vchart/guide/tutorial_docs/extend/Richtext_and_Dom</a:t>
            </a:r>
            <a:r>
              <a:rPr lang="zh-CN" altLang="zh-CN" dirty="0"/>
              <a:t>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F8F0D5-6B31-AF79-BD3D-9BFB8B1E17E6}"/>
              </a:ext>
            </a:extLst>
          </p:cNvPr>
          <p:cNvSpPr txBox="1"/>
          <p:nvPr/>
        </p:nvSpPr>
        <p:spPr>
          <a:xfrm>
            <a:off x="825909" y="299799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b="1" dirty="0">
                <a:solidFill>
                  <a:schemeClr val="tx1"/>
                </a:solidFill>
                <a:effectLst/>
                <a:latin typeface="+mn-lt"/>
              </a:rPr>
              <a:t>什么是 RichText？</a:t>
            </a:r>
            <a:endParaRPr lang="zh-CN" altLang="zh-CN" sz="1200" b="1" dirty="0">
              <a:solidFill>
                <a:srgbClr val="E5E5E5"/>
              </a:solidFill>
              <a:effectLst/>
              <a:latin typeface="SF Pro Tex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6CB440-E00B-9599-1466-54CABF66649A}"/>
              </a:ext>
            </a:extLst>
          </p:cNvPr>
          <p:cNvSpPr txBox="1"/>
          <p:nvPr/>
        </p:nvSpPr>
        <p:spPr>
          <a:xfrm>
            <a:off x="825909" y="3549475"/>
            <a:ext cx="8603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i="0" dirty="0">
                <a:solidFill>
                  <a:schemeClr val="tx1"/>
                </a:solidFill>
                <a:effectLst/>
                <a:latin typeface="+mn-lt"/>
              </a:rPr>
              <a:t>在一个文本元素中，可以同时包含多种不同样式的文本片段。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138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0EC5F-49D0-258F-B9F3-C6519FCE9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FA228-EFE4-90F8-2A4F-26ED35B1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RichText 的配置方式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7B074A-FC18-798C-BEF8-8254DF290A90}"/>
              </a:ext>
            </a:extLst>
          </p:cNvPr>
          <p:cNvSpPr txBox="1"/>
          <p:nvPr/>
        </p:nvSpPr>
        <p:spPr>
          <a:xfrm>
            <a:off x="839548" y="1452875"/>
            <a:ext cx="92674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zh-CN" altLang="zh-CN" b="1" dirty="0"/>
              <a:t>在任何支持文本样式的地方</a:t>
            </a:r>
            <a:r>
              <a:rPr lang="zh-CN" altLang="zh-CN" dirty="0"/>
              <a:t>，都可以通过 formatMethod 返回一个 type: 'rich' 的对象来启用富文本。</a:t>
            </a:r>
            <a:endParaRPr lang="zh-CN" altLang="zh-CN" sz="1050" b="0" dirty="0">
              <a:solidFill>
                <a:srgbClr val="A1A1A1"/>
              </a:solidFill>
              <a:effectLst/>
              <a:latin typeface="SF Pro Tex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12EA36-E17A-0D55-76FD-1AE9B09B0246}"/>
              </a:ext>
            </a:extLst>
          </p:cNvPr>
          <p:cNvSpPr txBox="1"/>
          <p:nvPr/>
        </p:nvSpPr>
        <p:spPr>
          <a:xfrm>
            <a:off x="839548" y="2335003"/>
            <a:ext cx="6096000" cy="9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b="0" i="0" spc="0" dirty="0">
                <a:solidFill>
                  <a:schemeClr val="tx1"/>
                </a:solidFill>
                <a:effectLst/>
                <a:latin typeface="+mn-lt"/>
              </a:rPr>
              <a:t>基本配置结构如下："</a:t>
            </a:r>
          </a:p>
          <a:p>
            <a:pPr>
              <a:buNone/>
            </a:pPr>
            <a:br>
              <a:rPr lang="zh-CN" altLang="zh-CN" dirty="0"/>
            </a:b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F61FCB5-E7B1-EC18-B6F7-0EFF2A307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438" y="2701776"/>
            <a:ext cx="5704762" cy="3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3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CE483-ECBB-F5BD-5B86-D9AECE2F6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6020E-8515-2673-7622-6060B6746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富文本支持的能力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EC302E-C8C2-D671-C7FE-49ABB7BBE663}"/>
              </a:ext>
            </a:extLst>
          </p:cNvPr>
          <p:cNvSpPr txBox="1"/>
          <p:nvPr/>
        </p:nvSpPr>
        <p:spPr>
          <a:xfrm>
            <a:off x="669924" y="1228397"/>
            <a:ext cx="863957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VChart 对富文本整体提高如下配置项：</a:t>
            </a:r>
          </a:p>
          <a:p>
            <a:pPr marL="342900" marR="0" lvl="0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文字基本样式：、fontSize、fontFamily、fontStyle、fontWeight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文字颜色：fill、fillOpacity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文字描边：stroke、lineWidth、strokeOpacity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文本换行和裁切：ellipsis、wordBreak、singleLine、forceBreakLine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富文本整体大小：width、height、maxWidth、maxHeight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富文本整体对齐方式：textAlign、textBaseline、verticalDirection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富文本整体旋转和缩放：angle、scaleX、scaleY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文本段落布局方向：layoutDirection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文本段落配置：textConfig</a:t>
            </a: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922235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F77B2-E5DA-2FFC-E18F-EC202364B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09238-BCA4-23AF-41A3-830DD8CF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文本段落配置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BDE97A-E291-A92E-363A-271DDA25A2DB}"/>
              </a:ext>
            </a:extLst>
          </p:cNvPr>
          <p:cNvSpPr txBox="1"/>
          <p:nvPr/>
        </p:nvSpPr>
        <p:spPr>
          <a:xfrm>
            <a:off x="669924" y="1438554"/>
            <a:ext cx="799247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文字段落支持以下配置：</a:t>
            </a:r>
          </a:p>
          <a:p>
            <a:pPr marL="342900" marR="0" lvl="0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文字内容：text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文字基本样式：、fontSize、fontFamily、fontStyle、fontWeight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文字颜色：fill、fillOpacity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文字描边：stroke、lineWidth、strokeOpacity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文字装饰：textDecoration、script 、underline、lineThrough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文字对齐方式：textAlign、textBaseline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文字行高：lineHeight</a:t>
            </a: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62807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35F13-0982-9A17-8DF7-05B9773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DDAAAD-13B4-3AEC-D108-1533352D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图片段落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6B7531-DBBC-2182-1B14-AAAC37E49547}"/>
              </a:ext>
            </a:extLst>
          </p:cNvPr>
          <p:cNvSpPr txBox="1"/>
          <p:nvPr/>
        </p:nvSpPr>
        <p:spPr>
          <a:xfrm>
            <a:off x="669924" y="1209902"/>
            <a:ext cx="823813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图片段落支持以下配置：</a:t>
            </a:r>
          </a:p>
          <a:p>
            <a:pPr marL="342900" marR="0" lvl="0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图片来源：image</a:t>
            </a:r>
          </a:p>
          <a:p>
            <a:pPr marL="742950" marR="0" lvl="1" indent="-2857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支持配置 url、svg 字符串、HTMLImageElement、HTMLCanvasElement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图片大小：、width、height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图片背景：backgroundShowMode、backgroundFill、backgroundFill、backgroundFillOpacity、backgroundStroke、backgroundStrokeOpacity、backgroundRadius、backgroundWidth、backgroundHeight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图片边距：margin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hover 图片：hoverImage</a:t>
            </a:r>
          </a:p>
          <a:p>
            <a:pPr marL="742950" marR="0" lvl="1" indent="-2857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指在交互悬停时的图片，支持配置 url、svg 字符串、HTMLImageElement、HTMLCanvasElement</a:t>
            </a: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85192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C9CA-9B0B-B758-9576-DD324CA5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5FAB-2D98-5613-4537-FC740247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dom 扩展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6E9BE9-33AD-5369-38DB-0269E1C961E8}"/>
              </a:ext>
            </a:extLst>
          </p:cNvPr>
          <p:cNvSpPr txBox="1"/>
          <p:nvPr/>
        </p:nvSpPr>
        <p:spPr>
          <a:xfrm>
            <a:off x="669923" y="1767007"/>
            <a:ext cx="95386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为了满足用户在图表中渲染自定义 dom 元素的需求，vrender 底层支持两种 dom 扩展方式：</a:t>
            </a:r>
          </a:p>
          <a:p>
            <a:pPr marL="342900" marR="0" lvl="0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html 扩展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react 扩展</a:t>
            </a: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34190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8862D-D487-BCF4-F106-83B2AE0BD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A3145-12E0-21F6-641D-81497A626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如何开启 html 扩展插件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A5E401-C63F-3939-0BD5-04CD5AD904D6}"/>
              </a:ext>
            </a:extLst>
          </p:cNvPr>
          <p:cNvSpPr txBox="1"/>
          <p:nvPr/>
        </p:nvSpPr>
        <p:spPr>
          <a:xfrm>
            <a:off x="669924" y="1410317"/>
            <a:ext cx="6097136" cy="980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通过传入图表配置enableHtmlAttribute 开启 html 扩展插件</a:t>
            </a:r>
          </a:p>
          <a:p>
            <a:pPr>
              <a:buNone/>
            </a:pPr>
            <a:b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101C80-2036-2F79-AA60-84F4E77D50B5}"/>
              </a:ext>
            </a:extLst>
          </p:cNvPr>
          <p:cNvSpPr txBox="1"/>
          <p:nvPr/>
        </p:nvSpPr>
        <p:spPr>
          <a:xfrm>
            <a:off x="669924" y="2505670"/>
            <a:ext cx="78694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const vchart = new VChart(spec, { dom: 'chart', enableHtmlAttribute: true });</a:t>
            </a:r>
          </a:p>
          <a:p>
            <a:br>
              <a:rPr lang="zh-CN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5465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0F15F-0C20-A341-F337-2DC8B691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89428-187C-5970-B44B-32D35193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如何开启 react 扩展插件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133629-F9E3-FFF7-1EC8-4CC22C315437}"/>
              </a:ext>
            </a:extLst>
          </p:cNvPr>
          <p:cNvSpPr txBox="1"/>
          <p:nvPr/>
        </p:nvSpPr>
        <p:spPr>
          <a:xfrm>
            <a:off x="669924" y="1410317"/>
            <a:ext cx="85764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通过将ReactDOM的导出对象传入图表配置，开启 react 扩展插件</a:t>
            </a:r>
          </a:p>
          <a:p>
            <a:br>
              <a:rPr lang="zh-CN" altLang="zh-CN" dirty="0"/>
            </a:br>
            <a:b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</a:b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9BFCF3-76F2-C8E6-1EF1-EC82E3605CE4}"/>
              </a:ext>
            </a:extLst>
          </p:cNvPr>
          <p:cNvSpPr txBox="1"/>
          <p:nvPr/>
        </p:nvSpPr>
        <p:spPr>
          <a:xfrm>
            <a:off x="899045" y="2557186"/>
            <a:ext cx="9357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import ReactDOM from 'react-dom/client’; </a:t>
            </a:r>
            <a:br>
              <a:rPr lang="en-US" altLang="zh-CN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const vchart = new VChart(spec, { dom: 'chart', ReactDOM: ReactDOM });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774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AEB4-556C-0FE8-1891-61D8E86C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976BD4-494B-5DBA-87A5-7F8F9AEE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3A3584-496B-C839-7B23-23543DDB7DA4}"/>
              </a:ext>
            </a:extLst>
          </p:cNvPr>
          <p:cNvSpPr txBox="1"/>
          <p:nvPr/>
        </p:nvSpPr>
        <p:spPr>
          <a:xfrm>
            <a:off x="686669" y="1643896"/>
            <a:ext cx="1083381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zh-CN" altLang="zh-CN" sz="1800" b="0" spc="0" dirty="0">
                <a:solidFill>
                  <a:schemeClr val="tx1"/>
                </a:solidFill>
                <a:effectLst/>
                <a:latin typeface="+mn-lt"/>
              </a:rPr>
              <a:t>RichText 富文本：通过 formatMethod 返回 { type: "rich", text: [...] }，在坐标轴、图例、数据标签中实现多样式文本；通过 createRichText 在图表任意位置创建独立富文本</a:t>
            </a:r>
          </a:p>
          <a:p>
            <a:pPr marL="0" marR="0" lvl="0" indent="-3429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zh-CN" altLang="zh-CN" sz="1800" b="0" spc="0" dirty="0">
                <a:solidFill>
                  <a:schemeClr val="tx1"/>
                </a:solidFill>
                <a:effectLst/>
                <a:latin typeface="+mn-lt"/>
              </a:rPr>
              <a:t>DOM 嵌入：通过 enableHtmlAttribute: true + formatMethod 返回 { type: "html" }，在图表中嵌入原生 HTML 元素，实现链接、按钮等交互</a:t>
            </a:r>
          </a:p>
          <a:p>
            <a:pPr marL="0" marR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核心记住：</a:t>
            </a:r>
            <a:r>
              <a:rPr lang="zh-CN" altLang="zh-CN" sz="1800" b="1" dirty="0">
                <a:solidFill>
                  <a:schemeClr val="tx1"/>
                </a:solidFill>
                <a:effectLst/>
                <a:latin typeface="+mn-lt"/>
              </a:rPr>
              <a:t>要样式 → RichText，要交互 → DOM</a:t>
            </a: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。</a:t>
            </a:r>
            <a:endParaRPr lang="zh-CN" altLang="zh-CN" sz="1050" b="0" dirty="0">
              <a:solidFill>
                <a:srgbClr val="A1A1A1"/>
              </a:solidFill>
              <a:effectLst/>
              <a:latin typeface="SF Pro Text"/>
            </a:endParaRPr>
          </a:p>
        </p:txBody>
      </p:sp>
    </p:spTree>
    <p:extLst>
      <p:ext uri="{BB962C8B-B14F-4D97-AF65-F5344CB8AC3E}">
        <p14:creationId xmlns:p14="http://schemas.microsoft.com/office/powerpoint/2010/main" val="3352224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2359</TotalTime>
  <Words>1843</Words>
  <Application>Microsoft Office PowerPoint</Application>
  <PresentationFormat>宽屏</PresentationFormat>
  <Paragraphs>69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-apple-system</vt:lpstr>
      <vt:lpstr>SF Pro Text</vt:lpstr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 什么是 RichText？</vt:lpstr>
      <vt:lpstr>RichText 的配置方式</vt:lpstr>
      <vt:lpstr>富文本支持的能力</vt:lpstr>
      <vt:lpstr>文本段落配置</vt:lpstr>
      <vt:lpstr>图片段落</vt:lpstr>
      <vt:lpstr>dom 扩展</vt:lpstr>
      <vt:lpstr>如何开启 html 扩展插件</vt:lpstr>
      <vt:lpstr>如何开启 react 扩展插件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852</cp:revision>
  <dcterms:created xsi:type="dcterms:W3CDTF">2025-10-28T10:07:16Z</dcterms:created>
  <dcterms:modified xsi:type="dcterms:W3CDTF">2026-09-18T14:31:43Z</dcterms:modified>
</cp:coreProperties>
</file>